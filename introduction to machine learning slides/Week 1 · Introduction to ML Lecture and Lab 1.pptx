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(0:00–0:10 block). Structure of the session: about 55 minutes of lecture with three quiz checkpoints, a 5-minute break, then 50 minutes of Lab 1 and a 10-minute wrap-up. Tell students that quizzes are answered by vote or on paper first, then revealed on the following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once. Part A is 60 minutes including the break (lecture plus three quiz checkpoints). Part B is 60 minutes: five-minute lab setup, three exercises, a lab quiz and a ten-minute wrap-up. If you run behind, shorten Quiz 2 discussion first, never the lab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to 3 come from Lecture 1 (paradigms, loss functions and gradient descent, data splits). Objective 4 is Lab 1. Tell students each objective is tested by at least one quiz question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warm-up question and take two or three answers. Sorting is easy to express as rules; spam changes constantly and has too many cases to hand-code, so learning from labelled examples wins. Link back to the takeaway: instead of explicit if/else logic (recognising digits, predicting customer churn), the algorithm tunes its parameters on examples and must then work on unseen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paradigms differ in the structure of the training data and the feedback signal. Supervised: labelled pairs (X, y). Unsupervised: only X. Reinforcement: an agent receives reward signals. Spend about 3 minutes here, then move to the supervised split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predicts a number on a continuous scale (house price in USD). Classification predicts a category (spam or non-spam). Answer to the ask: churn is classification, because the outcome is a discrete class such as churn or stay. If a student proposes predicting the probability of churn, explain that the model outputs a score but the target label is still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Unsupervised learning gets unannotated inputs and no targets, so the goal is to uncover hidden structure or a low-dimensional representation: K-Means clustering, PCA, autoencoders. Reinforcement learning is a loop: the agent acts, the environment answers with a reward, and the agent improves its policy. Finish by noting that modern foundation models use self-supervised pretraining. Next slides: Quiz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about 30 to 45 seconds per question. Collect votes by show of hands, a poll or paper. Do not reveal answers until all three questions have been voted on. Answers on the next slide: B, C,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ML builds systems that learn patterns from data. Q2 C: labelled examples with discrete classes means supervised classification. Q3 B: a continuous target means regression. Ask who chose each wrong option and why it was tempting, especially D in Q1 (speed is a hardware matter, not what ML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routine as the first set. Answers on the next slide: B (False), 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False. Q5: C, reinforcement learning. Q6: D, because the other three (K-Means, PCA, autoencoders) are the unsupervised examples from the lecture. Quick score check: ask for a show of hands for 6/6, 5/6, 4/6 or fewer. If many students scored below 4, spend two more minutes on the paradigms slide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dataset with N samples and d features per sample. Rows are samples, columns are features, and in supervised learning there is one label y per row. This is the same layout you will meet in Lab 1 as a Pandas DataFrame, and in the lecture code X has shape (100, 1): 100 samples, one feature. The numbers in the table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continuous regression tasks, MSE measures the average squared difference between predictions and actual labels. Work the table with the class: errors +1, 0, −2; squares 1, 0, 4; mean 5/3 ≈ 1.67. Ask: what would the plain average of the errors be? (−1/3, because positive and negative errors cancel, which is why we square.) Quiz 2 will use a different small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functions steer parameter optimisation through gradient updates. Walk the four boxes left to right and then say the loop repeats every epoch. The learning rate scales how far each step goes: too small and learning is slow, too large and it can overshoot or diverge. Next two slides show the same loop twice: by hand in NumPy, then with PyTorch autograd.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generate synthetic data y = 3x + 2 + noise, start from a random weight and zero bias, and run 100 epochs of gradient descent. I ran this exact code with seed 42 and got w = 2.5870 and b = 2.2072, so after 100 epochs at lr = 0.1 the model is still approaching the true values 3 and 2. Answer to the discussion: it has not converged yet. More epochs or a better learning rate would get closer. Students can try 1000 epochs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same data, same MSE, but the gradient lines from the NumPy slide are replaced by loss.backward(). The model is torch.nn.Linear with one input and one output, the optimiser is SGD with lr 0.1, and the loss is MSELoss. Stress the order inside the loop: zero_grad, forward, loss, backward, step. That order is tested in Quiz 2. The data tensors come from converting X and y with torch.tensor(..., dtype=torch.float32). PyTorch is not needed for Lab 1, so treat this as a preview for later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little more time for Question 2 because it needs a calculation: about 60 seconds. Answers on the next slide: B, 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N × d. Q2 C: errors (pred minus true) are 2−1 = +1 and 4−6 = −2, squares 1 and 4, mean 2.5. Common wrong answer is A (1.5), which comes from averaging the absolute errors, (1 + 2) / 2. Q3 A: squaring prevents sign cancellation and penalises large errors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the next slide: C, D, A. You may allow students to glance back at the loop for Question 6 if they are stuck, since the point is to internalise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 Q5 D. Q6 A. If time allows, ask what would happen to training if zero_grad were removed (gradients from earlier epochs pile up, steps become wrong and training can diverge). Score check, then move to data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generalisation and prevent overfitting we partition data into three subsets. Training data updates the parameters. Validation data is used for decisions about the model (hyperparameters, early stopping). The test set is touched once, at the end, to give an unbiased estimate. Use the analogy of practice problems, mock exam and final exam. The bar shows a 70/15/15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scikit-learn splits in two stages: first hold out the test set (15%), then carve a validation set out of what remains. Because only 85% of the data remains, we pass test_size = 0.1765 so the validation set is about 15% of the original data. I ran this on the lecture data (N = 100) and got train 69, validation 16, test 15. random_state fixes the shuffle so results are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the next slide: C, B (False),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 Q2 False (B): keep the test set untouched. Q3 D. Lecture recap in one line: paradigms, loss and gradients, then honest evaluation through splits. Announce the break and ask students to open their Python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Use the break for students to start the pip install so that the lab begins on time. If a student cannot install packages locally, point them to a hosted notebook environment of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builds proficiency with Python's core data science stack: NumPy, Pandas and Seaborn/Matplotlib. Students load tabular data, handle missing values, engineer a feature and visualise correlations. Students submit one Jupyter notebook. Weights: NumPy 25%, Pandas 35%, features and visualisation 30%, code organisation 10%. Timings: setup 5 min, Ex 1 10 min, Ex 2 15 min, Ex 3 12 min, lab quiz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page asks for Python 3.10 or higher and the packages numpy, pandas, matplotlib, seaborn and scikit-learn, and says to verify the installation by printing version numbers. The snippet here is one way to do it. Walk around the room or monitor the chat and help anyone whose installation failed during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compare execution speed between a standard Python generator or list comprehension and a vectorized NumPy expression for element-wise squared error on 1,000,000 values. The lab page says to expect a 50x to 100x speedup. When I ran the lab code in a cloud sandbox the speedup was only about 4x, so speedup varies with hardware and Python/NumPy versions. Ask students to report their own numbers and explain why NumPy wins: C-backed arrays and no per-element Python overhead. Sanity check: for two independent uniform arrays the expected MSE is 1/6, about 0.167; my run gave 0.1665 for both methods. Collect the range of speedups in the class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condensed from the lab page (same logic, shorter argument names). Students should run the full cell from the lab page. With seed 42 the run gives 0 missing in student_id and attendance_pct, 14 in study_hours and 11 in exam_score. Let students also call df.info() and compare the non-null counts. Ask: why do we set a seed? (Reproducibility: everyone gets the same dataset and the same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 from the lab page: always check missing data distributions before imputing, and for skewed features prefer median imputation over mean imputation, because outliers pull the mean. Answer to the prediction: all zeros. Mention that the medians are computed on the non-missing values (pandas skips NaN). A follow-up discussion point: imputing before splitting the data leaks information from the test set into training, so in later labs we will fit imputers on the training split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create the binary feature high_performer (exam_score at least 80), compute the correlation matrix and plot it with Seaborn. Code is lightly condensed from the lab page (the title font arguments are left out). IMPORTANT teaching point: the lab page says study_hours and attendance_pct show strong positive correlations with exam_score, but in this synthetic dataset all three columns are drawn independently, so their correlations are close to zero. I ran the lab code with seed 42: study_hours vs exam_score −0.03, attendance_pct vs exam_score 0.01, study_hours vs attendance_pct −0.05. The one strong value, 0.77 between exam_score and high_performer, exists by construction because high_performer is computed from exam_score. Let students predict the heatmap first, then run it, and discuss why correlation analysis only finds signal that is in the data. High_performer also illustrates target leakage if it were used as a feature to predict exam_score. High-correlation features are useful linear signals only when the correlation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quiz takes about 8 minutes in total (two question slides and two answer slides). Answers on the next slide: B, 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B. Q2 C. Q3 D. Option B in Question 2 is a common misconception: pandas computes means and medians while ignoring NaN, so missing values do not block either. Move on to questions 4 to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on the next slide: B, C, A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B. Q5 C: close to zero, about −0.03 in the seed-42 run. Q6 A: True, 0.77 in the seed-42 run. Tie it back to the heatmap discussion: a correlation matrix only reveals relationships that exist in the data, and a feature built from the target is not a real predictor. If the class got Q5 wrong, redo the heatmap prediction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what to submit and how it is graded: one notebook with executable cells and output, written interpretation of the correlation matrix, and PEP 8 style. Weights: NumPy vectorization 25%, Pandas cleaning and imputation 35%, feature engineering and Seaborn visualization 30%, code organization and Markdown clarity 10%. Suggest that in the written interpretation they report their own correlation values, not only describe the expected ones. Set the submission deadline and channel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takeaways quickly, then run the exit ticket on paper or in the chat. Model answer: the test set gives an unbiased estimate of real-world performance only if it never influences training or tuning; once you tune on it, it stops being unseen data. Close by previewing Lecture 2 on linear models and regularization (L1 Lasso and L2 Ridge) and reminding students of the Lab 1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F2A43"/>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23020"/>
            <a:ext cx="10566400" cy="442218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991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0F2A43"/>
                </a:solidFill>
                <a:latin typeface="Georgia" pitchFamily="34" charset="0"/>
                <a:ea typeface="Georgia" pitchFamily="34" charset="-122"/>
                <a:cs typeface="Georgia"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623020"/>
            <a:ext cx="10566400" cy="4422180"/>
          </a:xfrm>
          <a:prstGeom prst="rect">
            <a:avLst/>
          </a:prstGeom>
          <a:noFill/>
          <a:ln/>
        </p:spPr>
        <p:txBody>
          <a:bodyPr wrap="square" lIns="0" tIns="0" rIns="0" bIns="0" rtlCol="0" anchor="t"/>
          <a:lstStyle>
            <a:lvl1pPr algn="l" indent="0" marL="0">
              <a:lnSpc>
                <a:spcPct val="140000"/>
              </a:lnSpc>
              <a:buNone/>
              <a:defRPr lang="en-US" sz="1600" dirty="0">
                <a:solidFill>
                  <a:srgbClr val="0F2A4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1587500"/>
            <a:ext cx="3810000" cy="3810000"/>
          </a:xfrm>
          <a:prstGeom prst="rect">
            <a:avLst/>
          </a:prstGeom>
        </p:spPr>
      </p:pic>
      <p:sp>
        <p:nvSpPr>
          <p:cNvPr id="3" name="Text 0"/>
          <p:cNvSpPr/>
          <p:nvPr/>
        </p:nvSpPr>
        <p:spPr>
          <a:xfrm>
            <a:off x="812800" y="214253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3B54A"/>
                </a:solidFill>
                <a:latin typeface="Arial" pitchFamily="34" charset="0"/>
                <a:ea typeface="Arial" pitchFamily="34" charset="-122"/>
                <a:cs typeface="Arial" pitchFamily="34" charset="-120"/>
              </a:rPr>
              <a:t>INTRODUCTION TO MACHINE LEARNING · WEEK 1</a:t>
            </a:r>
            <a:endParaRPr lang="en-US" sz="1200" dirty="0"/>
          </a:p>
        </p:txBody>
      </p:sp>
      <p:sp>
        <p:nvSpPr>
          <p:cNvPr id="4" name="Text 1"/>
          <p:cNvSpPr/>
          <p:nvPr>
            <p:ph type="title"/>
          </p:nvPr>
        </p:nvSpPr>
        <p:spPr>
          <a:xfrm>
            <a:off x="812800" y="2559050"/>
            <a:ext cx="654050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5EF"/>
                </a:solidFill>
                <a:latin typeface="Georgia" pitchFamily="18" charset="0"/>
                <a:ea typeface="Georgia" pitchFamily="18" charset="-122"/>
                <a:cs typeface="Georgia" pitchFamily="18" charset="-120"/>
              </a:rPr>
              <a:t>Learning from Data</a:t>
            </a:r>
            <a:endParaRPr lang="en-US" sz="4800" dirty="0"/>
          </a:p>
        </p:txBody>
      </p:sp>
      <p:sp>
        <p:nvSpPr>
          <p:cNvPr id="5" name="Text 2"/>
          <p:cNvSpPr/>
          <p:nvPr/>
        </p:nvSpPr>
        <p:spPr>
          <a:xfrm>
            <a:off x="812800" y="3402310"/>
            <a:ext cx="65405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8C7D6"/>
                </a:solidFill>
                <a:latin typeface="Arial" pitchFamily="34" charset="0"/>
                <a:ea typeface="Arial" pitchFamily="34" charset="-122"/>
                <a:cs typeface="Arial" pitchFamily="34" charset="-120"/>
              </a:rPr>
              <a:t>Introduction to ML &amp; Data Foundations, with Lab 1: Python Data Science &amp; EDA</a:t>
            </a:r>
            <a:endParaRPr lang="en-US" sz="1800" dirty="0"/>
          </a:p>
        </p:txBody>
      </p:sp>
      <p:sp>
        <p:nvSpPr>
          <p:cNvPr id="6" name="Text 3"/>
          <p:cNvSpPr/>
          <p:nvPr/>
        </p:nvSpPr>
        <p:spPr>
          <a:xfrm>
            <a:off x="812800" y="4375051"/>
            <a:ext cx="1388864" cy="340320"/>
          </a:xfrm>
          <a:prstGeom prst="roundRect">
            <a:avLst>
              <a:gd name="adj" fmla="val 50000"/>
            </a:avLst>
          </a:prstGeom>
          <a:solidFill>
            <a:srgbClr val="E3B54A"/>
          </a:solidFill>
          <a:ln/>
        </p:spPr>
        <p:txBody>
          <a:bodyPr wrap="none" lIns="0" tIns="0" rIns="0" bIns="0" rtlCol="0" anchor="ctr">
            <a:normAutofit/>
          </a:bodyPr>
          <a:lstStyle/>
          <a:p>
            <a:pPr algn="ctr" indent="0" marL="0">
              <a:lnSpc>
                <a:spcPts val="1680"/>
              </a:lnSpc>
              <a:buNone/>
            </a:pPr>
            <a:r>
              <a:rPr lang="en-US" sz="1200" b="1" dirty="0">
                <a:solidFill>
                  <a:srgbClr val="0F2A43"/>
                </a:solidFill>
                <a:latin typeface="Arial" pitchFamily="34" charset="0"/>
                <a:ea typeface="Arial" pitchFamily="34" charset="-122"/>
                <a:cs typeface="Arial" pitchFamily="34" charset="-120"/>
              </a:rPr>
              <a:t>2-hour session</a:t>
            </a:r>
            <a:endParaRPr lang="en-US" sz="1200" dirty="0"/>
          </a:p>
        </p:txBody>
      </p:sp>
      <p:sp>
        <p:nvSpPr>
          <p:cNvPr id="7" name="Text 4"/>
          <p:cNvSpPr/>
          <p:nvPr/>
        </p:nvSpPr>
        <p:spPr>
          <a:xfrm>
            <a:off x="2360414" y="4381401"/>
            <a:ext cx="2765028" cy="327620"/>
          </a:xfrm>
          <a:prstGeom prst="roundRect">
            <a:avLst>
              <a:gd name="adj" fmla="val 50000"/>
            </a:avLst>
          </a:prstGeom>
          <a:noFill/>
          <a:ln w="12700">
            <a:solidFill>
              <a:srgbClr val="E3B54A"/>
            </a:solidFill>
            <a:prstDash val="solid"/>
          </a:ln>
        </p:spPr>
        <p:txBody>
          <a:bodyPr wrap="none" lIns="0" tIns="0" rIns="0" bIns="0" rtlCol="0" anchor="ctr">
            <a:normAutofit/>
          </a:bodyPr>
          <a:lstStyle/>
          <a:p>
            <a:pPr algn="ctr" indent="0" marL="0">
              <a:lnSpc>
                <a:spcPts val="1680"/>
              </a:lnSpc>
              <a:buNone/>
            </a:pPr>
            <a:r>
              <a:rPr lang="en-US" sz="1200" b="1" dirty="0">
                <a:solidFill>
                  <a:srgbClr val="E3B54A"/>
                </a:solidFill>
                <a:latin typeface="Arial" pitchFamily="34" charset="0"/>
                <a:ea typeface="Arial" pitchFamily="34" charset="-122"/>
                <a:cs typeface="Arial" pitchFamily="34" charset="-120"/>
              </a:rPr>
              <a:t>Lecture + Lab + 21 quiz questions</a:t>
            </a:r>
            <a:endParaRPr lang="en-US" sz="1200" dirty="0"/>
          </a:p>
        </p:txBody>
      </p:sp>
      <p:pic>
        <p:nvPicPr>
          <p:cNvPr id="8" name="Image 1" descr="Scatter points with a fitted line">    </p:cNvPr>
          <p:cNvPicPr>
            <a:picLocks noChangeAspect="1"/>
          </p:cNvPicPr>
          <p:nvPr/>
        </p:nvPicPr>
        <p:blipFill>
          <a:blip r:embed="rId2"/>
          <a:srcRect l="0" r="0" t="0" b="0"/>
          <a:stretch/>
        </p:blipFill>
        <p:spPr>
          <a:xfrm>
            <a:off x="7823200" y="2095500"/>
            <a:ext cx="3556000" cy="2667000"/>
          </a:xfrm>
          <a:prstGeom prst="rect">
            <a:avLst/>
          </a:prstGeom>
        </p:spPr>
      </p:pic>
      <p:sp>
        <p:nvSpPr>
          <p:cNvPr id="9" name="Text 5"/>
          <p:cNvSpPr/>
          <p:nvPr/>
        </p:nvSpPr>
        <p:spPr>
          <a:xfrm>
            <a:off x="812800" y="61874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6"/>
                </a:solidFill>
                <a:latin typeface="Arial" pitchFamily="34" charset="0"/>
                <a:ea typeface="Arial" pitchFamily="34" charset="-122"/>
                <a:cs typeface="Arial" pitchFamily="34" charset="-120"/>
              </a:rPr>
              <a:t>Dr.-Ing. Chukwuka Victor Obionwu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PLAN · 2 HOURS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Session timeline</a:t>
            </a:r>
            <a:endParaRPr lang="en-US" sz="3000" dirty="0"/>
          </a:p>
        </p:txBody>
      </p:sp>
      <p:sp>
        <p:nvSpPr>
          <p:cNvPr id="4" name="Shape 2"/>
          <p:cNvSpPr/>
          <p:nvPr/>
        </p:nvSpPr>
        <p:spPr>
          <a:xfrm>
            <a:off x="815975" y="1575395"/>
            <a:ext cx="5175250" cy="3528417"/>
          </a:xfrm>
          <a:prstGeom prst="roundRect">
            <a:avLst>
              <a:gd name="adj" fmla="val 2789"/>
            </a:avLst>
          </a:prstGeom>
          <a:solidFill>
            <a:srgbClr val="FFFDF8"/>
          </a:solidFill>
          <a:ln w="6350">
            <a:solidFill>
              <a:srgbClr val="D9D2BE"/>
            </a:solidFill>
            <a:prstDash val="solid"/>
          </a:ln>
        </p:spPr>
      </p:sp>
      <p:sp>
        <p:nvSpPr>
          <p:cNvPr id="5" name="Text 3"/>
          <p:cNvSpPr/>
          <p:nvPr/>
        </p:nvSpPr>
        <p:spPr>
          <a:xfrm>
            <a:off x="1022350" y="178177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Part A · Lecture</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195711"/>
          <a:ext cx="4749800" cy="2315766"/>
        </p:xfrm>
        <a:graphic>
          <a:graphicData uri="http://schemas.openxmlformats.org/drawingml/2006/table">
            <a:tbl>
              <a:tblPr/>
              <a:tblGrid>
                <a:gridCol w="854964"/>
                <a:gridCol w="3039872"/>
                <a:gridCol w="854964"/>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Time</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Segment</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960"/>
                        </a:lnSpc>
                        <a:buNone/>
                      </a:pPr>
                      <a:r>
                        <a:rPr lang="en-US" sz="1400" b="1" dirty="0">
                          <a:solidFill>
                            <a:srgbClr val="0F2A43"/>
                          </a:solidFill>
                          <a:latin typeface="Arial" pitchFamily="34" charset="0"/>
                          <a:ea typeface="Arial" pitchFamily="34" charset="-122"/>
                          <a:cs typeface="Arial" pitchFamily="34" charset="-120"/>
                        </a:rPr>
                        <a:t>Min</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Welcome &amp; why ML</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Paradigms + Quiz 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0:25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Loss, GD, PyTorch + Quiz 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20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0:45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Data splits + Quiz 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0:55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Break</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Shape 4"/>
          <p:cNvSpPr/>
          <p:nvPr/>
        </p:nvSpPr>
        <p:spPr>
          <a:xfrm>
            <a:off x="6200775" y="1575395"/>
            <a:ext cx="5175250" cy="3528417"/>
          </a:xfrm>
          <a:prstGeom prst="roundRect">
            <a:avLst>
              <a:gd name="adj" fmla="val 2789"/>
            </a:avLst>
          </a:prstGeom>
          <a:solidFill>
            <a:srgbClr val="FFFDF8"/>
          </a:solidFill>
          <a:ln w="6350">
            <a:solidFill>
              <a:srgbClr val="D9D2BE"/>
            </a:solidFill>
            <a:prstDash val="solid"/>
          </a:ln>
        </p:spPr>
      </p:sp>
      <p:sp>
        <p:nvSpPr>
          <p:cNvPr id="8" name="Text 5"/>
          <p:cNvSpPr/>
          <p:nvPr/>
        </p:nvSpPr>
        <p:spPr>
          <a:xfrm>
            <a:off x="6407150" y="178177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Part B · Lab 1 and wrap-up</a:t>
            </a:r>
            <a:endParaRPr lang="en-US" sz="18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19850" y="2195711"/>
          <a:ext cx="4749800" cy="2701727"/>
        </p:xfrm>
        <a:graphic>
          <a:graphicData uri="http://schemas.openxmlformats.org/drawingml/2006/table">
            <a:tbl>
              <a:tblPr/>
              <a:tblGrid>
                <a:gridCol w="854964"/>
                <a:gridCol w="3039872"/>
                <a:gridCol w="854964"/>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Time</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Segment</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960"/>
                        </a:lnSpc>
                        <a:buNone/>
                      </a:pPr>
                      <a:r>
                        <a:rPr lang="en-US" sz="1400" b="1" dirty="0">
                          <a:solidFill>
                            <a:srgbClr val="0F2A43"/>
                          </a:solidFill>
                          <a:latin typeface="Arial" pitchFamily="34" charset="0"/>
                          <a:ea typeface="Arial" pitchFamily="34" charset="-122"/>
                          <a:cs typeface="Arial" pitchFamily="34" charset="-120"/>
                        </a:rPr>
                        <a:t>Min</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Lab setup</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1:05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Ex 1 · NumPy vectorization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1:15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Ex 2 · Pandas cleaning</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1:30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Ex 3 · Features &amp; heatmap</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1:42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Lab quiz</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1:50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Rubric, recap, exit ticket</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0" name="Text 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1" name="Text 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 / 37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OBJECTIVES</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By the end of today you can…</a:t>
            </a:r>
            <a:endParaRPr lang="en-US" sz="3000" dirty="0"/>
          </a:p>
        </p:txBody>
      </p:sp>
      <p:sp>
        <p:nvSpPr>
          <p:cNvPr id="4" name="Shape 2"/>
          <p:cNvSpPr/>
          <p:nvPr/>
        </p:nvSpPr>
        <p:spPr>
          <a:xfrm>
            <a:off x="815975" y="1575395"/>
            <a:ext cx="5175250" cy="1057870"/>
          </a:xfrm>
          <a:prstGeom prst="roundRect">
            <a:avLst>
              <a:gd name="adj" fmla="val 9304"/>
            </a:avLst>
          </a:prstGeom>
          <a:solidFill>
            <a:srgbClr val="FFFDF8"/>
          </a:solidFill>
          <a:ln w="6350">
            <a:solidFill>
              <a:srgbClr val="D9D2BE"/>
            </a:solidFill>
            <a:prstDash val="solid"/>
          </a:ln>
        </p:spPr>
      </p:sp>
      <p:sp>
        <p:nvSpPr>
          <p:cNvPr id="5" name="Text 3"/>
          <p:cNvSpPr/>
          <p:nvPr/>
        </p:nvSpPr>
        <p:spPr>
          <a:xfrm>
            <a:off x="1047750" y="1807170"/>
            <a:ext cx="3556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1</a:t>
            </a:r>
            <a:endParaRPr lang="en-US" sz="3000" dirty="0"/>
          </a:p>
        </p:txBody>
      </p:sp>
      <p:sp>
        <p:nvSpPr>
          <p:cNvPr id="6" name="Text 4"/>
          <p:cNvSpPr/>
          <p:nvPr/>
        </p:nvSpPr>
        <p:spPr>
          <a:xfrm>
            <a:off x="1530350" y="1807170"/>
            <a:ext cx="435597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0F2A43"/>
                </a:solidFill>
                <a:latin typeface="Arial" pitchFamily="34" charset="0"/>
                <a:ea typeface="Arial" pitchFamily="34" charset="-122"/>
                <a:cs typeface="Arial" pitchFamily="34" charset="-120"/>
              </a:rPr>
              <a:t>Distinguish supervised, unsupervised and reinforcement learning</a:t>
            </a:r>
            <a:endParaRPr lang="en-US" sz="1800" dirty="0"/>
          </a:p>
        </p:txBody>
      </p:sp>
      <p:sp>
        <p:nvSpPr>
          <p:cNvPr id="7" name="Shape 5"/>
          <p:cNvSpPr/>
          <p:nvPr/>
        </p:nvSpPr>
        <p:spPr>
          <a:xfrm>
            <a:off x="6200775" y="1575395"/>
            <a:ext cx="5175250" cy="1057870"/>
          </a:xfrm>
          <a:prstGeom prst="roundRect">
            <a:avLst>
              <a:gd name="adj" fmla="val 9304"/>
            </a:avLst>
          </a:prstGeom>
          <a:solidFill>
            <a:srgbClr val="FFFDF8"/>
          </a:solidFill>
          <a:ln w="6350">
            <a:solidFill>
              <a:srgbClr val="D9D2BE"/>
            </a:solidFill>
            <a:prstDash val="solid"/>
          </a:ln>
        </p:spPr>
      </p:sp>
      <p:sp>
        <p:nvSpPr>
          <p:cNvPr id="8" name="Text 6"/>
          <p:cNvSpPr/>
          <p:nvPr/>
        </p:nvSpPr>
        <p:spPr>
          <a:xfrm>
            <a:off x="6432550" y="1807170"/>
            <a:ext cx="3556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2</a:t>
            </a:r>
            <a:endParaRPr lang="en-US" sz="3000" dirty="0"/>
          </a:p>
        </p:txBody>
      </p:sp>
      <p:sp>
        <p:nvSpPr>
          <p:cNvPr id="9" name="Text 7"/>
          <p:cNvSpPr/>
          <p:nvPr/>
        </p:nvSpPr>
        <p:spPr>
          <a:xfrm>
            <a:off x="6915150" y="1807170"/>
            <a:ext cx="435597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0F2A43"/>
                </a:solidFill>
                <a:latin typeface="Arial" pitchFamily="34" charset="0"/>
                <a:ea typeface="Arial" pitchFamily="34" charset="-122"/>
                <a:cs typeface="Arial" pitchFamily="34" charset="-120"/>
              </a:rPr>
              <a:t>Compute MSE and explain how gradient descent updates parameters</a:t>
            </a:r>
            <a:endParaRPr lang="en-US" sz="1800" dirty="0"/>
          </a:p>
        </p:txBody>
      </p:sp>
      <p:sp>
        <p:nvSpPr>
          <p:cNvPr id="10" name="Shape 8"/>
          <p:cNvSpPr/>
          <p:nvPr/>
        </p:nvSpPr>
        <p:spPr>
          <a:xfrm>
            <a:off x="815975" y="2842816"/>
            <a:ext cx="5175250" cy="1057870"/>
          </a:xfrm>
          <a:prstGeom prst="roundRect">
            <a:avLst>
              <a:gd name="adj" fmla="val 9304"/>
            </a:avLst>
          </a:prstGeom>
          <a:solidFill>
            <a:srgbClr val="FFFDF8"/>
          </a:solidFill>
          <a:ln w="6350">
            <a:solidFill>
              <a:srgbClr val="D9D2BE"/>
            </a:solidFill>
            <a:prstDash val="solid"/>
          </a:ln>
        </p:spPr>
      </p:sp>
      <p:sp>
        <p:nvSpPr>
          <p:cNvPr id="11" name="Text 9"/>
          <p:cNvSpPr/>
          <p:nvPr/>
        </p:nvSpPr>
        <p:spPr>
          <a:xfrm>
            <a:off x="1047750" y="3074591"/>
            <a:ext cx="3556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3</a:t>
            </a:r>
            <a:endParaRPr lang="en-US" sz="3000" dirty="0"/>
          </a:p>
        </p:txBody>
      </p:sp>
      <p:sp>
        <p:nvSpPr>
          <p:cNvPr id="12" name="Text 10"/>
          <p:cNvSpPr/>
          <p:nvPr/>
        </p:nvSpPr>
        <p:spPr>
          <a:xfrm>
            <a:off x="1530350" y="3074591"/>
            <a:ext cx="435597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0F2A43"/>
                </a:solidFill>
                <a:latin typeface="Arial" pitchFamily="34" charset="0"/>
                <a:ea typeface="Arial" pitchFamily="34" charset="-122"/>
                <a:cs typeface="Arial" pitchFamily="34" charset="-120"/>
              </a:rPr>
              <a:t>Split data into train, validation and test sets</a:t>
            </a:r>
            <a:endParaRPr lang="en-US" sz="1800" dirty="0"/>
          </a:p>
        </p:txBody>
      </p:sp>
      <p:sp>
        <p:nvSpPr>
          <p:cNvPr id="13" name="Shape 11"/>
          <p:cNvSpPr/>
          <p:nvPr/>
        </p:nvSpPr>
        <p:spPr>
          <a:xfrm>
            <a:off x="6200775" y="2842816"/>
            <a:ext cx="5175250" cy="1057870"/>
          </a:xfrm>
          <a:prstGeom prst="roundRect">
            <a:avLst>
              <a:gd name="adj" fmla="val 9304"/>
            </a:avLst>
          </a:prstGeom>
          <a:solidFill>
            <a:srgbClr val="FFFDF8"/>
          </a:solidFill>
          <a:ln w="6350">
            <a:solidFill>
              <a:srgbClr val="D9D2BE"/>
            </a:solidFill>
            <a:prstDash val="solid"/>
          </a:ln>
        </p:spPr>
      </p:sp>
      <p:sp>
        <p:nvSpPr>
          <p:cNvPr id="14" name="Text 12"/>
          <p:cNvSpPr/>
          <p:nvPr/>
        </p:nvSpPr>
        <p:spPr>
          <a:xfrm>
            <a:off x="6432550" y="3074591"/>
            <a:ext cx="3556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4</a:t>
            </a:r>
            <a:endParaRPr lang="en-US" sz="3000" dirty="0"/>
          </a:p>
        </p:txBody>
      </p:sp>
      <p:sp>
        <p:nvSpPr>
          <p:cNvPr id="15" name="Text 13"/>
          <p:cNvSpPr/>
          <p:nvPr/>
        </p:nvSpPr>
        <p:spPr>
          <a:xfrm>
            <a:off x="6915150" y="3074591"/>
            <a:ext cx="4355973"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0F2A43"/>
                </a:solidFill>
                <a:latin typeface="Arial" pitchFamily="34" charset="0"/>
                <a:ea typeface="Arial" pitchFamily="34" charset="-122"/>
                <a:cs typeface="Arial" pitchFamily="34" charset="-120"/>
              </a:rPr>
              <a:t>Clean and explore a dataset with NumPy, Pandas and Seaborn</a:t>
            </a:r>
            <a:endParaRPr lang="en-US" sz="1800" dirty="0"/>
          </a:p>
        </p:txBody>
      </p:sp>
      <p:sp>
        <p:nvSpPr>
          <p:cNvPr id="16" name="Text 1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7" name="Text 1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 / 37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WHY ML · 0:00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Rules versus learning</a:t>
            </a:r>
            <a:endParaRPr lang="en-US" sz="3000" dirty="0"/>
          </a:p>
        </p:txBody>
      </p:sp>
      <p:sp>
        <p:nvSpPr>
          <p:cNvPr id="4" name="Shape 2"/>
          <p:cNvSpPr/>
          <p:nvPr/>
        </p:nvSpPr>
        <p:spPr>
          <a:xfrm>
            <a:off x="815975" y="1524595"/>
            <a:ext cx="10560050" cy="844451"/>
          </a:xfrm>
          <a:prstGeom prst="roundRect">
            <a:avLst>
              <a:gd name="adj" fmla="val 11656"/>
            </a:avLst>
          </a:prstGeom>
          <a:solidFill>
            <a:srgbClr val="FFFDF8"/>
          </a:solidFill>
          <a:ln w="6350">
            <a:solidFill>
              <a:srgbClr val="D9D2BE"/>
            </a:solidFill>
            <a:prstDash val="solid"/>
          </a:ln>
        </p:spPr>
      </p:sp>
      <p:sp>
        <p:nvSpPr>
          <p:cNvPr id="5" name="Text 3"/>
          <p:cNvSpPr/>
          <p:nvPr/>
        </p:nvSpPr>
        <p:spPr>
          <a:xfrm>
            <a:off x="1022350" y="1705570"/>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TRADITIONAL PROGRAMMING</a:t>
            </a:r>
            <a:endParaRPr lang="en-US" sz="1200" dirty="0"/>
          </a:p>
        </p:txBody>
      </p:sp>
      <p:sp>
        <p:nvSpPr>
          <p:cNvPr id="6" name="Text 4"/>
          <p:cNvSpPr/>
          <p:nvPr/>
        </p:nvSpPr>
        <p:spPr>
          <a:xfrm>
            <a:off x="1022350" y="1956991"/>
            <a:ext cx="274701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You write the rules by hand</a:t>
            </a:r>
            <a:endParaRPr lang="en-US" sz="1400" dirty="0"/>
          </a:p>
        </p:txBody>
      </p:sp>
      <p:sp>
        <p:nvSpPr>
          <p:cNvPr id="7" name="Text 5"/>
          <p:cNvSpPr/>
          <p:nvPr/>
        </p:nvSpPr>
        <p:spPr>
          <a:xfrm>
            <a:off x="3841750" y="1708051"/>
            <a:ext cx="814388" cy="477441"/>
          </a:xfrm>
          <a:prstGeom prst="roundRect">
            <a:avLst>
              <a:gd name="adj" fmla="val 15960"/>
            </a:avLst>
          </a:prstGeom>
          <a:solidFill>
            <a:srgbClr val="E4EEF2"/>
          </a:solidFill>
          <a:ln/>
        </p:spPr>
        <p:txBody>
          <a:bodyPr wrap="none" lIns="0" tIns="0" rIns="0" bIns="0" rtlCol="0" anchor="ctr">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Rules</a:t>
            </a:r>
            <a:endParaRPr lang="en-US" sz="1400" dirty="0"/>
          </a:p>
        </p:txBody>
      </p:sp>
      <p:sp>
        <p:nvSpPr>
          <p:cNvPr id="8" name="Text 6"/>
          <p:cNvSpPr/>
          <p:nvPr/>
        </p:nvSpPr>
        <p:spPr>
          <a:xfrm>
            <a:off x="4808538" y="1786830"/>
            <a:ext cx="18434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5B6C"/>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5094486" y="1708051"/>
            <a:ext cx="715665" cy="477441"/>
          </a:xfrm>
          <a:prstGeom prst="roundRect">
            <a:avLst>
              <a:gd name="adj" fmla="val 15960"/>
            </a:avLst>
          </a:prstGeom>
          <a:solidFill>
            <a:srgbClr val="E4EEF2"/>
          </a:solidFill>
          <a:ln/>
        </p:spPr>
        <p:txBody>
          <a:bodyPr wrap="none" lIns="0" tIns="0" rIns="0" bIns="0" rtlCol="0" anchor="ctr">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Data</a:t>
            </a:r>
            <a:endParaRPr lang="en-US" sz="1400" dirty="0"/>
          </a:p>
        </p:txBody>
      </p:sp>
      <p:pic>
        <p:nvPicPr>
          <p:cNvPr id="10" name="Image 0" descr="arrow-right">    </p:cNvPr>
          <p:cNvPicPr>
            <a:picLocks noChangeAspect="1"/>
          </p:cNvPicPr>
          <p:nvPr/>
        </p:nvPicPr>
        <p:blipFill>
          <a:blip r:embed="rId1"/>
          <a:srcRect l="0" r="0" t="0" b="0"/>
          <a:stretch/>
        </p:blipFill>
        <p:spPr>
          <a:xfrm>
            <a:off x="5962551" y="1794371"/>
            <a:ext cx="609600" cy="304800"/>
          </a:xfrm>
          <a:prstGeom prst="rect">
            <a:avLst/>
          </a:prstGeom>
        </p:spPr>
      </p:pic>
      <p:sp>
        <p:nvSpPr>
          <p:cNvPr id="11" name="Text 8"/>
          <p:cNvSpPr/>
          <p:nvPr/>
        </p:nvSpPr>
        <p:spPr>
          <a:xfrm>
            <a:off x="6724551" y="1708051"/>
            <a:ext cx="1071364" cy="477441"/>
          </a:xfrm>
          <a:prstGeom prst="roundRect">
            <a:avLst>
              <a:gd name="adj" fmla="val 1596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Answers</a:t>
            </a:r>
            <a:endParaRPr lang="en-US" sz="1400" dirty="0"/>
          </a:p>
        </p:txBody>
      </p:sp>
      <p:sp>
        <p:nvSpPr>
          <p:cNvPr id="12" name="Shape 9"/>
          <p:cNvSpPr/>
          <p:nvPr/>
        </p:nvSpPr>
        <p:spPr>
          <a:xfrm>
            <a:off x="815975" y="2502396"/>
            <a:ext cx="10560050" cy="1075531"/>
          </a:xfrm>
          <a:prstGeom prst="roundRect">
            <a:avLst>
              <a:gd name="adj" fmla="val 9151"/>
            </a:avLst>
          </a:prstGeom>
          <a:solidFill>
            <a:srgbClr val="FFFDF8"/>
          </a:solidFill>
          <a:ln w="6350">
            <a:solidFill>
              <a:srgbClr val="D9D2BE"/>
            </a:solidFill>
            <a:prstDash val="solid"/>
          </a:ln>
        </p:spPr>
      </p:sp>
      <p:sp>
        <p:nvSpPr>
          <p:cNvPr id="13" name="Text 10"/>
          <p:cNvSpPr/>
          <p:nvPr/>
        </p:nvSpPr>
        <p:spPr>
          <a:xfrm>
            <a:off x="1022350" y="268337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MACHINE LEARNING</a:t>
            </a:r>
            <a:endParaRPr lang="en-US" sz="1200" dirty="0"/>
          </a:p>
        </p:txBody>
      </p:sp>
      <p:sp>
        <p:nvSpPr>
          <p:cNvPr id="14" name="Text 11"/>
          <p:cNvSpPr/>
          <p:nvPr/>
        </p:nvSpPr>
        <p:spPr>
          <a:xfrm>
            <a:off x="1022350" y="2934791"/>
            <a:ext cx="274701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The algorithm finds the rules from examples</a:t>
            </a:r>
            <a:endParaRPr lang="en-US" sz="1400" dirty="0"/>
          </a:p>
        </p:txBody>
      </p:sp>
      <p:sp>
        <p:nvSpPr>
          <p:cNvPr id="15" name="Text 12"/>
          <p:cNvSpPr/>
          <p:nvPr/>
        </p:nvSpPr>
        <p:spPr>
          <a:xfrm>
            <a:off x="3841750" y="2801441"/>
            <a:ext cx="715665" cy="477441"/>
          </a:xfrm>
          <a:prstGeom prst="roundRect">
            <a:avLst>
              <a:gd name="adj" fmla="val 15960"/>
            </a:avLst>
          </a:prstGeom>
          <a:solidFill>
            <a:srgbClr val="E4EEF2"/>
          </a:solidFill>
          <a:ln/>
        </p:spPr>
        <p:txBody>
          <a:bodyPr wrap="none" lIns="0" tIns="0" rIns="0" bIns="0" rtlCol="0" anchor="ctr">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Data</a:t>
            </a:r>
            <a:endParaRPr lang="en-US" sz="1400" dirty="0"/>
          </a:p>
        </p:txBody>
      </p:sp>
      <p:sp>
        <p:nvSpPr>
          <p:cNvPr id="16" name="Text 13"/>
          <p:cNvSpPr/>
          <p:nvPr/>
        </p:nvSpPr>
        <p:spPr>
          <a:xfrm>
            <a:off x="4709815" y="2880122"/>
            <a:ext cx="18434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4A5B6C"/>
                </a:solidFill>
                <a:latin typeface="Arial" pitchFamily="34" charset="0"/>
                <a:ea typeface="Arial" pitchFamily="34" charset="-122"/>
                <a:cs typeface="Arial" pitchFamily="34" charset="-120"/>
              </a:rPr>
              <a:t>+</a:t>
            </a:r>
            <a:endParaRPr lang="en-US" sz="1800" dirty="0"/>
          </a:p>
        </p:txBody>
      </p:sp>
      <p:sp>
        <p:nvSpPr>
          <p:cNvPr id="17" name="Text 14"/>
          <p:cNvSpPr/>
          <p:nvPr/>
        </p:nvSpPr>
        <p:spPr>
          <a:xfrm>
            <a:off x="4995763" y="2801441"/>
            <a:ext cx="1743273" cy="477441"/>
          </a:xfrm>
          <a:prstGeom prst="roundRect">
            <a:avLst>
              <a:gd name="adj" fmla="val 15960"/>
            </a:avLst>
          </a:prstGeom>
          <a:solidFill>
            <a:srgbClr val="E4EEF2"/>
          </a:solidFill>
          <a:ln/>
        </p:spPr>
        <p:txBody>
          <a:bodyPr wrap="none" lIns="0" tIns="0" rIns="0" bIns="0" rtlCol="0" anchor="ctr">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Answers (labels)</a:t>
            </a:r>
            <a:endParaRPr lang="en-US" sz="1400" dirty="0"/>
          </a:p>
        </p:txBody>
      </p:sp>
      <p:pic>
        <p:nvPicPr>
          <p:cNvPr id="18" name="Image 1" descr="arrow-right">    </p:cNvPr>
          <p:cNvPicPr>
            <a:picLocks noChangeAspect="1"/>
          </p:cNvPicPr>
          <p:nvPr/>
        </p:nvPicPr>
        <p:blipFill>
          <a:blip r:embed="rId2"/>
          <a:srcRect l="0" r="0" t="0" b="0"/>
          <a:stretch/>
        </p:blipFill>
        <p:spPr>
          <a:xfrm>
            <a:off x="6891437" y="2887762"/>
            <a:ext cx="609600" cy="304800"/>
          </a:xfrm>
          <a:prstGeom prst="rect">
            <a:avLst/>
          </a:prstGeom>
        </p:spPr>
      </p:pic>
      <p:sp>
        <p:nvSpPr>
          <p:cNvPr id="19" name="Text 15"/>
          <p:cNvSpPr/>
          <p:nvPr/>
        </p:nvSpPr>
        <p:spPr>
          <a:xfrm>
            <a:off x="7653437" y="2801441"/>
            <a:ext cx="1856780" cy="477441"/>
          </a:xfrm>
          <a:prstGeom prst="roundRect">
            <a:avLst>
              <a:gd name="adj" fmla="val 15960"/>
            </a:avLst>
          </a:prstGeom>
          <a:solidFill>
            <a:srgbClr val="E3B54A"/>
          </a:solidFill>
          <a:ln/>
        </p:spPr>
        <p:txBody>
          <a:bodyPr wrap="none" lIns="0" tIns="0" rIns="0" bIns="0" rtlCol="0" anchor="ctr">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Rules = the model</a:t>
            </a:r>
            <a:endParaRPr lang="en-US" sz="1400" dirty="0"/>
          </a:p>
        </p:txBody>
      </p:sp>
      <p:sp>
        <p:nvSpPr>
          <p:cNvPr id="20" name="Text 16"/>
          <p:cNvSpPr/>
          <p:nvPr/>
        </p:nvSpPr>
        <p:spPr>
          <a:xfrm>
            <a:off x="812800" y="37843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Key takeaway:</a:t>
            </a:r>
            <a:r>
              <a:rPr lang="en-US" sz="1400" dirty="0">
                <a:solidFill>
                  <a:srgbClr val="0F2A43"/>
                </a:solidFill>
                <a:latin typeface="Arial" pitchFamily="34" charset="0"/>
                <a:ea typeface="Arial" pitchFamily="34" charset="-122"/>
                <a:cs typeface="Arial" pitchFamily="34" charset="-120"/>
              </a:rPr>
              <a:t> we show an algorithm examples and let it optimise its internal parameters, so it generalises to unseen examples.</a:t>
            </a:r>
            <a:endParaRPr lang="en-US" sz="1400" dirty="0"/>
          </a:p>
        </p:txBody>
      </p:sp>
      <p:sp>
        <p:nvSpPr>
          <p:cNvPr id="21" name="Shape 17"/>
          <p:cNvSpPr/>
          <p:nvPr/>
        </p:nvSpPr>
        <p:spPr>
          <a:xfrm>
            <a:off x="812800" y="4236343"/>
            <a:ext cx="10566400" cy="800001"/>
          </a:xfrm>
          <a:prstGeom prst="roundRect">
            <a:avLst>
              <a:gd name="adj" fmla="val 6350"/>
            </a:avLst>
          </a:prstGeom>
          <a:solidFill>
            <a:srgbClr val="FBF3DC"/>
          </a:solidFill>
          <a:ln/>
        </p:spPr>
      </p:sp>
      <p:sp>
        <p:nvSpPr>
          <p:cNvPr id="22" name="Shape 18"/>
          <p:cNvSpPr/>
          <p:nvPr/>
        </p:nvSpPr>
        <p:spPr>
          <a:xfrm>
            <a:off x="812800" y="4236343"/>
            <a:ext cx="10566400" cy="800001"/>
          </a:xfrm>
          <a:custGeom>
            <a:avLst/>
            <a:gdLst/>
            <a:ahLst/>
            <a:cxnLst/>
            <a:rect l="l" t="t" r="r" b="b"/>
            <a:pathLst>
              <a:path w="10566400" h="800001">
                <a:moveTo>
                  <a:pt x="50800" y="800001"/>
                </a:moveTo>
                <a:lnTo>
                  <a:pt x="50800" y="800001"/>
                </a:lnTo>
                <a:arcTo hR="50800" wR="50800" stAng="5400000" swAng="5400000"/>
                <a:lnTo>
                  <a:pt x="0" y="50800"/>
                </a:lnTo>
                <a:arcTo hR="50800" wR="50800" stAng="10800000" swAng="5400000"/>
                <a:lnTo>
                  <a:pt x="50800" y="0"/>
                </a:lnTo>
                <a:lnTo>
                  <a:pt x="50800" y="800001"/>
                </a:lnTo>
                <a:close/>
              </a:path>
            </a:pathLst>
          </a:custGeom>
          <a:solidFill>
            <a:srgbClr val="E3B54A"/>
          </a:solidFill>
          <a:ln/>
        </p:spPr>
      </p:sp>
      <p:sp>
        <p:nvSpPr>
          <p:cNvPr id="23" name="Text 19"/>
          <p:cNvSpPr/>
          <p:nvPr/>
        </p:nvSpPr>
        <p:spPr>
          <a:xfrm>
            <a:off x="1066800" y="4388743"/>
            <a:ext cx="104124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WARM-UP · 2 MIN</a:t>
            </a:r>
            <a:endParaRPr lang="en-US" sz="1200" dirty="0"/>
          </a:p>
        </p:txBody>
      </p:sp>
      <p:sp>
        <p:nvSpPr>
          <p:cNvPr id="24" name="Text 20"/>
          <p:cNvSpPr/>
          <p:nvPr/>
        </p:nvSpPr>
        <p:spPr>
          <a:xfrm>
            <a:off x="1066800" y="4652863"/>
            <a:ext cx="1041247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Spam detection or sorting a list: which would you rather hand-code, and why?</a:t>
            </a:r>
            <a:endParaRPr lang="en-US" sz="1400" dirty="0"/>
          </a:p>
        </p:txBody>
      </p:sp>
      <p:sp>
        <p:nvSpPr>
          <p:cNvPr id="25" name="Text 21"/>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6" name="Text 22"/>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4 / 37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PARADIGMS · 0:10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The three ML paradigms</a:t>
            </a:r>
            <a:endParaRPr lang="en-US" sz="3000" dirty="0"/>
          </a:p>
        </p:txBody>
      </p:sp>
      <p:sp>
        <p:nvSpPr>
          <p:cNvPr id="4" name="Shape 2"/>
          <p:cNvSpPr/>
          <p:nvPr/>
        </p:nvSpPr>
        <p:spPr>
          <a:xfrm>
            <a:off x="815975" y="1524595"/>
            <a:ext cx="3380284" cy="2708473"/>
          </a:xfrm>
          <a:prstGeom prst="roundRect">
            <a:avLst>
              <a:gd name="adj" fmla="val 3634"/>
            </a:avLst>
          </a:prstGeom>
          <a:solidFill>
            <a:srgbClr val="FFFDF8"/>
          </a:solidFill>
          <a:ln w="6350">
            <a:solidFill>
              <a:srgbClr val="D9D2BE"/>
            </a:solidFill>
            <a:prstDash val="solid"/>
          </a:ln>
        </p:spPr>
      </p:sp>
      <p:pic>
        <p:nvPicPr>
          <p:cNvPr id="5" name="Image 0" descr="GraduationCap">    </p:cNvPr>
          <p:cNvPicPr>
            <a:picLocks noChangeAspect="1"/>
          </p:cNvPicPr>
          <p:nvPr/>
        </p:nvPicPr>
        <p:blipFill>
          <a:blip r:embed="rId1"/>
          <a:srcRect l="0" r="0" t="0" b="0"/>
          <a:stretch/>
        </p:blipFill>
        <p:spPr>
          <a:xfrm>
            <a:off x="1047750" y="1756370"/>
            <a:ext cx="355600" cy="355600"/>
          </a:xfrm>
          <a:prstGeom prst="rect">
            <a:avLst/>
          </a:prstGeom>
        </p:spPr>
      </p:pic>
      <p:sp>
        <p:nvSpPr>
          <p:cNvPr id="6" name="Text 3"/>
          <p:cNvSpPr/>
          <p:nvPr/>
        </p:nvSpPr>
        <p:spPr>
          <a:xfrm>
            <a:off x="1047750" y="2213570"/>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Supervised</a:t>
            </a:r>
            <a:endParaRPr lang="en-US" sz="1800" dirty="0"/>
          </a:p>
        </p:txBody>
      </p:sp>
      <p:sp>
        <p:nvSpPr>
          <p:cNvPr id="7" name="Text 4"/>
          <p:cNvSpPr/>
          <p:nvPr/>
        </p:nvSpPr>
        <p:spPr>
          <a:xfrm>
            <a:off x="1047750" y="2589411"/>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7C7B"/>
                </a:solidFill>
                <a:latin typeface="Arial" pitchFamily="34" charset="0"/>
                <a:ea typeface="Arial" pitchFamily="34" charset="-122"/>
                <a:cs typeface="Arial" pitchFamily="34" charset="-120"/>
              </a:rPr>
              <a:t>Labeled data (X, y)</a:t>
            </a:r>
            <a:endParaRPr lang="en-US" sz="1400" dirty="0"/>
          </a:p>
        </p:txBody>
      </p:sp>
      <p:sp>
        <p:nvSpPr>
          <p:cNvPr id="8" name="Text 5"/>
          <p:cNvSpPr/>
          <p:nvPr/>
        </p:nvSpPr>
        <p:spPr>
          <a:xfrm>
            <a:off x="1047750" y="2939852"/>
            <a:ext cx="30042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Every input example is paired with a ground-truth label y.</a:t>
            </a:r>
            <a:endParaRPr lang="en-US" sz="1400" dirty="0"/>
          </a:p>
        </p:txBody>
      </p:sp>
      <p:sp>
        <p:nvSpPr>
          <p:cNvPr id="9" name="Text 6"/>
          <p:cNvSpPr/>
          <p:nvPr/>
        </p:nvSpPr>
        <p:spPr>
          <a:xfrm>
            <a:off x="1047750" y="3539133"/>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Examples: house prices, spam detection</a:t>
            </a:r>
            <a:endParaRPr lang="en-US" sz="1200" dirty="0"/>
          </a:p>
        </p:txBody>
      </p:sp>
      <p:sp>
        <p:nvSpPr>
          <p:cNvPr id="10" name="Shape 7"/>
          <p:cNvSpPr/>
          <p:nvPr/>
        </p:nvSpPr>
        <p:spPr>
          <a:xfrm>
            <a:off x="4405809" y="1524595"/>
            <a:ext cx="3380383" cy="2708473"/>
          </a:xfrm>
          <a:prstGeom prst="roundRect">
            <a:avLst>
              <a:gd name="adj" fmla="val 3634"/>
            </a:avLst>
          </a:prstGeom>
          <a:solidFill>
            <a:srgbClr val="FFFDF8"/>
          </a:solidFill>
          <a:ln w="6350">
            <a:solidFill>
              <a:srgbClr val="D9D2BE"/>
            </a:solidFill>
            <a:prstDash val="solid"/>
          </a:ln>
        </p:spPr>
      </p:sp>
      <p:pic>
        <p:nvPicPr>
          <p:cNvPr id="11" name="Image 1" descr="Search">    </p:cNvPr>
          <p:cNvPicPr>
            <a:picLocks noChangeAspect="1"/>
          </p:cNvPicPr>
          <p:nvPr/>
        </p:nvPicPr>
        <p:blipFill>
          <a:blip r:embed="rId2"/>
          <a:srcRect l="0" r="0" t="0" b="0"/>
          <a:stretch/>
        </p:blipFill>
        <p:spPr>
          <a:xfrm>
            <a:off x="4637584" y="1756370"/>
            <a:ext cx="355600" cy="355600"/>
          </a:xfrm>
          <a:prstGeom prst="rect">
            <a:avLst/>
          </a:prstGeom>
        </p:spPr>
      </p:pic>
      <p:sp>
        <p:nvSpPr>
          <p:cNvPr id="12" name="Text 8"/>
          <p:cNvSpPr/>
          <p:nvPr/>
        </p:nvSpPr>
        <p:spPr>
          <a:xfrm>
            <a:off x="4637584" y="2213570"/>
            <a:ext cx="30043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Unsupervised</a:t>
            </a:r>
            <a:endParaRPr lang="en-US" sz="1800" dirty="0"/>
          </a:p>
        </p:txBody>
      </p:sp>
      <p:sp>
        <p:nvSpPr>
          <p:cNvPr id="13" name="Text 9"/>
          <p:cNvSpPr/>
          <p:nvPr/>
        </p:nvSpPr>
        <p:spPr>
          <a:xfrm>
            <a:off x="4637584" y="2589411"/>
            <a:ext cx="30043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7C7B"/>
                </a:solidFill>
                <a:latin typeface="Arial" pitchFamily="34" charset="0"/>
                <a:ea typeface="Arial" pitchFamily="34" charset="-122"/>
                <a:cs typeface="Arial" pitchFamily="34" charset="-120"/>
              </a:rPr>
              <a:t>Unlabeled data (X)</a:t>
            </a:r>
            <a:endParaRPr lang="en-US" sz="1400" dirty="0"/>
          </a:p>
        </p:txBody>
      </p:sp>
      <p:sp>
        <p:nvSpPr>
          <p:cNvPr id="14" name="Text 10"/>
          <p:cNvSpPr/>
          <p:nvPr/>
        </p:nvSpPr>
        <p:spPr>
          <a:xfrm>
            <a:off x="4637584" y="2939852"/>
            <a:ext cx="300433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No targets y. Uncover hidden structure or low-dimensional representations.</a:t>
            </a:r>
            <a:endParaRPr lang="en-US" sz="1400" dirty="0"/>
          </a:p>
        </p:txBody>
      </p:sp>
      <p:sp>
        <p:nvSpPr>
          <p:cNvPr id="15" name="Text 11"/>
          <p:cNvSpPr/>
          <p:nvPr/>
        </p:nvSpPr>
        <p:spPr>
          <a:xfrm>
            <a:off x="4637584" y="3787973"/>
            <a:ext cx="30043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Examples: K-Means, PCA, Autoencoders</a:t>
            </a:r>
            <a:endParaRPr lang="en-US" sz="1200" dirty="0"/>
          </a:p>
        </p:txBody>
      </p:sp>
      <p:sp>
        <p:nvSpPr>
          <p:cNvPr id="16" name="Shape 12"/>
          <p:cNvSpPr/>
          <p:nvPr/>
        </p:nvSpPr>
        <p:spPr>
          <a:xfrm>
            <a:off x="7995741" y="1524595"/>
            <a:ext cx="3380284" cy="2708473"/>
          </a:xfrm>
          <a:prstGeom prst="roundRect">
            <a:avLst>
              <a:gd name="adj" fmla="val 3634"/>
            </a:avLst>
          </a:prstGeom>
          <a:solidFill>
            <a:srgbClr val="FFFDF8"/>
          </a:solidFill>
          <a:ln w="6350">
            <a:solidFill>
              <a:srgbClr val="D9D2BE"/>
            </a:solidFill>
            <a:prstDash val="solid"/>
          </a:ln>
        </p:spPr>
      </p:sp>
      <p:pic>
        <p:nvPicPr>
          <p:cNvPr id="17" name="Image 2" descr="Star">    </p:cNvPr>
          <p:cNvPicPr>
            <a:picLocks noChangeAspect="1"/>
          </p:cNvPicPr>
          <p:nvPr/>
        </p:nvPicPr>
        <p:blipFill>
          <a:blip r:embed="rId3"/>
          <a:srcRect l="0" r="0" t="0" b="0"/>
          <a:stretch/>
        </p:blipFill>
        <p:spPr>
          <a:xfrm>
            <a:off x="8227516" y="1756370"/>
            <a:ext cx="355600" cy="355600"/>
          </a:xfrm>
          <a:prstGeom prst="rect">
            <a:avLst/>
          </a:prstGeom>
        </p:spPr>
      </p:pic>
      <p:sp>
        <p:nvSpPr>
          <p:cNvPr id="18" name="Text 13"/>
          <p:cNvSpPr/>
          <p:nvPr/>
        </p:nvSpPr>
        <p:spPr>
          <a:xfrm>
            <a:off x="8227516" y="2213570"/>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Reinforcement</a:t>
            </a:r>
            <a:endParaRPr lang="en-US" sz="1800" dirty="0"/>
          </a:p>
        </p:txBody>
      </p:sp>
      <p:sp>
        <p:nvSpPr>
          <p:cNvPr id="19" name="Text 14"/>
          <p:cNvSpPr/>
          <p:nvPr/>
        </p:nvSpPr>
        <p:spPr>
          <a:xfrm>
            <a:off x="8227516" y="2589411"/>
            <a:ext cx="300423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7C7B"/>
                </a:solidFill>
                <a:latin typeface="Arial" pitchFamily="34" charset="0"/>
                <a:ea typeface="Arial" pitchFamily="34" charset="-122"/>
                <a:cs typeface="Arial" pitchFamily="34" charset="-120"/>
              </a:rPr>
              <a:t>Reward-based feedback</a:t>
            </a:r>
            <a:endParaRPr lang="en-US" sz="1400" dirty="0"/>
          </a:p>
        </p:txBody>
      </p:sp>
      <p:sp>
        <p:nvSpPr>
          <p:cNvPr id="20" name="Text 15"/>
          <p:cNvSpPr/>
          <p:nvPr/>
        </p:nvSpPr>
        <p:spPr>
          <a:xfrm>
            <a:off x="8227516" y="2939852"/>
            <a:ext cx="30042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An agent acts in an environment and learns a policy from scalar rewards.</a:t>
            </a:r>
            <a:endParaRPr lang="en-US" sz="1400" dirty="0"/>
          </a:p>
        </p:txBody>
      </p:sp>
      <p:sp>
        <p:nvSpPr>
          <p:cNvPr id="21" name="Text 16"/>
          <p:cNvSpPr/>
          <p:nvPr/>
        </p:nvSpPr>
        <p:spPr>
          <a:xfrm>
            <a:off x="8227516" y="3539133"/>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Examples: game-playing agents, robot control</a:t>
            </a:r>
            <a:endParaRPr lang="en-US" sz="1200" dirty="0"/>
          </a:p>
        </p:txBody>
      </p:sp>
      <p:sp>
        <p:nvSpPr>
          <p:cNvPr id="22" name="Text 17"/>
          <p:cNvSpPr/>
          <p:nvPr/>
        </p:nvSpPr>
        <p:spPr>
          <a:xfrm>
            <a:off x="812800" y="4439444"/>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In industry, supervised learning remains the backbone for tabular and visual prediction. Foundation models rely on self-supervised pretraining, a flavour of unsupervised learning.</a:t>
            </a:r>
            <a:endParaRPr lang="en-US" sz="1400" dirty="0"/>
          </a:p>
        </p:txBody>
      </p:sp>
      <p:sp>
        <p:nvSpPr>
          <p:cNvPr id="23" name="Text 18"/>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4" name="Text 19"/>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5 / 37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SUPERVISED LEARNING · 0:14</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Regression and classification</a:t>
            </a:r>
            <a:endParaRPr lang="en-US" sz="3000" dirty="0"/>
          </a:p>
        </p:txBody>
      </p:sp>
      <p:sp>
        <p:nvSpPr>
          <p:cNvPr id="4" name="Shape 2"/>
          <p:cNvSpPr/>
          <p:nvPr/>
        </p:nvSpPr>
        <p:spPr>
          <a:xfrm>
            <a:off x="815975" y="1524595"/>
            <a:ext cx="5175250" cy="2955131"/>
          </a:xfrm>
          <a:prstGeom prst="roundRect">
            <a:avLst>
              <a:gd name="adj" fmla="val 3331"/>
            </a:avLst>
          </a:prstGeom>
          <a:solidFill>
            <a:srgbClr val="FFFDF8"/>
          </a:solidFill>
          <a:ln w="6350">
            <a:solidFill>
              <a:srgbClr val="D9D2BE"/>
            </a:solidFill>
            <a:prstDash val="solid"/>
          </a:ln>
        </p:spPr>
      </p:sp>
      <p:sp>
        <p:nvSpPr>
          <p:cNvPr id="5" name="Text 3"/>
          <p:cNvSpPr/>
          <p:nvPr/>
        </p:nvSpPr>
        <p:spPr>
          <a:xfrm>
            <a:off x="1047750" y="1756370"/>
            <a:ext cx="4853051"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2A43"/>
                </a:solidFill>
                <a:latin typeface="Georgia" pitchFamily="18" charset="0"/>
                <a:ea typeface="Georgia" pitchFamily="18" charset="-122"/>
                <a:cs typeface="Georgia" pitchFamily="18" charset="-120"/>
              </a:rPr>
              <a:t>Regression</a:t>
            </a:r>
            <a:endParaRPr lang="en-US" sz="3000" dirty="0"/>
          </a:p>
        </p:txBody>
      </p:sp>
      <p:sp>
        <p:nvSpPr>
          <p:cNvPr id="6" name="Text 4"/>
          <p:cNvSpPr/>
          <p:nvPr/>
        </p:nvSpPr>
        <p:spPr>
          <a:xfrm>
            <a:off x="1047750" y="2277070"/>
            <a:ext cx="485305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Predict a continuous target.</a:t>
            </a:r>
            <a:endParaRPr lang="en-US" sz="1400" dirty="0"/>
          </a:p>
        </p:txBody>
      </p:sp>
      <p:pic>
        <p:nvPicPr>
          <p:cNvPr id="7" name="Image 0" descr="Points rising along a fitted straight line">    </p:cNvPr>
          <p:cNvPicPr>
            <a:picLocks noChangeAspect="1"/>
          </p:cNvPicPr>
          <p:nvPr/>
        </p:nvPicPr>
        <p:blipFill>
          <a:blip r:embed="rId1"/>
          <a:srcRect l="0" r="0" t="0" b="0"/>
          <a:stretch/>
        </p:blipFill>
        <p:spPr>
          <a:xfrm>
            <a:off x="1047750" y="2627511"/>
            <a:ext cx="4724400" cy="1270000"/>
          </a:xfrm>
          <a:prstGeom prst="roundRect">
            <a:avLst>
              <a:gd name="adj" fmla="val 6000"/>
            </a:avLst>
          </a:prstGeom>
        </p:spPr>
      </p:pic>
      <p:sp>
        <p:nvSpPr>
          <p:cNvPr id="8" name="Text 5"/>
          <p:cNvSpPr/>
          <p:nvPr/>
        </p:nvSpPr>
        <p:spPr>
          <a:xfrm>
            <a:off x="1047750" y="3999111"/>
            <a:ext cx="48530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Example:</a:t>
            </a:r>
            <a:r>
              <a:rPr lang="en-US" sz="1400" dirty="0">
                <a:solidFill>
                  <a:srgbClr val="0F2A43"/>
                </a:solidFill>
                <a:latin typeface="Arial" pitchFamily="34" charset="0"/>
                <a:ea typeface="Arial" pitchFamily="34" charset="-122"/>
                <a:cs typeface="Arial" pitchFamily="34" charset="-120"/>
              </a:rPr>
              <a:t> predicting house prices (USD)</a:t>
            </a:r>
            <a:endParaRPr lang="en-US" sz="1400" dirty="0"/>
          </a:p>
        </p:txBody>
      </p:sp>
      <p:sp>
        <p:nvSpPr>
          <p:cNvPr id="9" name="Shape 6"/>
          <p:cNvSpPr/>
          <p:nvPr/>
        </p:nvSpPr>
        <p:spPr>
          <a:xfrm>
            <a:off x="6200775" y="1524595"/>
            <a:ext cx="5175250" cy="2955131"/>
          </a:xfrm>
          <a:prstGeom prst="roundRect">
            <a:avLst>
              <a:gd name="adj" fmla="val 3331"/>
            </a:avLst>
          </a:prstGeom>
          <a:solidFill>
            <a:srgbClr val="FFFDF8"/>
          </a:solidFill>
          <a:ln w="6350">
            <a:solidFill>
              <a:srgbClr val="D9D2BE"/>
            </a:solidFill>
            <a:prstDash val="solid"/>
          </a:ln>
        </p:spPr>
      </p:sp>
      <p:sp>
        <p:nvSpPr>
          <p:cNvPr id="10" name="Text 7"/>
          <p:cNvSpPr/>
          <p:nvPr/>
        </p:nvSpPr>
        <p:spPr>
          <a:xfrm>
            <a:off x="6432550" y="1756370"/>
            <a:ext cx="4853051"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0F2A43"/>
                </a:solidFill>
                <a:latin typeface="Georgia" pitchFamily="18" charset="0"/>
                <a:ea typeface="Georgia" pitchFamily="18" charset="-122"/>
                <a:cs typeface="Georgia" pitchFamily="18" charset="-120"/>
              </a:rPr>
              <a:t>Classification</a:t>
            </a:r>
            <a:endParaRPr lang="en-US" sz="3000" dirty="0"/>
          </a:p>
        </p:txBody>
      </p:sp>
      <p:sp>
        <p:nvSpPr>
          <p:cNvPr id="11" name="Text 8"/>
          <p:cNvSpPr/>
          <p:nvPr/>
        </p:nvSpPr>
        <p:spPr>
          <a:xfrm>
            <a:off x="6432550" y="2277070"/>
            <a:ext cx="485305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Predict a discrete class label.</a:t>
            </a:r>
            <a:endParaRPr lang="en-US" sz="1400" dirty="0"/>
          </a:p>
        </p:txBody>
      </p:sp>
      <p:pic>
        <p:nvPicPr>
          <p:cNvPr id="12" name="Image 1" descr="Two groups of points, circles and squares, separated by a dashed line">    </p:cNvPr>
          <p:cNvPicPr>
            <a:picLocks noChangeAspect="1"/>
          </p:cNvPicPr>
          <p:nvPr/>
        </p:nvPicPr>
        <p:blipFill>
          <a:blip r:embed="rId2"/>
          <a:srcRect l="0" r="0" t="0" b="0"/>
          <a:stretch/>
        </p:blipFill>
        <p:spPr>
          <a:xfrm>
            <a:off x="6432550" y="2627511"/>
            <a:ext cx="4724400" cy="1270000"/>
          </a:xfrm>
          <a:prstGeom prst="roundRect">
            <a:avLst>
              <a:gd name="adj" fmla="val 6000"/>
            </a:avLst>
          </a:prstGeom>
        </p:spPr>
      </p:pic>
      <p:sp>
        <p:nvSpPr>
          <p:cNvPr id="13" name="Text 9"/>
          <p:cNvSpPr/>
          <p:nvPr/>
        </p:nvSpPr>
        <p:spPr>
          <a:xfrm>
            <a:off x="6432550" y="3999111"/>
            <a:ext cx="485305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Example:</a:t>
            </a:r>
            <a:r>
              <a:rPr lang="en-US" sz="1400" dirty="0">
                <a:solidFill>
                  <a:srgbClr val="0F2A43"/>
                </a:solidFill>
                <a:latin typeface="Arial" pitchFamily="34" charset="0"/>
                <a:ea typeface="Arial" pitchFamily="34" charset="-122"/>
                <a:cs typeface="Arial" pitchFamily="34" charset="-120"/>
              </a:rPr>
              <a:t> spam vs. non-spam emails</a:t>
            </a:r>
            <a:endParaRPr lang="en-US" sz="1400" dirty="0"/>
          </a:p>
        </p:txBody>
      </p:sp>
      <p:sp>
        <p:nvSpPr>
          <p:cNvPr id="14" name="Text 10"/>
          <p:cNvSpPr/>
          <p:nvPr/>
        </p:nvSpPr>
        <p:spPr>
          <a:xfrm>
            <a:off x="812800" y="4686102"/>
            <a:ext cx="10566400" cy="485080"/>
          </a:xfrm>
          <a:prstGeom prst="roundRect">
            <a:avLst>
              <a:gd name="adj" fmla="val 10472"/>
            </a:avLst>
          </a:prstGeom>
          <a:solidFill>
            <a:srgbClr val="FBF3DC"/>
          </a:solidFill>
          <a:ln/>
        </p:spPr>
        <p:txBody>
          <a:bodyPr wrap="square" lIns="239121" tIns="112121" rIns="0" bIns="86721"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Ask · 1 min:</a:t>
            </a:r>
            <a:r>
              <a:rPr lang="en-US" sz="1400" dirty="0">
                <a:solidFill>
                  <a:srgbClr val="0F2A43"/>
                </a:solidFill>
                <a:latin typeface="Arial" pitchFamily="34" charset="0"/>
                <a:ea typeface="Arial" pitchFamily="34" charset="-122"/>
                <a:cs typeface="Arial" pitchFamily="34" charset="-120"/>
              </a:rPr>
              <a:t> is predicting customer churn regression or classification?</a:t>
            </a:r>
            <a:endParaRPr lang="en-US" sz="1400" dirty="0"/>
          </a:p>
        </p:txBody>
      </p:sp>
      <p:sp>
        <p:nvSpPr>
          <p:cNvPr id="15" name="Shape 11"/>
          <p:cNvSpPr/>
          <p:nvPr/>
        </p:nvSpPr>
        <p:spPr>
          <a:xfrm>
            <a:off x="812800" y="4686102"/>
            <a:ext cx="10566400" cy="485080"/>
          </a:xfrm>
          <a:custGeom>
            <a:avLst/>
            <a:gdLst/>
            <a:ahLst/>
            <a:cxnLst/>
            <a:rect l="l" t="t" r="r" b="b"/>
            <a:pathLst>
              <a:path w="10566400" h="485080">
                <a:moveTo>
                  <a:pt x="50800" y="485080"/>
                </a:moveTo>
                <a:lnTo>
                  <a:pt x="50800" y="485080"/>
                </a:lnTo>
                <a:arcTo hR="50800" wR="50800" stAng="5400000" swAng="5400000"/>
                <a:lnTo>
                  <a:pt x="0" y="50800"/>
                </a:lnTo>
                <a:arcTo hR="50800" wR="50800" stAng="10800000" swAng="5400000"/>
                <a:lnTo>
                  <a:pt x="50800" y="0"/>
                </a:lnTo>
                <a:lnTo>
                  <a:pt x="50800" y="485080"/>
                </a:lnTo>
                <a:close/>
              </a:path>
            </a:pathLst>
          </a:custGeom>
          <a:solidFill>
            <a:srgbClr val="E3B54A"/>
          </a:solidFill>
          <a:ln/>
        </p:spPr>
      </p:sp>
      <p:sp>
        <p:nvSpPr>
          <p:cNvPr id="16" name="Text 12"/>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7" name="Text 13"/>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6 / 37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B54A"/>
                </a:solidFill>
                <a:latin typeface="Arial" pitchFamily="34" charset="0"/>
                <a:ea typeface="Arial" pitchFamily="34" charset="-122"/>
                <a:cs typeface="Arial" pitchFamily="34" charset="-120"/>
              </a:rPr>
              <a:t>NO LABELS, NO PROBLEM · 0:18</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7F5EF"/>
                </a:solidFill>
                <a:latin typeface="Georgia" pitchFamily="18" charset="0"/>
                <a:ea typeface="Georgia" pitchFamily="18" charset="-122"/>
                <a:cs typeface="Georgia" pitchFamily="18" charset="-120"/>
              </a:rPr>
              <a:t>Unsupervised and reinforcement learning</a:t>
            </a:r>
            <a:endParaRPr lang="en-US" sz="3000" dirty="0"/>
          </a:p>
        </p:txBody>
      </p:sp>
      <p:sp>
        <p:nvSpPr>
          <p:cNvPr id="4" name="Shape 2"/>
          <p:cNvSpPr/>
          <p:nvPr/>
        </p:nvSpPr>
        <p:spPr>
          <a:xfrm>
            <a:off x="815975" y="1575395"/>
            <a:ext cx="5175250" cy="3097213"/>
          </a:xfrm>
          <a:prstGeom prst="roundRect">
            <a:avLst>
              <a:gd name="adj" fmla="val 3178"/>
            </a:avLst>
          </a:prstGeom>
          <a:solidFill>
            <a:srgbClr val="17395A"/>
          </a:solidFill>
          <a:ln w="6350">
            <a:solidFill>
              <a:srgbClr val="2A5078"/>
            </a:solidFill>
            <a:prstDash val="solid"/>
          </a:ln>
        </p:spPr>
      </p:sp>
      <p:pic>
        <p:nvPicPr>
          <p:cNvPr id="5" name="Image 0" descr="Search">    </p:cNvPr>
          <p:cNvPicPr>
            <a:picLocks noChangeAspect="1"/>
          </p:cNvPicPr>
          <p:nvPr/>
        </p:nvPicPr>
        <p:blipFill>
          <a:blip r:embed="rId1"/>
          <a:srcRect l="0" r="0" t="0" b="0"/>
          <a:stretch/>
        </p:blipFill>
        <p:spPr>
          <a:xfrm>
            <a:off x="1073150" y="1832570"/>
            <a:ext cx="355600" cy="355600"/>
          </a:xfrm>
          <a:prstGeom prst="rect">
            <a:avLst/>
          </a:prstGeom>
        </p:spPr>
      </p:pic>
      <p:sp>
        <p:nvSpPr>
          <p:cNvPr id="6" name="Text 3"/>
          <p:cNvSpPr/>
          <p:nvPr/>
        </p:nvSpPr>
        <p:spPr>
          <a:xfrm>
            <a:off x="1073150" y="2315170"/>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EF"/>
                </a:solidFill>
                <a:latin typeface="Georgia" pitchFamily="18" charset="0"/>
                <a:ea typeface="Georgia" pitchFamily="18" charset="-122"/>
                <a:cs typeface="Georgia" pitchFamily="18" charset="-120"/>
              </a:rPr>
              <a:t>Unsupervised: find structure</a:t>
            </a:r>
            <a:endParaRPr lang="en-US" sz="1800" dirty="0"/>
          </a:p>
        </p:txBody>
      </p:sp>
      <p:sp>
        <p:nvSpPr>
          <p:cNvPr id="7" name="Text 4"/>
          <p:cNvSpPr/>
          <p:nvPr/>
        </p:nvSpPr>
        <p:spPr>
          <a:xfrm>
            <a:off x="1073150" y="271641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E0EA"/>
                </a:solidFill>
                <a:latin typeface="Arial" pitchFamily="34" charset="0"/>
                <a:ea typeface="Arial" pitchFamily="34" charset="-122"/>
                <a:cs typeface="Arial" pitchFamily="34" charset="-120"/>
              </a:rPr>
              <a:t>The algorithm receives only the inputs X. It groups similar points or compresses the data into fewer dimensions.</a:t>
            </a:r>
            <a:endParaRPr lang="en-US" sz="1400" dirty="0"/>
          </a:p>
        </p:txBody>
      </p:sp>
      <p:sp>
        <p:nvSpPr>
          <p:cNvPr id="8" name="Text 5"/>
          <p:cNvSpPr/>
          <p:nvPr/>
        </p:nvSpPr>
        <p:spPr>
          <a:xfrm>
            <a:off x="1073150" y="3417292"/>
            <a:ext cx="914598" cy="340320"/>
          </a:xfrm>
          <a:prstGeom prst="roundRect">
            <a:avLst>
              <a:gd name="adj" fmla="val 50000"/>
            </a:avLst>
          </a:prstGeom>
          <a:solidFill>
            <a:srgbClr val="0E7C7B"/>
          </a:solidFill>
          <a:ln/>
        </p:spPr>
        <p:txBody>
          <a:bodyPr wrap="none" lIns="0" tIns="0" rIns="0" bIns="0" rtlCol="0" anchor="ctr">
            <a:normAutofit/>
          </a:bodyPr>
          <a:lstStyle/>
          <a:p>
            <a:pPr algn="ctr" indent="0" marL="0">
              <a:lnSpc>
                <a:spcPts val="1680"/>
              </a:lnSpc>
              <a:buNone/>
            </a:pPr>
            <a:r>
              <a:rPr lang="en-US" sz="1200" b="1" dirty="0">
                <a:solidFill>
                  <a:srgbClr val="F7F5EF"/>
                </a:solidFill>
                <a:latin typeface="Arial" pitchFamily="34" charset="0"/>
                <a:ea typeface="Arial" pitchFamily="34" charset="-122"/>
                <a:cs typeface="Arial" pitchFamily="34" charset="-120"/>
              </a:rPr>
              <a:t>K-Means</a:t>
            </a:r>
            <a:endParaRPr lang="en-US" sz="1200" dirty="0"/>
          </a:p>
        </p:txBody>
      </p:sp>
      <p:sp>
        <p:nvSpPr>
          <p:cNvPr id="9" name="Text 6"/>
          <p:cNvSpPr/>
          <p:nvPr/>
        </p:nvSpPr>
        <p:spPr>
          <a:xfrm>
            <a:off x="2089348" y="3417292"/>
            <a:ext cx="601166" cy="340320"/>
          </a:xfrm>
          <a:prstGeom prst="roundRect">
            <a:avLst>
              <a:gd name="adj" fmla="val 50000"/>
            </a:avLst>
          </a:prstGeom>
          <a:solidFill>
            <a:srgbClr val="0E7C7B"/>
          </a:solidFill>
          <a:ln/>
        </p:spPr>
        <p:txBody>
          <a:bodyPr wrap="none" lIns="0" tIns="0" rIns="0" bIns="0" rtlCol="0" anchor="ctr">
            <a:normAutofit/>
          </a:bodyPr>
          <a:lstStyle/>
          <a:p>
            <a:pPr algn="ctr" indent="0" marL="0">
              <a:lnSpc>
                <a:spcPts val="1680"/>
              </a:lnSpc>
              <a:buNone/>
            </a:pPr>
            <a:r>
              <a:rPr lang="en-US" sz="1200" b="1" dirty="0">
                <a:solidFill>
                  <a:srgbClr val="F7F5EF"/>
                </a:solidFill>
                <a:latin typeface="Arial" pitchFamily="34" charset="0"/>
                <a:ea typeface="Arial" pitchFamily="34" charset="-122"/>
                <a:cs typeface="Arial" pitchFamily="34" charset="-120"/>
              </a:rPr>
              <a:t>PCA</a:t>
            </a:r>
            <a:endParaRPr lang="en-US" sz="1200" dirty="0"/>
          </a:p>
        </p:txBody>
      </p:sp>
      <p:sp>
        <p:nvSpPr>
          <p:cNvPr id="10" name="Text 7"/>
          <p:cNvSpPr/>
          <p:nvPr/>
        </p:nvSpPr>
        <p:spPr>
          <a:xfrm>
            <a:off x="2792115" y="3417292"/>
            <a:ext cx="1304032" cy="340320"/>
          </a:xfrm>
          <a:prstGeom prst="roundRect">
            <a:avLst>
              <a:gd name="adj" fmla="val 50000"/>
            </a:avLst>
          </a:prstGeom>
          <a:solidFill>
            <a:srgbClr val="0E7C7B"/>
          </a:solidFill>
          <a:ln/>
        </p:spPr>
        <p:txBody>
          <a:bodyPr wrap="none" lIns="0" tIns="0" rIns="0" bIns="0" rtlCol="0" anchor="ctr">
            <a:normAutofit/>
          </a:bodyPr>
          <a:lstStyle/>
          <a:p>
            <a:pPr algn="ctr" indent="0" marL="0">
              <a:lnSpc>
                <a:spcPts val="1680"/>
              </a:lnSpc>
              <a:buNone/>
            </a:pPr>
            <a:r>
              <a:rPr lang="en-US" sz="1200" b="1" dirty="0">
                <a:solidFill>
                  <a:srgbClr val="F7F5EF"/>
                </a:solidFill>
                <a:latin typeface="Arial" pitchFamily="34" charset="0"/>
                <a:ea typeface="Arial" pitchFamily="34" charset="-122"/>
                <a:cs typeface="Arial" pitchFamily="34" charset="-120"/>
              </a:rPr>
              <a:t>Autoencoders</a:t>
            </a:r>
            <a:endParaRPr lang="en-US" sz="1200" dirty="0"/>
          </a:p>
        </p:txBody>
      </p:sp>
      <p:sp>
        <p:nvSpPr>
          <p:cNvPr id="11" name="Shape 8"/>
          <p:cNvSpPr/>
          <p:nvPr/>
        </p:nvSpPr>
        <p:spPr>
          <a:xfrm>
            <a:off x="6200775" y="1575395"/>
            <a:ext cx="5175250" cy="3097213"/>
          </a:xfrm>
          <a:prstGeom prst="roundRect">
            <a:avLst>
              <a:gd name="adj" fmla="val 3178"/>
            </a:avLst>
          </a:prstGeom>
          <a:solidFill>
            <a:srgbClr val="17395A"/>
          </a:solidFill>
          <a:ln w="6350">
            <a:solidFill>
              <a:srgbClr val="2A5078"/>
            </a:solidFill>
            <a:prstDash val="solid"/>
          </a:ln>
        </p:spPr>
      </p:sp>
      <p:pic>
        <p:nvPicPr>
          <p:cNvPr id="12" name="Image 1" descr="Star">    </p:cNvPr>
          <p:cNvPicPr>
            <a:picLocks noChangeAspect="1"/>
          </p:cNvPicPr>
          <p:nvPr/>
        </p:nvPicPr>
        <p:blipFill>
          <a:blip r:embed="rId2"/>
          <a:srcRect l="0" r="0" t="0" b="0"/>
          <a:stretch/>
        </p:blipFill>
        <p:spPr>
          <a:xfrm>
            <a:off x="6457950" y="1832570"/>
            <a:ext cx="355600" cy="355600"/>
          </a:xfrm>
          <a:prstGeom prst="rect">
            <a:avLst/>
          </a:prstGeom>
        </p:spPr>
      </p:pic>
      <p:sp>
        <p:nvSpPr>
          <p:cNvPr id="13" name="Text 9"/>
          <p:cNvSpPr/>
          <p:nvPr/>
        </p:nvSpPr>
        <p:spPr>
          <a:xfrm>
            <a:off x="6457950" y="2315170"/>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EF"/>
                </a:solidFill>
                <a:latin typeface="Georgia" pitchFamily="18" charset="0"/>
                <a:ea typeface="Georgia" pitchFamily="18" charset="-122"/>
                <a:cs typeface="Georgia" pitchFamily="18" charset="-120"/>
              </a:rPr>
              <a:t>Reinforcement: learn from rewards</a:t>
            </a:r>
            <a:endParaRPr lang="en-US" sz="1800" dirty="0"/>
          </a:p>
        </p:txBody>
      </p:sp>
      <p:sp>
        <p:nvSpPr>
          <p:cNvPr id="14" name="Text 10"/>
          <p:cNvSpPr/>
          <p:nvPr/>
        </p:nvSpPr>
        <p:spPr>
          <a:xfrm>
            <a:off x="6457950" y="271641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E0EA"/>
                </a:solidFill>
                <a:latin typeface="Arial" pitchFamily="34" charset="0"/>
                <a:ea typeface="Arial" pitchFamily="34" charset="-122"/>
                <a:cs typeface="Arial" pitchFamily="34" charset="-120"/>
              </a:rPr>
              <a:t>An agent takes actions and receives scalar rewards, learning an optimal policy.</a:t>
            </a:r>
            <a:endParaRPr lang="en-US" sz="1400" dirty="0"/>
          </a:p>
        </p:txBody>
      </p:sp>
      <p:sp>
        <p:nvSpPr>
          <p:cNvPr id="15" name="Text 11"/>
          <p:cNvSpPr/>
          <p:nvPr/>
        </p:nvSpPr>
        <p:spPr>
          <a:xfrm>
            <a:off x="6457950" y="3690342"/>
            <a:ext cx="808534" cy="452041"/>
          </a:xfrm>
          <a:prstGeom prst="roundRect">
            <a:avLst>
              <a:gd name="adj" fmla="val 16857"/>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Agent</a:t>
            </a:r>
            <a:endParaRPr lang="en-US" sz="1400" dirty="0"/>
          </a:p>
        </p:txBody>
      </p:sp>
      <p:sp>
        <p:nvSpPr>
          <p:cNvPr id="16" name="Text 12"/>
          <p:cNvSpPr/>
          <p:nvPr/>
        </p:nvSpPr>
        <p:spPr>
          <a:xfrm>
            <a:off x="7530415" y="3417292"/>
            <a:ext cx="4880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B54A"/>
                </a:solidFill>
                <a:latin typeface="Arial" pitchFamily="34" charset="0"/>
                <a:ea typeface="Arial" pitchFamily="34" charset="-122"/>
                <a:cs typeface="Arial" pitchFamily="34" charset="-120"/>
              </a:rPr>
              <a:t>action</a:t>
            </a:r>
            <a:endParaRPr lang="en-US" sz="1200" dirty="0"/>
          </a:p>
        </p:txBody>
      </p:sp>
      <p:pic>
        <p:nvPicPr>
          <p:cNvPr id="17" name="Image 2" descr="arrow-right">    </p:cNvPr>
          <p:cNvPicPr>
            <a:picLocks noChangeAspect="1"/>
          </p:cNvPicPr>
          <p:nvPr/>
        </p:nvPicPr>
        <p:blipFill>
          <a:blip r:embed="rId3"/>
          <a:srcRect l="0" r="0" t="0" b="0"/>
          <a:stretch/>
        </p:blipFill>
        <p:spPr>
          <a:xfrm>
            <a:off x="7393484" y="3668713"/>
            <a:ext cx="762000" cy="228600"/>
          </a:xfrm>
          <a:prstGeom prst="rect">
            <a:avLst/>
          </a:prstGeom>
        </p:spPr>
      </p:pic>
      <p:pic>
        <p:nvPicPr>
          <p:cNvPr id="18" name="Image 3" descr="arrow-left">    </p:cNvPr>
          <p:cNvPicPr>
            <a:picLocks noChangeAspect="1"/>
          </p:cNvPicPr>
          <p:nvPr/>
        </p:nvPicPr>
        <p:blipFill>
          <a:blip r:embed="rId4"/>
          <a:srcRect l="0" r="0" t="0" b="0"/>
          <a:stretch/>
        </p:blipFill>
        <p:spPr>
          <a:xfrm>
            <a:off x="7393484" y="3935413"/>
            <a:ext cx="762000" cy="228600"/>
          </a:xfrm>
          <a:prstGeom prst="rect">
            <a:avLst/>
          </a:prstGeom>
        </p:spPr>
      </p:pic>
      <p:sp>
        <p:nvSpPr>
          <p:cNvPr id="19" name="Text 13"/>
          <p:cNvSpPr/>
          <p:nvPr/>
        </p:nvSpPr>
        <p:spPr>
          <a:xfrm>
            <a:off x="7494935" y="4202113"/>
            <a:ext cx="55899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FD1C7"/>
                </a:solidFill>
                <a:latin typeface="Arial" pitchFamily="34" charset="0"/>
                <a:ea typeface="Arial" pitchFamily="34" charset="-122"/>
                <a:cs typeface="Arial" pitchFamily="34" charset="-120"/>
              </a:rPr>
              <a:t>reward</a:t>
            </a:r>
            <a:endParaRPr lang="en-US" sz="1200" dirty="0"/>
          </a:p>
        </p:txBody>
      </p:sp>
      <p:sp>
        <p:nvSpPr>
          <p:cNvPr id="20" name="Text 14"/>
          <p:cNvSpPr/>
          <p:nvPr/>
        </p:nvSpPr>
        <p:spPr>
          <a:xfrm>
            <a:off x="8288834" y="3696692"/>
            <a:ext cx="1404243" cy="439341"/>
          </a:xfrm>
          <a:prstGeom prst="roundRect">
            <a:avLst>
              <a:gd name="adj" fmla="val 15899"/>
            </a:avLst>
          </a:prstGeom>
          <a:noFill/>
          <a:ln w="12700">
            <a:solidFill>
              <a:srgbClr val="E3B54A"/>
            </a:solidFill>
            <a:prstDash val="solid"/>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Environment</a:t>
            </a:r>
            <a:endParaRPr lang="en-US" sz="1400" dirty="0"/>
          </a:p>
        </p:txBody>
      </p:sp>
      <p:sp>
        <p:nvSpPr>
          <p:cNvPr id="21" name="Text 15"/>
          <p:cNvSpPr/>
          <p:nvPr/>
        </p:nvSpPr>
        <p:spPr>
          <a:xfrm>
            <a:off x="812800" y="492978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7D6"/>
                </a:solidFill>
                <a:latin typeface="Arial" pitchFamily="34" charset="0"/>
                <a:ea typeface="Arial" pitchFamily="34" charset="-122"/>
                <a:cs typeface="Arial" pitchFamily="34" charset="-120"/>
              </a:rPr>
              <a:t>Foundation models pretrain with self-supervised learning, a flavour of unsupervised learning.</a:t>
            </a:r>
            <a:endParaRPr lang="en-US" sz="1400" dirty="0"/>
          </a:p>
        </p:txBody>
      </p:sp>
      <p:sp>
        <p:nvSpPr>
          <p:cNvPr id="22" name="Text 1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6"/>
                </a:solidFill>
                <a:latin typeface="Arial" pitchFamily="34" charset="0"/>
                <a:ea typeface="Arial" pitchFamily="34" charset="-122"/>
                <a:cs typeface="Arial" pitchFamily="34" charset="-120"/>
              </a:rPr>
              <a:t>Introduction to ML · Week 1</a:t>
            </a:r>
            <a:endParaRPr lang="en-US" sz="1200" dirty="0"/>
          </a:p>
        </p:txBody>
      </p:sp>
      <p:sp>
        <p:nvSpPr>
          <p:cNvPr id="23" name="Text 1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D6"/>
                </a:solidFill>
                <a:latin typeface="Arial" pitchFamily="34" charset="0"/>
                <a:ea typeface="Arial" pitchFamily="34" charset="-122"/>
                <a:cs typeface="Arial" pitchFamily="34" charset="-120"/>
              </a:rPr>
              <a:t>7 / 37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1 · QUESTIONS 1–3 · 0:20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Check your understanding</a:t>
            </a:r>
            <a:endParaRPr lang="en-US" sz="3000" dirty="0"/>
          </a:p>
        </p:txBody>
      </p:sp>
      <p:sp>
        <p:nvSpPr>
          <p:cNvPr id="4" name="Shape 2"/>
          <p:cNvSpPr/>
          <p:nvPr/>
        </p:nvSpPr>
        <p:spPr>
          <a:xfrm>
            <a:off x="815975" y="1524595"/>
            <a:ext cx="3380284" cy="3099495"/>
          </a:xfrm>
          <a:prstGeom prst="roundRect">
            <a:avLst>
              <a:gd name="adj" fmla="val 3176"/>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Which statement best describes machine learning?</a:t>
            </a:r>
            <a:endParaRPr lang="en-US" sz="1400" dirty="0"/>
          </a:p>
        </p:txBody>
      </p:sp>
      <p:sp>
        <p:nvSpPr>
          <p:cNvPr id="7" name="Text 5"/>
          <p:cNvSpPr/>
          <p:nvPr/>
        </p:nvSpPr>
        <p:spPr>
          <a:xfrm>
            <a:off x="1022350" y="2609652"/>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Hand-writing if/else rules for every case</a:t>
            </a:r>
            <a:endParaRPr lang="en-US" sz="1400" dirty="0"/>
          </a:p>
        </p:txBody>
      </p:sp>
      <p:sp>
        <p:nvSpPr>
          <p:cNvPr id="8" name="Text 6"/>
          <p:cNvSpPr/>
          <p:nvPr/>
        </p:nvSpPr>
        <p:spPr>
          <a:xfrm>
            <a:off x="1022350" y="3135313"/>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Building systems that learn patterns from data</a:t>
            </a:r>
            <a:endParaRPr lang="en-US" sz="1400" dirty="0"/>
          </a:p>
        </p:txBody>
      </p:sp>
      <p:sp>
        <p:nvSpPr>
          <p:cNvPr id="9" name="Text 7"/>
          <p:cNvSpPr/>
          <p:nvPr/>
        </p:nvSpPr>
        <p:spPr>
          <a:xfrm>
            <a:off x="1022350" y="3660973"/>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Storing large amounts of data in a database</a:t>
            </a:r>
            <a:endParaRPr lang="en-US" sz="1400" dirty="0"/>
          </a:p>
        </p:txBody>
      </p:sp>
      <p:sp>
        <p:nvSpPr>
          <p:cNvPr id="10" name="Text 8"/>
          <p:cNvSpPr/>
          <p:nvPr/>
        </p:nvSpPr>
        <p:spPr>
          <a:xfrm>
            <a:off x="1022350" y="4186634"/>
            <a:ext cx="317073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Making code run faster on a GPU</a:t>
            </a:r>
            <a:endParaRPr lang="en-US" sz="1400" dirty="0"/>
          </a:p>
        </p:txBody>
      </p:sp>
      <p:sp>
        <p:nvSpPr>
          <p:cNvPr id="11" name="Shape 9"/>
          <p:cNvSpPr/>
          <p:nvPr/>
        </p:nvSpPr>
        <p:spPr>
          <a:xfrm>
            <a:off x="4405809" y="1524595"/>
            <a:ext cx="3380383" cy="3099495"/>
          </a:xfrm>
          <a:prstGeom prst="roundRect">
            <a:avLst>
              <a:gd name="adj" fmla="val 3176"/>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3" name="Text 11"/>
          <p:cNvSpPr/>
          <p:nvPr/>
        </p:nvSpPr>
        <p:spPr>
          <a:xfrm>
            <a:off x="4612184" y="2045891"/>
            <a:ext cx="3056662"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A bank has past transactions, each marked “fraud” or “not fraud”. Which setting is this?</a:t>
            </a:r>
            <a:endParaRPr lang="en-US" sz="1400" dirty="0"/>
          </a:p>
        </p:txBody>
      </p:sp>
      <p:sp>
        <p:nvSpPr>
          <p:cNvPr id="14" name="Text 12"/>
          <p:cNvSpPr/>
          <p:nvPr/>
        </p:nvSpPr>
        <p:spPr>
          <a:xfrm>
            <a:off x="4612184" y="28407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Unsupervised clustering</a:t>
            </a:r>
            <a:endParaRPr lang="en-US" sz="1400" dirty="0"/>
          </a:p>
        </p:txBody>
      </p:sp>
      <p:sp>
        <p:nvSpPr>
          <p:cNvPr id="15" name="Text 13"/>
          <p:cNvSpPr/>
          <p:nvPr/>
        </p:nvSpPr>
        <p:spPr>
          <a:xfrm>
            <a:off x="4612184" y="31353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Reinforcement learning</a:t>
            </a:r>
            <a:endParaRPr lang="en-US" sz="1400" dirty="0"/>
          </a:p>
        </p:txBody>
      </p:sp>
      <p:sp>
        <p:nvSpPr>
          <p:cNvPr id="16" name="Text 14"/>
          <p:cNvSpPr/>
          <p:nvPr/>
        </p:nvSpPr>
        <p:spPr>
          <a:xfrm>
            <a:off x="4612184" y="342989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Supervised classification</a:t>
            </a:r>
            <a:endParaRPr lang="en-US" sz="1400" dirty="0"/>
          </a:p>
        </p:txBody>
      </p:sp>
      <p:sp>
        <p:nvSpPr>
          <p:cNvPr id="17" name="Text 15"/>
          <p:cNvSpPr/>
          <p:nvPr/>
        </p:nvSpPr>
        <p:spPr>
          <a:xfrm>
            <a:off x="4612184" y="372447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Supervised regression</a:t>
            </a:r>
            <a:endParaRPr lang="en-US" sz="1400" dirty="0"/>
          </a:p>
        </p:txBody>
      </p:sp>
      <p:sp>
        <p:nvSpPr>
          <p:cNvPr id="18" name="Shape 16"/>
          <p:cNvSpPr/>
          <p:nvPr/>
        </p:nvSpPr>
        <p:spPr>
          <a:xfrm>
            <a:off x="7995741" y="1524595"/>
            <a:ext cx="3380284" cy="3099495"/>
          </a:xfrm>
          <a:prstGeom prst="roundRect">
            <a:avLst>
              <a:gd name="adj" fmla="val 3176"/>
            </a:avLst>
          </a:prstGeom>
          <a:solidFill>
            <a:srgbClr val="FFFDF8"/>
          </a:solidFill>
          <a:ln w="6350">
            <a:solidFill>
              <a:srgbClr val="D9D2BE"/>
            </a:solidFill>
            <a:prstDash val="solid"/>
          </a:ln>
        </p:spPr>
      </p:sp>
      <p:sp>
        <p:nvSpPr>
          <p:cNvPr id="19" name="Text 17"/>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20" name="Text 18"/>
          <p:cNvSpPr/>
          <p:nvPr/>
        </p:nvSpPr>
        <p:spPr>
          <a:xfrm>
            <a:off x="8202116"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Predicting a house price in USD from its size is a…</a:t>
            </a:r>
            <a:endParaRPr lang="en-US" sz="1400" dirty="0"/>
          </a:p>
        </p:txBody>
      </p:sp>
      <p:sp>
        <p:nvSpPr>
          <p:cNvPr id="21" name="Text 19"/>
          <p:cNvSpPr/>
          <p:nvPr/>
        </p:nvSpPr>
        <p:spPr>
          <a:xfrm>
            <a:off x="8202116"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Classification task</a:t>
            </a:r>
            <a:endParaRPr lang="en-US" sz="1400" dirty="0"/>
          </a:p>
        </p:txBody>
      </p:sp>
      <p:sp>
        <p:nvSpPr>
          <p:cNvPr id="22" name="Text 20"/>
          <p:cNvSpPr/>
          <p:nvPr/>
        </p:nvSpPr>
        <p:spPr>
          <a:xfrm>
            <a:off x="8202116" y="29042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Regression task</a:t>
            </a:r>
            <a:endParaRPr lang="en-US" sz="1400" dirty="0"/>
          </a:p>
        </p:txBody>
      </p:sp>
      <p:sp>
        <p:nvSpPr>
          <p:cNvPr id="23" name="Text 21"/>
          <p:cNvSpPr/>
          <p:nvPr/>
        </p:nvSpPr>
        <p:spPr>
          <a:xfrm>
            <a:off x="8202116" y="31988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Clustering task</a:t>
            </a:r>
            <a:endParaRPr lang="en-US" sz="1400" dirty="0"/>
          </a:p>
        </p:txBody>
      </p:sp>
      <p:sp>
        <p:nvSpPr>
          <p:cNvPr id="24" name="Text 22"/>
          <p:cNvSpPr/>
          <p:nvPr/>
        </p:nvSpPr>
        <p:spPr>
          <a:xfrm>
            <a:off x="8202116" y="34933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Reinforcement task</a:t>
            </a:r>
            <a:endParaRPr lang="en-US" sz="1400" dirty="0"/>
          </a:p>
        </p:txBody>
      </p:sp>
      <p:sp>
        <p:nvSpPr>
          <p:cNvPr id="25" name="Text 23"/>
          <p:cNvSpPr/>
          <p:nvPr/>
        </p:nvSpPr>
        <p:spPr>
          <a:xfrm>
            <a:off x="812800" y="483046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Think for 30 seconds, vote A to D, then reveal the answers on the next slide.</a:t>
            </a:r>
            <a:endParaRPr lang="en-US" sz="1200" dirty="0"/>
          </a:p>
        </p:txBody>
      </p:sp>
      <p:sp>
        <p:nvSpPr>
          <p:cNvPr id="26" name="Text 2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7" name="Text 2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8 / 37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1 · ANSWERS 1–3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489994"/>
          </a:xfrm>
          <a:prstGeom prst="roundRect">
            <a:avLst>
              <a:gd name="adj" fmla="val 3953"/>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a:t>
            </a:r>
            <a:endParaRPr lang="en-US" sz="1400" dirty="0"/>
          </a:p>
        </p:txBody>
      </p:sp>
      <p:sp>
        <p:nvSpPr>
          <p:cNvPr id="7" name="Text 5"/>
          <p:cNvSpPr/>
          <p:nvPr/>
        </p:nvSpPr>
        <p:spPr>
          <a:xfrm>
            <a:off x="1022350" y="249793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Building systems that learn patterns from data</a:t>
            </a:r>
            <a:endParaRPr lang="en-US" sz="1400" dirty="0"/>
          </a:p>
        </p:txBody>
      </p:sp>
      <p:sp>
        <p:nvSpPr>
          <p:cNvPr id="8" name="Text 6"/>
          <p:cNvSpPr/>
          <p:nvPr/>
        </p:nvSpPr>
        <p:spPr>
          <a:xfrm>
            <a:off x="1022350" y="306169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ML learns patterns from examples instead of relying on manually hardcoded rules.</a:t>
            </a:r>
            <a:endParaRPr lang="en-US" sz="1400" dirty="0"/>
          </a:p>
        </p:txBody>
      </p:sp>
      <p:sp>
        <p:nvSpPr>
          <p:cNvPr id="9" name="Shape 7"/>
          <p:cNvSpPr/>
          <p:nvPr/>
        </p:nvSpPr>
        <p:spPr>
          <a:xfrm>
            <a:off x="4405809" y="1524595"/>
            <a:ext cx="3380383" cy="2489994"/>
          </a:xfrm>
          <a:prstGeom prst="roundRect">
            <a:avLst>
              <a:gd name="adj" fmla="val 3953"/>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1" name="Text 9"/>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12" name="Text 10"/>
          <p:cNvSpPr/>
          <p:nvPr/>
        </p:nvSpPr>
        <p:spPr>
          <a:xfrm>
            <a:off x="4612184" y="2497931"/>
            <a:ext cx="305666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Supervised classification</a:t>
            </a:r>
            <a:endParaRPr lang="en-US" sz="1400" dirty="0"/>
          </a:p>
        </p:txBody>
      </p:sp>
      <p:sp>
        <p:nvSpPr>
          <p:cNvPr id="13" name="Text 11"/>
          <p:cNvSpPr/>
          <p:nvPr/>
        </p:nvSpPr>
        <p:spPr>
          <a:xfrm>
            <a:off x="4612184" y="2830612"/>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Every example carries a label y, and the label is a discrete class (fraud or not fraud).</a:t>
            </a:r>
            <a:endParaRPr lang="en-US" sz="1400" dirty="0"/>
          </a:p>
        </p:txBody>
      </p:sp>
      <p:sp>
        <p:nvSpPr>
          <p:cNvPr id="14" name="Shape 12"/>
          <p:cNvSpPr/>
          <p:nvPr/>
        </p:nvSpPr>
        <p:spPr>
          <a:xfrm>
            <a:off x="7995741" y="1524595"/>
            <a:ext cx="3380284" cy="2489994"/>
          </a:xfrm>
          <a:prstGeom prst="roundRect">
            <a:avLst>
              <a:gd name="adj" fmla="val 3953"/>
            </a:avLst>
          </a:prstGeom>
          <a:solidFill>
            <a:srgbClr val="FFFDF8"/>
          </a:solidFill>
          <a:ln w="6350">
            <a:solidFill>
              <a:srgbClr val="D9D2BE"/>
            </a:solidFill>
            <a:prstDash val="solid"/>
          </a:ln>
        </p:spPr>
      </p:sp>
      <p:sp>
        <p:nvSpPr>
          <p:cNvPr id="15" name="Text 13"/>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16" name="Text 14"/>
          <p:cNvSpPr/>
          <p:nvPr/>
        </p:nvSpPr>
        <p:spPr>
          <a:xfrm>
            <a:off x="8202116"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a:t>
            </a:r>
            <a:endParaRPr lang="en-US" sz="1400" dirty="0"/>
          </a:p>
        </p:txBody>
      </p:sp>
      <p:sp>
        <p:nvSpPr>
          <p:cNvPr id="17" name="Text 15"/>
          <p:cNvSpPr/>
          <p:nvPr/>
        </p:nvSpPr>
        <p:spPr>
          <a:xfrm>
            <a:off x="8202116"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Regression task</a:t>
            </a:r>
            <a:endParaRPr lang="en-US" sz="1400" dirty="0"/>
          </a:p>
        </p:txBody>
      </p:sp>
      <p:sp>
        <p:nvSpPr>
          <p:cNvPr id="18" name="Text 16"/>
          <p:cNvSpPr/>
          <p:nvPr/>
        </p:nvSpPr>
        <p:spPr>
          <a:xfrm>
            <a:off x="8202116" y="283061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The target, a price in USD, is continuous, so this is regression.</a:t>
            </a:r>
            <a:endParaRPr lang="en-US" sz="14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9 / 37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1 · QUESTIONS 4–6 · 0:23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Check your understanding</a:t>
            </a:r>
            <a:endParaRPr lang="en-US" sz="3000" dirty="0"/>
          </a:p>
        </p:txBody>
      </p:sp>
      <p:sp>
        <p:nvSpPr>
          <p:cNvPr id="4" name="Shape 2"/>
          <p:cNvSpPr/>
          <p:nvPr/>
        </p:nvSpPr>
        <p:spPr>
          <a:xfrm>
            <a:off x="815975" y="1524595"/>
            <a:ext cx="3380284" cy="2637334"/>
          </a:xfrm>
          <a:prstGeom prst="roundRect">
            <a:avLst>
              <a:gd name="adj" fmla="val 3732"/>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 · TRUE OR FALSE</a:t>
            </a:r>
            <a:endParaRPr lang="en-US" sz="1200" dirty="0"/>
          </a:p>
        </p:txBody>
      </p:sp>
      <p:sp>
        <p:nvSpPr>
          <p:cNvPr id="6" name="Text 4"/>
          <p:cNvSpPr/>
          <p:nvPr/>
        </p:nvSpPr>
        <p:spPr>
          <a:xfrm>
            <a:off x="1022350"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K-Means needs a ground-truth label y for every training example.</a:t>
            </a:r>
            <a:endParaRPr lang="en-US" sz="1400" dirty="0"/>
          </a:p>
        </p:txBody>
      </p:sp>
      <p:sp>
        <p:nvSpPr>
          <p:cNvPr id="7" name="Text 5"/>
          <p:cNvSpPr/>
          <p:nvPr/>
        </p:nvSpPr>
        <p:spPr>
          <a:xfrm>
            <a:off x="1022350"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True</a:t>
            </a:r>
            <a:endParaRPr lang="en-US" sz="1400" dirty="0"/>
          </a:p>
        </p:txBody>
      </p:sp>
      <p:sp>
        <p:nvSpPr>
          <p:cNvPr id="8" name="Text 6"/>
          <p:cNvSpPr/>
          <p:nvPr/>
        </p:nvSpPr>
        <p:spPr>
          <a:xfrm>
            <a:off x="1022350" y="29042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False</a:t>
            </a:r>
            <a:endParaRPr lang="en-US" sz="1400" dirty="0"/>
          </a:p>
        </p:txBody>
      </p:sp>
      <p:sp>
        <p:nvSpPr>
          <p:cNvPr id="9" name="Shape 7"/>
          <p:cNvSpPr/>
          <p:nvPr/>
        </p:nvSpPr>
        <p:spPr>
          <a:xfrm>
            <a:off x="4405809" y="1524595"/>
            <a:ext cx="3380383" cy="2637334"/>
          </a:xfrm>
          <a:prstGeom prst="roundRect">
            <a:avLst>
              <a:gd name="adj" fmla="val 3732"/>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1" name="Text 9"/>
          <p:cNvSpPr/>
          <p:nvPr/>
        </p:nvSpPr>
        <p:spPr>
          <a:xfrm>
            <a:off x="4612184" y="2045891"/>
            <a:ext cx="3056662"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A robot gets a reward each time it moves forward without falling. This is…</a:t>
            </a:r>
            <a:endParaRPr lang="en-US" sz="1400" dirty="0"/>
          </a:p>
        </p:txBody>
      </p:sp>
      <p:sp>
        <p:nvSpPr>
          <p:cNvPr id="12" name="Text 10"/>
          <p:cNvSpPr/>
          <p:nvPr/>
        </p:nvSpPr>
        <p:spPr>
          <a:xfrm>
            <a:off x="4612184" y="28407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Supervised learning</a:t>
            </a:r>
            <a:endParaRPr lang="en-US" sz="1400" dirty="0"/>
          </a:p>
        </p:txBody>
      </p:sp>
      <p:sp>
        <p:nvSpPr>
          <p:cNvPr id="13" name="Text 11"/>
          <p:cNvSpPr/>
          <p:nvPr/>
        </p:nvSpPr>
        <p:spPr>
          <a:xfrm>
            <a:off x="4612184" y="31353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Unsupervised learning</a:t>
            </a:r>
            <a:endParaRPr lang="en-US" sz="1400" dirty="0"/>
          </a:p>
        </p:txBody>
      </p:sp>
      <p:sp>
        <p:nvSpPr>
          <p:cNvPr id="14" name="Text 12"/>
          <p:cNvSpPr/>
          <p:nvPr/>
        </p:nvSpPr>
        <p:spPr>
          <a:xfrm>
            <a:off x="4612184" y="342989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Reinforcement learning</a:t>
            </a:r>
            <a:endParaRPr lang="en-US" sz="1400" dirty="0"/>
          </a:p>
        </p:txBody>
      </p:sp>
      <p:sp>
        <p:nvSpPr>
          <p:cNvPr id="15" name="Text 13"/>
          <p:cNvSpPr/>
          <p:nvPr/>
        </p:nvSpPr>
        <p:spPr>
          <a:xfrm>
            <a:off x="4612184" y="372447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Regression</a:t>
            </a:r>
            <a:endParaRPr lang="en-US" sz="1400" dirty="0"/>
          </a:p>
        </p:txBody>
      </p:sp>
      <p:sp>
        <p:nvSpPr>
          <p:cNvPr id="16" name="Shape 14"/>
          <p:cNvSpPr/>
          <p:nvPr/>
        </p:nvSpPr>
        <p:spPr>
          <a:xfrm>
            <a:off x="7995741" y="1524595"/>
            <a:ext cx="3380284" cy="2637334"/>
          </a:xfrm>
          <a:prstGeom prst="roundRect">
            <a:avLst>
              <a:gd name="adj" fmla="val 3732"/>
            </a:avLst>
          </a:prstGeom>
          <a:solidFill>
            <a:srgbClr val="FFFDF8"/>
          </a:solidFill>
          <a:ln w="6350">
            <a:solidFill>
              <a:srgbClr val="D9D2BE"/>
            </a:solidFill>
            <a:prstDash val="solid"/>
          </a:ln>
        </p:spPr>
      </p:sp>
      <p:sp>
        <p:nvSpPr>
          <p:cNvPr id="17" name="Text 15"/>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a:t>
            </a:r>
            <a:endParaRPr lang="en-US" sz="1200" dirty="0"/>
          </a:p>
        </p:txBody>
      </p:sp>
      <p:sp>
        <p:nvSpPr>
          <p:cNvPr id="18" name="Text 16"/>
          <p:cNvSpPr/>
          <p:nvPr/>
        </p:nvSpPr>
        <p:spPr>
          <a:xfrm>
            <a:off x="8202116"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Which one is NOT an example of unsupervised learning?</a:t>
            </a:r>
            <a:endParaRPr lang="en-US" sz="1400" dirty="0"/>
          </a:p>
        </p:txBody>
      </p:sp>
      <p:sp>
        <p:nvSpPr>
          <p:cNvPr id="19" name="Text 17"/>
          <p:cNvSpPr/>
          <p:nvPr/>
        </p:nvSpPr>
        <p:spPr>
          <a:xfrm>
            <a:off x="8202116"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K-Means clustering</a:t>
            </a:r>
            <a:endParaRPr lang="en-US" sz="1400" dirty="0"/>
          </a:p>
        </p:txBody>
      </p:sp>
      <p:sp>
        <p:nvSpPr>
          <p:cNvPr id="20" name="Text 18"/>
          <p:cNvSpPr/>
          <p:nvPr/>
        </p:nvSpPr>
        <p:spPr>
          <a:xfrm>
            <a:off x="8202116" y="29042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Principal Component Analysis</a:t>
            </a:r>
            <a:endParaRPr lang="en-US" sz="1400" dirty="0"/>
          </a:p>
        </p:txBody>
      </p:sp>
      <p:sp>
        <p:nvSpPr>
          <p:cNvPr id="21" name="Text 19"/>
          <p:cNvSpPr/>
          <p:nvPr/>
        </p:nvSpPr>
        <p:spPr>
          <a:xfrm>
            <a:off x="8202116" y="31988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An autoencoder</a:t>
            </a:r>
            <a:endParaRPr lang="en-US" sz="1400" dirty="0"/>
          </a:p>
        </p:txBody>
      </p:sp>
      <p:sp>
        <p:nvSpPr>
          <p:cNvPr id="22" name="Text 20"/>
          <p:cNvSpPr/>
          <p:nvPr/>
        </p:nvSpPr>
        <p:spPr>
          <a:xfrm>
            <a:off x="8202116" y="34933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A spam vs. non-spam classifier</a:t>
            </a:r>
            <a:endParaRPr lang="en-US" sz="1400" dirty="0"/>
          </a:p>
        </p:txBody>
      </p:sp>
      <p:sp>
        <p:nvSpPr>
          <p:cNvPr id="23" name="Text 21"/>
          <p:cNvSpPr/>
          <p:nvPr/>
        </p:nvSpPr>
        <p:spPr>
          <a:xfrm>
            <a:off x="812800" y="4368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Think for 30 seconds, vote, then reveal the answers on the next slide.</a:t>
            </a:r>
            <a:endParaRPr lang="en-US" sz="1200" dirty="0"/>
          </a:p>
        </p:txBody>
      </p:sp>
      <p:sp>
        <p:nvSpPr>
          <p:cNvPr id="24" name="Text 22"/>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5" name="Text 23"/>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10 / 37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1 · ANSWERS 4–6</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010073"/>
          </a:xfrm>
          <a:prstGeom prst="roundRect">
            <a:avLst>
              <a:gd name="adj" fmla="val 4897"/>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a:t>
            </a:r>
            <a:endParaRPr lang="en-US" sz="1200" dirty="0"/>
          </a:p>
        </p:txBody>
      </p:sp>
      <p:sp>
        <p:nvSpPr>
          <p:cNvPr id="6" name="Text 4"/>
          <p:cNvSpPr/>
          <p:nvPr/>
        </p:nvSpPr>
        <p:spPr>
          <a:xfrm>
            <a:off x="1022350" y="2045891"/>
            <a:ext cx="1781175"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 (False)</a:t>
            </a:r>
            <a:endParaRPr lang="en-US" sz="1400" dirty="0"/>
          </a:p>
        </p:txBody>
      </p:sp>
      <p:sp>
        <p:nvSpPr>
          <p:cNvPr id="7" name="Text 5"/>
          <p:cNvSpPr/>
          <p:nvPr/>
        </p:nvSpPr>
        <p:spPr>
          <a:xfrm>
            <a:off x="1022350" y="2497931"/>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K-Means is unsupervised. It receives only the inputs X and looks for structure, with no labels.</a:t>
            </a:r>
            <a:endParaRPr lang="en-US" sz="1400" dirty="0"/>
          </a:p>
        </p:txBody>
      </p:sp>
      <p:sp>
        <p:nvSpPr>
          <p:cNvPr id="8" name="Shape 6"/>
          <p:cNvSpPr/>
          <p:nvPr/>
        </p:nvSpPr>
        <p:spPr>
          <a:xfrm>
            <a:off x="4405809" y="1524595"/>
            <a:ext cx="3380383" cy="2010073"/>
          </a:xfrm>
          <a:prstGeom prst="roundRect">
            <a:avLst>
              <a:gd name="adj" fmla="val 4897"/>
            </a:avLst>
          </a:prstGeom>
          <a:solidFill>
            <a:srgbClr val="FFFDF8"/>
          </a:solidFill>
          <a:ln w="6350">
            <a:solidFill>
              <a:srgbClr val="D9D2BE"/>
            </a:solidFill>
            <a:prstDash val="solid"/>
          </a:ln>
        </p:spPr>
      </p:sp>
      <p:sp>
        <p:nvSpPr>
          <p:cNvPr id="9" name="Text 7"/>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0" name="Text 8"/>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11" name="Text 9"/>
          <p:cNvSpPr/>
          <p:nvPr/>
        </p:nvSpPr>
        <p:spPr>
          <a:xfrm>
            <a:off x="4612184" y="2497931"/>
            <a:ext cx="305666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Reinforcement learning</a:t>
            </a:r>
            <a:endParaRPr lang="en-US" sz="1400" dirty="0"/>
          </a:p>
        </p:txBody>
      </p:sp>
      <p:sp>
        <p:nvSpPr>
          <p:cNvPr id="12" name="Text 10"/>
          <p:cNvSpPr/>
          <p:nvPr/>
        </p:nvSpPr>
        <p:spPr>
          <a:xfrm>
            <a:off x="4612184" y="2830612"/>
            <a:ext cx="305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An agent acts in an environment and learns from scalar rewards.</a:t>
            </a:r>
            <a:endParaRPr lang="en-US" sz="1400" dirty="0"/>
          </a:p>
        </p:txBody>
      </p:sp>
      <p:sp>
        <p:nvSpPr>
          <p:cNvPr id="13" name="Shape 11"/>
          <p:cNvSpPr/>
          <p:nvPr/>
        </p:nvSpPr>
        <p:spPr>
          <a:xfrm>
            <a:off x="7995741" y="1524595"/>
            <a:ext cx="3380284" cy="2010073"/>
          </a:xfrm>
          <a:prstGeom prst="roundRect">
            <a:avLst>
              <a:gd name="adj" fmla="val 4897"/>
            </a:avLst>
          </a:prstGeom>
          <a:solidFill>
            <a:srgbClr val="FFFDF8"/>
          </a:solidFill>
          <a:ln w="6350">
            <a:solidFill>
              <a:srgbClr val="D9D2BE"/>
            </a:solidFill>
            <a:prstDash val="solid"/>
          </a:ln>
        </p:spPr>
      </p:sp>
      <p:sp>
        <p:nvSpPr>
          <p:cNvPr id="14" name="Text 12"/>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a:t>
            </a:r>
            <a:endParaRPr lang="en-US" sz="1200" dirty="0"/>
          </a:p>
        </p:txBody>
      </p:sp>
      <p:sp>
        <p:nvSpPr>
          <p:cNvPr id="15" name="Text 13"/>
          <p:cNvSpPr/>
          <p:nvPr/>
        </p:nvSpPr>
        <p:spPr>
          <a:xfrm>
            <a:off x="8202116"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D</a:t>
            </a:r>
            <a:endParaRPr lang="en-US" sz="1400" dirty="0"/>
          </a:p>
        </p:txBody>
      </p:sp>
      <p:sp>
        <p:nvSpPr>
          <p:cNvPr id="16" name="Text 14"/>
          <p:cNvSpPr/>
          <p:nvPr/>
        </p:nvSpPr>
        <p:spPr>
          <a:xfrm>
            <a:off x="8202116"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A spam vs. non-spam classifier</a:t>
            </a:r>
            <a:endParaRPr lang="en-US" sz="1400" dirty="0"/>
          </a:p>
        </p:txBody>
      </p:sp>
      <p:sp>
        <p:nvSpPr>
          <p:cNvPr id="17" name="Text 15"/>
          <p:cNvSpPr/>
          <p:nvPr/>
        </p:nvSpPr>
        <p:spPr>
          <a:xfrm>
            <a:off x="8202116" y="283061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Spam detection uses labeled emails, so it is supervised classification.</a:t>
            </a:r>
            <a:endParaRPr lang="en-US" sz="1400" dirty="0"/>
          </a:p>
        </p:txBody>
      </p:sp>
      <p:sp>
        <p:nvSpPr>
          <p:cNvPr id="18" name="Text 1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9" name="Text 1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11 / 37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DATA FOUNDATIONS · 0:25</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 dataset is a matrix</a:t>
            </a:r>
            <a:endParaRPr lang="en-US" sz="3000" dirty="0"/>
          </a:p>
        </p:txBody>
      </p:sp>
      <p:sp>
        <p:nvSpPr>
          <p:cNvPr id="4" name="Shape 2"/>
          <p:cNvSpPr/>
          <p:nvPr/>
        </p:nvSpPr>
        <p:spPr>
          <a:xfrm>
            <a:off x="815975" y="1575395"/>
            <a:ext cx="6343650" cy="3223816"/>
          </a:xfrm>
          <a:prstGeom prst="roundRect">
            <a:avLst>
              <a:gd name="adj" fmla="val 3053"/>
            </a:avLst>
          </a:prstGeom>
          <a:solidFill>
            <a:srgbClr val="FFFDF8"/>
          </a:solidFill>
          <a:ln w="6350">
            <a:solidFill>
              <a:srgbClr val="D9D2BE"/>
            </a:solidFill>
            <a:prstDash val="solid"/>
          </a:ln>
        </p:spPr>
      </p:sp>
      <p:sp>
        <p:nvSpPr>
          <p:cNvPr id="5" name="Text 3"/>
          <p:cNvSpPr/>
          <p:nvPr/>
        </p:nvSpPr>
        <p:spPr>
          <a:xfrm>
            <a:off x="1022350" y="1781770"/>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Student performance data (illustrative values)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134791"/>
          <a:ext cx="5918200" cy="1929805"/>
        </p:xfrm>
        <a:graphic>
          <a:graphicData uri="http://schemas.openxmlformats.org/drawingml/2006/table">
            <a:tbl>
              <a:tblPr/>
              <a:tblGrid>
                <a:gridCol w="1065276"/>
                <a:gridCol w="1420368"/>
                <a:gridCol w="1716278"/>
                <a:gridCol w="1716278"/>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Sample</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study_hours</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attendance_pct</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exam_score (y)</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Sample 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14.2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78.5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71.0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Sample 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17.9</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91.3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84.6</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Sample 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9.6</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65.0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58.2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Sample 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Text 4"/>
          <p:cNvSpPr/>
          <p:nvPr/>
        </p:nvSpPr>
        <p:spPr>
          <a:xfrm>
            <a:off x="1022350" y="4191595"/>
            <a:ext cx="2011759" cy="401241"/>
          </a:xfrm>
          <a:prstGeom prst="roundRect">
            <a:avLst>
              <a:gd name="adj" fmla="val 18991"/>
            </a:avLst>
          </a:prstGeom>
          <a:solidFill>
            <a:srgbClr val="0F2A43"/>
          </a:solidFill>
          <a:ln/>
        </p:spPr>
        <p:txBody>
          <a:bodyPr wrap="none" lIns="0" tIns="0" rIns="0" bIns="0" rtlCol="0" anchor="ctr">
            <a:normAutofit/>
          </a:bodyPr>
          <a:lstStyle/>
          <a:p>
            <a:pPr algn="ctr" indent="0" marL="0">
              <a:lnSpc>
                <a:spcPts val="1960"/>
              </a:lnSpc>
              <a:buNone/>
            </a:pPr>
            <a:r>
              <a:rPr lang="en-US" sz="1400" dirty="0">
                <a:solidFill>
                  <a:srgbClr val="F7F5EF"/>
                </a:solidFill>
                <a:latin typeface="Courier New" pitchFamily="49" charset="0"/>
                <a:ea typeface="Courier New" pitchFamily="49" charset="-122"/>
                <a:cs typeface="Courier New" pitchFamily="49" charset="-120"/>
              </a:rPr>
              <a:t>X.shape → (N, d)</a:t>
            </a:r>
            <a:endParaRPr lang="en-US" sz="1400" dirty="0"/>
          </a:p>
        </p:txBody>
      </p:sp>
      <p:sp>
        <p:nvSpPr>
          <p:cNvPr id="8" name="Shape 5"/>
          <p:cNvSpPr/>
          <p:nvPr/>
        </p:nvSpPr>
        <p:spPr>
          <a:xfrm>
            <a:off x="7470775" y="1575395"/>
            <a:ext cx="3905250" cy="692150"/>
          </a:xfrm>
          <a:prstGeom prst="roundRect">
            <a:avLst>
              <a:gd name="adj" fmla="val 14220"/>
            </a:avLst>
          </a:prstGeom>
          <a:solidFill>
            <a:srgbClr val="FFFDF8"/>
          </a:solidFill>
          <a:ln w="6350">
            <a:solidFill>
              <a:srgbClr val="D9D2BE"/>
            </a:solidFill>
            <a:prstDash val="solid"/>
          </a:ln>
        </p:spPr>
      </p:sp>
      <p:sp>
        <p:nvSpPr>
          <p:cNvPr id="9" name="Text 6"/>
          <p:cNvSpPr/>
          <p:nvPr/>
        </p:nvSpPr>
        <p:spPr>
          <a:xfrm>
            <a:off x="7651750" y="1730970"/>
            <a:ext cx="4064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N</a:t>
            </a:r>
            <a:endParaRPr lang="en-US" sz="3000" dirty="0"/>
          </a:p>
        </p:txBody>
      </p:sp>
      <p:sp>
        <p:nvSpPr>
          <p:cNvPr id="10" name="Text 7"/>
          <p:cNvSpPr/>
          <p:nvPr/>
        </p:nvSpPr>
        <p:spPr>
          <a:xfrm>
            <a:off x="8159750" y="1805880"/>
            <a:ext cx="3126359"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number of samples (rows)</a:t>
            </a:r>
            <a:endParaRPr lang="en-US" sz="1400" dirty="0"/>
          </a:p>
        </p:txBody>
      </p:sp>
      <p:sp>
        <p:nvSpPr>
          <p:cNvPr id="11" name="Shape 8"/>
          <p:cNvSpPr/>
          <p:nvPr/>
        </p:nvSpPr>
        <p:spPr>
          <a:xfrm>
            <a:off x="7470775" y="2400895"/>
            <a:ext cx="3905250" cy="692150"/>
          </a:xfrm>
          <a:prstGeom prst="roundRect">
            <a:avLst>
              <a:gd name="adj" fmla="val 14220"/>
            </a:avLst>
          </a:prstGeom>
          <a:solidFill>
            <a:srgbClr val="FFFDF8"/>
          </a:solidFill>
          <a:ln w="6350">
            <a:solidFill>
              <a:srgbClr val="D9D2BE"/>
            </a:solidFill>
            <a:prstDash val="solid"/>
          </a:ln>
        </p:spPr>
      </p:sp>
      <p:sp>
        <p:nvSpPr>
          <p:cNvPr id="12" name="Text 9"/>
          <p:cNvSpPr/>
          <p:nvPr/>
        </p:nvSpPr>
        <p:spPr>
          <a:xfrm>
            <a:off x="7651750" y="2556470"/>
            <a:ext cx="4064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d</a:t>
            </a:r>
            <a:endParaRPr lang="en-US" sz="3000" dirty="0"/>
          </a:p>
        </p:txBody>
      </p:sp>
      <p:sp>
        <p:nvSpPr>
          <p:cNvPr id="13" name="Text 10"/>
          <p:cNvSpPr/>
          <p:nvPr/>
        </p:nvSpPr>
        <p:spPr>
          <a:xfrm>
            <a:off x="8159750" y="2631380"/>
            <a:ext cx="3126359"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number of features (columns of X)</a:t>
            </a:r>
            <a:endParaRPr lang="en-US" sz="1400" dirty="0"/>
          </a:p>
        </p:txBody>
      </p:sp>
      <p:sp>
        <p:nvSpPr>
          <p:cNvPr id="14" name="Shape 11"/>
          <p:cNvSpPr/>
          <p:nvPr/>
        </p:nvSpPr>
        <p:spPr>
          <a:xfrm>
            <a:off x="7470775" y="3226395"/>
            <a:ext cx="3905250" cy="773311"/>
          </a:xfrm>
          <a:prstGeom prst="roundRect">
            <a:avLst>
              <a:gd name="adj" fmla="val 12728"/>
            </a:avLst>
          </a:prstGeom>
          <a:solidFill>
            <a:srgbClr val="FFFDF8"/>
          </a:solidFill>
          <a:ln w="6350">
            <a:solidFill>
              <a:srgbClr val="D9D2BE"/>
            </a:solidFill>
            <a:prstDash val="solid"/>
          </a:ln>
        </p:spPr>
      </p:sp>
      <p:sp>
        <p:nvSpPr>
          <p:cNvPr id="15" name="Text 12"/>
          <p:cNvSpPr/>
          <p:nvPr/>
        </p:nvSpPr>
        <p:spPr>
          <a:xfrm>
            <a:off x="7651750" y="3422551"/>
            <a:ext cx="4064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y</a:t>
            </a:r>
            <a:endParaRPr lang="en-US" sz="3000" dirty="0"/>
          </a:p>
        </p:txBody>
      </p:sp>
      <p:sp>
        <p:nvSpPr>
          <p:cNvPr id="16" name="Text 13"/>
          <p:cNvSpPr/>
          <p:nvPr/>
        </p:nvSpPr>
        <p:spPr>
          <a:xfrm>
            <a:off x="8159750" y="3381970"/>
            <a:ext cx="3126359"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one label per sample, in supervised learning</a:t>
            </a:r>
            <a:endParaRPr lang="en-US" sz="1400" dirty="0"/>
          </a:p>
        </p:txBody>
      </p:sp>
      <p:sp>
        <p:nvSpPr>
          <p:cNvPr id="17" name="Text 1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8" name="Text 1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12 / 37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LOSS FUNCTION · 0:28</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Mean Squared Error (MSE)</a:t>
            </a:r>
            <a:endParaRPr lang="en-US" sz="3000" dirty="0"/>
          </a:p>
        </p:txBody>
      </p:sp>
      <p:sp>
        <p:nvSpPr>
          <p:cNvPr id="4" name="Text 2"/>
          <p:cNvSpPr/>
          <p:nvPr/>
        </p:nvSpPr>
        <p:spPr>
          <a:xfrm>
            <a:off x="812800" y="1572220"/>
            <a:ext cx="10566400" cy="703560"/>
          </a:xfrm>
          <a:prstGeom prst="roundRect">
            <a:avLst>
              <a:gd name="adj" fmla="val 14441"/>
            </a:avLst>
          </a:prstGeom>
          <a:solidFill>
            <a:srgbClr val="0F2A43"/>
          </a:solidFill>
          <a:ln/>
        </p:spPr>
        <p:txBody>
          <a:bodyPr wrap="square" lIns="224242" tIns="173442" rIns="0" bIns="148042" rtlCol="0" anchor="t">
            <a:normAutofit/>
          </a:bodyPr>
          <a:lstStyle/>
          <a:p>
            <a:pPr algn="l" indent="0" marL="0">
              <a:lnSpc>
                <a:spcPts val="2340"/>
              </a:lnSpc>
              <a:buNone/>
            </a:pPr>
            <a:r>
              <a:rPr lang="en-US" sz="1800" dirty="0">
                <a:solidFill>
                  <a:srgbClr val="F7F5EF"/>
                </a:solidFill>
                <a:latin typeface="Courier New" pitchFamily="49" charset="0"/>
                <a:ea typeface="Courier New" pitchFamily="49" charset="-122"/>
                <a:cs typeface="Courier New" pitchFamily="49" charset="-120"/>
              </a:rPr>
              <a:t>MSE = (1 / N) * sum((y_i - f(x_i))^2)</a:t>
            </a:r>
            <a:endParaRPr lang="en-US" sz="1800" dirty="0"/>
          </a:p>
        </p:txBody>
      </p:sp>
      <p:sp>
        <p:nvSpPr>
          <p:cNvPr id="5" name="Shape 3"/>
          <p:cNvSpPr/>
          <p:nvPr/>
        </p:nvSpPr>
        <p:spPr>
          <a:xfrm>
            <a:off x="815975" y="2532955"/>
            <a:ext cx="6343650" cy="2355255"/>
          </a:xfrm>
          <a:prstGeom prst="roundRect">
            <a:avLst>
              <a:gd name="adj" fmla="val 4179"/>
            </a:avLst>
          </a:prstGeom>
          <a:solidFill>
            <a:srgbClr val="FFFDF8"/>
          </a:solidFill>
          <a:ln w="6350">
            <a:solidFill>
              <a:srgbClr val="D9D2BE"/>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5050" y="2752030"/>
          <a:ext cx="5918200" cy="1929805"/>
        </p:xfrm>
        <a:graphic>
          <a:graphicData uri="http://schemas.openxmlformats.org/drawingml/2006/table">
            <a:tbl>
              <a:tblPr/>
              <a:tblGrid>
                <a:gridCol w="1479550"/>
                <a:gridCol w="1479550"/>
                <a:gridCol w="1479550"/>
                <a:gridCol w="1479550"/>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y (true)</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f(x) (pred)</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error</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squared</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Mean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6BEC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6BEC1"/>
                      </a:solidFill>
                      <a:prstDash val="solid"/>
                      <a:round/>
                      <a:headEnd type="none" w="med" len="med"/>
                      <a:tailEnd type="none" w="med" len="med"/>
                    </a:lnB>
                    <a:solidFill>
                      <a:srgbClr val="E4EEF2"/>
                    </a:solidFill>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 </a:t>
                      </a:r>
                      <a:endParaRPr lang="en-US" sz="1400" dirty="0">
                        <a:latin typeface="Arial" charset="0"/>
                        <a:ea typeface="Arial" charset="0"/>
                        <a:cs typeface="Arial" charset="0"/>
                      </a:endParaRPr>
                    </a:p>
                  </a:txBody>
                  <a:tcPr marL="62230" marR="62230" marT="62230" marB="62230" anchor="t">
                    <a:lnL w="12700" cap="flat" cmpd="sng" algn="ctr">
                      <a:solidFill>
                        <a:srgbClr val="B6BEC1"/>
                      </a:solidFill>
                      <a:prstDash val="solid"/>
                      <a:round/>
                      <a:headEnd type="none" w="med" len="med"/>
                      <a:tailEnd type="none" w="med" len="med"/>
                    </a:lnL>
                    <a:lnR w="12700" cap="flat" cmpd="sng" algn="ctr">
                      <a:solidFill>
                        <a:srgbClr val="B6BEC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6BEC1"/>
                      </a:solidFill>
                      <a:prstDash val="solid"/>
                      <a:round/>
                      <a:headEnd type="none" w="med" len="med"/>
                      <a:tailEnd type="none" w="med" len="med"/>
                    </a:lnB>
                    <a:solidFill>
                      <a:srgbClr val="E4EEF2"/>
                    </a:solidFill>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 </a:t>
                      </a:r>
                      <a:endParaRPr lang="en-US" sz="1400" dirty="0">
                        <a:latin typeface="Arial" charset="0"/>
                        <a:ea typeface="Arial" charset="0"/>
                        <a:cs typeface="Arial" charset="0"/>
                      </a:endParaRPr>
                    </a:p>
                  </a:txBody>
                  <a:tcPr marL="62230" marR="62230" marT="62230" marB="62230" anchor="t">
                    <a:lnL w="12700" cap="flat" cmpd="sng" algn="ctr">
                      <a:solidFill>
                        <a:srgbClr val="B6BEC1"/>
                      </a:solidFill>
                      <a:prstDash val="solid"/>
                      <a:round/>
                      <a:headEnd type="none" w="med" len="med"/>
                      <a:tailEnd type="none" w="med" len="med"/>
                    </a:lnL>
                    <a:lnR w="12700" cap="flat" cmpd="sng" algn="ctr">
                      <a:solidFill>
                        <a:srgbClr val="B6BEC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6BEC1"/>
                      </a:solidFill>
                      <a:prstDash val="solid"/>
                      <a:round/>
                      <a:headEnd type="none" w="med" len="med"/>
                      <a:tailEnd type="none" w="med" len="med"/>
                    </a:lnB>
                    <a:solidFill>
                      <a:srgbClr val="E4EEF2"/>
                    </a:solidFill>
                  </a:tcPr>
                </a:tc>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5 / 3 = 1.67</a:t>
                      </a:r>
                      <a:endParaRPr lang="en-US" sz="1400" dirty="0">
                        <a:latin typeface="Arial" charset="0"/>
                        <a:ea typeface="Arial" charset="0"/>
                        <a:cs typeface="Arial" charset="0"/>
                      </a:endParaRPr>
                    </a:p>
                  </a:txBody>
                  <a:tcPr marL="62230" marR="62230" marT="62230" marB="62230" anchor="t">
                    <a:lnL w="12700" cap="flat" cmpd="sng" algn="ctr">
                      <a:solidFill>
                        <a:srgbClr val="B6BEC1"/>
                      </a:solidFill>
                      <a:prstDash val="solid"/>
                      <a:round/>
                      <a:headEnd type="none" w="med" len="med"/>
                      <a:tailEnd type="none" w="med" len="med"/>
                    </a:lnL>
                    <a:lnR w="12700" cap="flat" cmpd="sng" algn="ctr">
                      <a:solidFill>
                        <a:srgbClr val="B6BEC1"/>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6BEC1"/>
                      </a:solidFill>
                      <a:prstDash val="solid"/>
                      <a:round/>
                      <a:headEnd type="none" w="med" len="med"/>
                      <a:tailEnd type="none" w="med" len="med"/>
                    </a:lnB>
                    <a:solidFill>
                      <a:srgbClr val="E4EEF2"/>
                    </a:solidFill>
                  </a:tcPr>
                </a:tc>
              </a:tr>
            </a:tbl>
          </a:graphicData>
        </a:graphic>
      </p:graphicFrame>
      <p:sp>
        <p:nvSpPr>
          <p:cNvPr id="7" name="Shape 4"/>
          <p:cNvSpPr/>
          <p:nvPr/>
        </p:nvSpPr>
        <p:spPr>
          <a:xfrm>
            <a:off x="7470775" y="2532955"/>
            <a:ext cx="3905250" cy="580330"/>
          </a:xfrm>
          <a:prstGeom prst="roundRect">
            <a:avLst>
              <a:gd name="adj" fmla="val 16960"/>
            </a:avLst>
          </a:prstGeom>
          <a:solidFill>
            <a:srgbClr val="FFFDF8"/>
          </a:solidFill>
          <a:ln w="6350">
            <a:solidFill>
              <a:srgbClr val="D9D2BE"/>
            </a:solidFill>
            <a:prstDash val="solid"/>
          </a:ln>
        </p:spPr>
      </p:sp>
      <p:sp>
        <p:nvSpPr>
          <p:cNvPr id="8" name="Text 5"/>
          <p:cNvSpPr/>
          <p:nvPr/>
        </p:nvSpPr>
        <p:spPr>
          <a:xfrm>
            <a:off x="7651750" y="2663130"/>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1</a:t>
            </a:r>
            <a:endParaRPr lang="en-US" sz="1800" dirty="0"/>
          </a:p>
        </p:txBody>
      </p:sp>
      <p:sp>
        <p:nvSpPr>
          <p:cNvPr id="9" name="Text 6"/>
          <p:cNvSpPr/>
          <p:nvPr/>
        </p:nvSpPr>
        <p:spPr>
          <a:xfrm>
            <a:off x="7981950" y="2707580"/>
            <a:ext cx="330949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Error: prediction minus true value</a:t>
            </a:r>
            <a:endParaRPr lang="en-US" sz="1400" dirty="0"/>
          </a:p>
        </p:txBody>
      </p:sp>
      <p:sp>
        <p:nvSpPr>
          <p:cNvPr id="10" name="Shape 7"/>
          <p:cNvSpPr/>
          <p:nvPr/>
        </p:nvSpPr>
        <p:spPr>
          <a:xfrm>
            <a:off x="7470775" y="3221236"/>
            <a:ext cx="3905250" cy="722511"/>
          </a:xfrm>
          <a:prstGeom prst="roundRect">
            <a:avLst>
              <a:gd name="adj" fmla="val 13623"/>
            </a:avLst>
          </a:prstGeom>
          <a:solidFill>
            <a:srgbClr val="FFFDF8"/>
          </a:solidFill>
          <a:ln w="6350">
            <a:solidFill>
              <a:srgbClr val="D9D2BE"/>
            </a:solidFill>
            <a:prstDash val="solid"/>
          </a:ln>
        </p:spPr>
      </p:sp>
      <p:sp>
        <p:nvSpPr>
          <p:cNvPr id="11" name="Text 8"/>
          <p:cNvSpPr/>
          <p:nvPr/>
        </p:nvSpPr>
        <p:spPr>
          <a:xfrm>
            <a:off x="7651750" y="3422452"/>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2</a:t>
            </a:r>
            <a:endParaRPr lang="en-US" sz="1800" dirty="0"/>
          </a:p>
        </p:txBody>
      </p:sp>
      <p:sp>
        <p:nvSpPr>
          <p:cNvPr id="12" name="Text 9"/>
          <p:cNvSpPr/>
          <p:nvPr/>
        </p:nvSpPr>
        <p:spPr>
          <a:xfrm>
            <a:off x="7981950" y="3351411"/>
            <a:ext cx="330949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Square it: no sign cancellation, big misses count more</a:t>
            </a:r>
            <a:endParaRPr lang="en-US" sz="1400" dirty="0"/>
          </a:p>
        </p:txBody>
      </p:sp>
      <p:sp>
        <p:nvSpPr>
          <p:cNvPr id="13" name="Shape 10"/>
          <p:cNvSpPr/>
          <p:nvPr/>
        </p:nvSpPr>
        <p:spPr>
          <a:xfrm>
            <a:off x="7470775" y="4051697"/>
            <a:ext cx="3905250" cy="580330"/>
          </a:xfrm>
          <a:prstGeom prst="roundRect">
            <a:avLst>
              <a:gd name="adj" fmla="val 16960"/>
            </a:avLst>
          </a:prstGeom>
          <a:solidFill>
            <a:srgbClr val="FFFDF8"/>
          </a:solidFill>
          <a:ln w="6350">
            <a:solidFill>
              <a:srgbClr val="D9D2BE"/>
            </a:solidFill>
            <a:prstDash val="solid"/>
          </a:ln>
        </p:spPr>
      </p:sp>
      <p:sp>
        <p:nvSpPr>
          <p:cNvPr id="14" name="Text 11"/>
          <p:cNvSpPr/>
          <p:nvPr/>
        </p:nvSpPr>
        <p:spPr>
          <a:xfrm>
            <a:off x="7651750" y="4181872"/>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3</a:t>
            </a:r>
            <a:endParaRPr lang="en-US" sz="1800" dirty="0"/>
          </a:p>
        </p:txBody>
      </p:sp>
      <p:sp>
        <p:nvSpPr>
          <p:cNvPr id="15" name="Text 12"/>
          <p:cNvSpPr/>
          <p:nvPr/>
        </p:nvSpPr>
        <p:spPr>
          <a:xfrm>
            <a:off x="7981950" y="4226322"/>
            <a:ext cx="330949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Average over all N samples</a:t>
            </a:r>
            <a:endParaRPr lang="en-US" sz="1400" dirty="0"/>
          </a:p>
        </p:txBody>
      </p:sp>
      <p:sp>
        <p:nvSpPr>
          <p:cNvPr id="16" name="Text 13"/>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7" name="Text 14"/>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13 / 37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OPTIMIZATION · 0:31</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Gradient descent in four steps</a:t>
            </a:r>
            <a:endParaRPr lang="en-US" sz="3000" dirty="0"/>
          </a:p>
        </p:txBody>
      </p:sp>
      <p:sp>
        <p:nvSpPr>
          <p:cNvPr id="4" name="Shape 2"/>
          <p:cNvSpPr/>
          <p:nvPr/>
        </p:nvSpPr>
        <p:spPr>
          <a:xfrm>
            <a:off x="815975" y="1649016"/>
            <a:ext cx="2178050" cy="1210171"/>
          </a:xfrm>
          <a:prstGeom prst="roundRect">
            <a:avLst>
              <a:gd name="adj" fmla="val 8133"/>
            </a:avLst>
          </a:prstGeom>
          <a:solidFill>
            <a:srgbClr val="FFFDF8"/>
          </a:solidFill>
          <a:ln w="6350">
            <a:solidFill>
              <a:srgbClr val="D9D2BE"/>
            </a:solidFill>
            <a:prstDash val="solid"/>
          </a:ln>
        </p:spPr>
      </p:sp>
      <p:sp>
        <p:nvSpPr>
          <p:cNvPr id="5" name="Text 3"/>
          <p:cNvSpPr/>
          <p:nvPr/>
        </p:nvSpPr>
        <p:spPr>
          <a:xfrm>
            <a:off x="971550" y="1829991"/>
            <a:ext cx="192290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E7C7B"/>
                </a:solidFill>
                <a:latin typeface="Georgia" pitchFamily="18" charset="0"/>
                <a:ea typeface="Georgia" pitchFamily="18" charset="-122"/>
                <a:cs typeface="Georgia" pitchFamily="18" charset="-120"/>
              </a:rPr>
              <a:t>1</a:t>
            </a:r>
            <a:endParaRPr lang="en-US" sz="1800" dirty="0"/>
          </a:p>
        </p:txBody>
      </p:sp>
      <p:sp>
        <p:nvSpPr>
          <p:cNvPr id="6" name="Text 4"/>
          <p:cNvSpPr/>
          <p:nvPr/>
        </p:nvSpPr>
        <p:spPr>
          <a:xfrm>
            <a:off x="971550" y="2157611"/>
            <a:ext cx="192290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Forward pass</a:t>
            </a:r>
            <a:endParaRPr lang="en-US" sz="1400" dirty="0"/>
          </a:p>
        </p:txBody>
      </p:sp>
      <p:sp>
        <p:nvSpPr>
          <p:cNvPr id="7" name="Text 5"/>
          <p:cNvSpPr/>
          <p:nvPr/>
        </p:nvSpPr>
        <p:spPr>
          <a:xfrm>
            <a:off x="971550" y="2464891"/>
            <a:ext cx="19229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y_pred = Xw + b</a:t>
            </a:r>
            <a:endParaRPr lang="en-US" sz="1200" dirty="0"/>
          </a:p>
        </p:txBody>
      </p:sp>
      <p:pic>
        <p:nvPicPr>
          <p:cNvPr id="8" name="Image 0" descr="arrow-right">    </p:cNvPr>
          <p:cNvPicPr>
            <a:picLocks noChangeAspect="1"/>
          </p:cNvPicPr>
          <p:nvPr/>
        </p:nvPicPr>
        <p:blipFill>
          <a:blip r:embed="rId1"/>
          <a:srcRect l="0" r="0" t="0" b="0"/>
          <a:stretch/>
        </p:blipFill>
        <p:spPr>
          <a:xfrm>
            <a:off x="3098800" y="2127052"/>
            <a:ext cx="406400" cy="254000"/>
          </a:xfrm>
          <a:prstGeom prst="rect">
            <a:avLst/>
          </a:prstGeom>
        </p:spPr>
      </p:pic>
      <p:sp>
        <p:nvSpPr>
          <p:cNvPr id="9" name="Shape 6"/>
          <p:cNvSpPr/>
          <p:nvPr/>
        </p:nvSpPr>
        <p:spPr>
          <a:xfrm>
            <a:off x="3609975" y="1524595"/>
            <a:ext cx="2178050" cy="1459012"/>
          </a:xfrm>
          <a:prstGeom prst="roundRect">
            <a:avLst>
              <a:gd name="adj" fmla="val 6746"/>
            </a:avLst>
          </a:prstGeom>
          <a:solidFill>
            <a:srgbClr val="FFFDF8"/>
          </a:solidFill>
          <a:ln w="6350">
            <a:solidFill>
              <a:srgbClr val="D9D2BE"/>
            </a:solidFill>
            <a:prstDash val="solid"/>
          </a:ln>
        </p:spPr>
      </p:sp>
      <p:sp>
        <p:nvSpPr>
          <p:cNvPr id="10" name="Text 7"/>
          <p:cNvSpPr/>
          <p:nvPr/>
        </p:nvSpPr>
        <p:spPr>
          <a:xfrm>
            <a:off x="3765550" y="1705570"/>
            <a:ext cx="192290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E7C7B"/>
                </a:solidFill>
                <a:latin typeface="Georgia" pitchFamily="18" charset="0"/>
                <a:ea typeface="Georgia" pitchFamily="18" charset="-122"/>
                <a:cs typeface="Georgia" pitchFamily="18" charset="-120"/>
              </a:rPr>
              <a:t>2</a:t>
            </a:r>
            <a:endParaRPr lang="en-US" sz="1800" dirty="0"/>
          </a:p>
        </p:txBody>
      </p:sp>
      <p:sp>
        <p:nvSpPr>
          <p:cNvPr id="11" name="Text 8"/>
          <p:cNvSpPr/>
          <p:nvPr/>
        </p:nvSpPr>
        <p:spPr>
          <a:xfrm>
            <a:off x="3765550" y="2033191"/>
            <a:ext cx="192290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Loss</a:t>
            </a:r>
            <a:endParaRPr lang="en-US" sz="1400" dirty="0"/>
          </a:p>
        </p:txBody>
      </p:sp>
      <p:sp>
        <p:nvSpPr>
          <p:cNvPr id="12" name="Text 9"/>
          <p:cNvSpPr/>
          <p:nvPr/>
        </p:nvSpPr>
        <p:spPr>
          <a:xfrm>
            <a:off x="3765550" y="2340471"/>
            <a:ext cx="1922907"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MSE between y_pred and y</a:t>
            </a:r>
            <a:endParaRPr lang="en-US" sz="1400" dirty="0"/>
          </a:p>
        </p:txBody>
      </p:sp>
      <p:pic>
        <p:nvPicPr>
          <p:cNvPr id="13" name="Image 1" descr="arrow-right">    </p:cNvPr>
          <p:cNvPicPr>
            <a:picLocks noChangeAspect="1"/>
          </p:cNvPicPr>
          <p:nvPr/>
        </p:nvPicPr>
        <p:blipFill>
          <a:blip r:embed="rId2"/>
          <a:srcRect l="0" r="0" t="0" b="0"/>
          <a:stretch/>
        </p:blipFill>
        <p:spPr>
          <a:xfrm>
            <a:off x="5892800" y="2127052"/>
            <a:ext cx="406400" cy="254000"/>
          </a:xfrm>
          <a:prstGeom prst="rect">
            <a:avLst/>
          </a:prstGeom>
        </p:spPr>
      </p:pic>
      <p:sp>
        <p:nvSpPr>
          <p:cNvPr id="14" name="Shape 10"/>
          <p:cNvSpPr/>
          <p:nvPr/>
        </p:nvSpPr>
        <p:spPr>
          <a:xfrm>
            <a:off x="6403975" y="1640086"/>
            <a:ext cx="2178050" cy="1227931"/>
          </a:xfrm>
          <a:prstGeom prst="roundRect">
            <a:avLst>
              <a:gd name="adj" fmla="val 8016"/>
            </a:avLst>
          </a:prstGeom>
          <a:solidFill>
            <a:srgbClr val="FFFDF8"/>
          </a:solidFill>
          <a:ln w="6350">
            <a:solidFill>
              <a:srgbClr val="D9D2BE"/>
            </a:solidFill>
            <a:prstDash val="solid"/>
          </a:ln>
        </p:spPr>
      </p:sp>
      <p:sp>
        <p:nvSpPr>
          <p:cNvPr id="15" name="Text 11"/>
          <p:cNvSpPr/>
          <p:nvPr/>
        </p:nvSpPr>
        <p:spPr>
          <a:xfrm>
            <a:off x="6559550" y="1821061"/>
            <a:ext cx="192290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E7C7B"/>
                </a:solidFill>
                <a:latin typeface="Georgia" pitchFamily="18" charset="0"/>
                <a:ea typeface="Georgia" pitchFamily="18" charset="-122"/>
                <a:cs typeface="Georgia" pitchFamily="18" charset="-120"/>
              </a:rPr>
              <a:t>3</a:t>
            </a:r>
            <a:endParaRPr lang="en-US" sz="1800" dirty="0"/>
          </a:p>
        </p:txBody>
      </p:sp>
      <p:sp>
        <p:nvSpPr>
          <p:cNvPr id="16" name="Text 12"/>
          <p:cNvSpPr/>
          <p:nvPr/>
        </p:nvSpPr>
        <p:spPr>
          <a:xfrm>
            <a:off x="6559550" y="2148681"/>
            <a:ext cx="192290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Gradients</a:t>
            </a:r>
            <a:endParaRPr lang="en-US" sz="1400" dirty="0"/>
          </a:p>
        </p:txBody>
      </p:sp>
      <p:sp>
        <p:nvSpPr>
          <p:cNvPr id="17" name="Text 13"/>
          <p:cNvSpPr/>
          <p:nvPr/>
        </p:nvSpPr>
        <p:spPr>
          <a:xfrm>
            <a:off x="6559550" y="2455962"/>
            <a:ext cx="1922907"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dL/dw and dL/db</a:t>
            </a:r>
            <a:endParaRPr lang="en-US" sz="1400" dirty="0"/>
          </a:p>
        </p:txBody>
      </p:sp>
      <p:pic>
        <p:nvPicPr>
          <p:cNvPr id="18" name="Image 2" descr="arrow-right">    </p:cNvPr>
          <p:cNvPicPr>
            <a:picLocks noChangeAspect="1"/>
          </p:cNvPicPr>
          <p:nvPr/>
        </p:nvPicPr>
        <p:blipFill>
          <a:blip r:embed="rId3"/>
          <a:srcRect l="0" r="0" t="0" b="0"/>
          <a:stretch/>
        </p:blipFill>
        <p:spPr>
          <a:xfrm>
            <a:off x="8686800" y="2127052"/>
            <a:ext cx="406400" cy="254000"/>
          </a:xfrm>
          <a:prstGeom prst="rect">
            <a:avLst/>
          </a:prstGeom>
        </p:spPr>
      </p:pic>
      <p:sp>
        <p:nvSpPr>
          <p:cNvPr id="19" name="Shape 14"/>
          <p:cNvSpPr/>
          <p:nvPr/>
        </p:nvSpPr>
        <p:spPr>
          <a:xfrm>
            <a:off x="9197975" y="1542355"/>
            <a:ext cx="2178050" cy="1423491"/>
          </a:xfrm>
          <a:prstGeom prst="roundRect">
            <a:avLst>
              <a:gd name="adj" fmla="val 6914"/>
            </a:avLst>
          </a:prstGeom>
          <a:solidFill>
            <a:srgbClr val="FFFDF8"/>
          </a:solidFill>
          <a:ln w="6350">
            <a:solidFill>
              <a:srgbClr val="D9D2BE"/>
            </a:solidFill>
            <a:prstDash val="solid"/>
          </a:ln>
        </p:spPr>
      </p:sp>
      <p:sp>
        <p:nvSpPr>
          <p:cNvPr id="20" name="Text 15"/>
          <p:cNvSpPr/>
          <p:nvPr/>
        </p:nvSpPr>
        <p:spPr>
          <a:xfrm>
            <a:off x="9353550" y="1723330"/>
            <a:ext cx="1922907" cy="27682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0E7C7B"/>
                </a:solidFill>
                <a:latin typeface="Georgia" pitchFamily="18" charset="0"/>
                <a:ea typeface="Georgia" pitchFamily="18" charset="-122"/>
                <a:cs typeface="Georgia" pitchFamily="18" charset="-120"/>
              </a:rPr>
              <a:t>4</a:t>
            </a:r>
            <a:endParaRPr lang="en-US" sz="1800" dirty="0"/>
          </a:p>
        </p:txBody>
      </p:sp>
      <p:sp>
        <p:nvSpPr>
          <p:cNvPr id="21" name="Text 16"/>
          <p:cNvSpPr/>
          <p:nvPr/>
        </p:nvSpPr>
        <p:spPr>
          <a:xfrm>
            <a:off x="9353550" y="2050951"/>
            <a:ext cx="1922907"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Update</a:t>
            </a:r>
            <a:endParaRPr lang="en-US" sz="1400" dirty="0"/>
          </a:p>
        </p:txBody>
      </p:sp>
      <p:sp>
        <p:nvSpPr>
          <p:cNvPr id="22" name="Text 17"/>
          <p:cNvSpPr/>
          <p:nvPr/>
        </p:nvSpPr>
        <p:spPr>
          <a:xfrm>
            <a:off x="9353550" y="2358231"/>
            <a:ext cx="192290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w -= lr * dw</a:t>
            </a:r>
            <a:endParaRPr lang="en-US" sz="1200" dirty="0"/>
          </a:p>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b -= lr * db</a:t>
            </a:r>
            <a:endParaRPr lang="en-US" sz="1200" dirty="0"/>
          </a:p>
        </p:txBody>
      </p:sp>
      <p:sp>
        <p:nvSpPr>
          <p:cNvPr id="23" name="Text 18"/>
          <p:cNvSpPr/>
          <p:nvPr/>
        </p:nvSpPr>
        <p:spPr>
          <a:xfrm>
            <a:off x="815975" y="3193157"/>
            <a:ext cx="5175250" cy="808831"/>
          </a:xfrm>
          <a:prstGeom prst="roundRect">
            <a:avLst>
              <a:gd name="adj" fmla="val 12169"/>
            </a:avLst>
          </a:prstGeom>
          <a:solidFill>
            <a:srgbClr val="FFFDF8"/>
          </a:solidFill>
          <a:ln w="6350">
            <a:solidFill>
              <a:srgbClr val="D9D2BE"/>
            </a:solidFill>
            <a:prstDash val="solid"/>
          </a:ln>
        </p:spPr>
        <p:txBody>
          <a:bodyPr wrap="square" lIns="177547" tIns="126747" rIns="34672" bIns="126747"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Learning rate (lr):</a:t>
            </a:r>
            <a:r>
              <a:rPr lang="en-US" sz="1400" dirty="0">
                <a:solidFill>
                  <a:srgbClr val="0F2A43"/>
                </a:solidFill>
                <a:latin typeface="Arial" pitchFamily="34" charset="0"/>
                <a:ea typeface="Arial" pitchFamily="34" charset="-122"/>
                <a:cs typeface="Arial" pitchFamily="34" charset="-120"/>
              </a:rPr>
              <a:t> the step size, 0.1 in the lecture example.</a:t>
            </a:r>
            <a:endParaRPr lang="en-US" sz="1400" dirty="0"/>
          </a:p>
        </p:txBody>
      </p:sp>
      <p:sp>
        <p:nvSpPr>
          <p:cNvPr id="24" name="Text 19"/>
          <p:cNvSpPr/>
          <p:nvPr/>
        </p:nvSpPr>
        <p:spPr>
          <a:xfrm>
            <a:off x="6200775" y="3193157"/>
            <a:ext cx="5175250" cy="808831"/>
          </a:xfrm>
          <a:prstGeom prst="roundRect">
            <a:avLst>
              <a:gd name="adj" fmla="val 12169"/>
            </a:avLst>
          </a:prstGeom>
          <a:solidFill>
            <a:srgbClr val="FFFDF8"/>
          </a:solidFill>
          <a:ln w="6350">
            <a:solidFill>
              <a:srgbClr val="D9D2BE"/>
            </a:solidFill>
            <a:prstDash val="solid"/>
          </a:ln>
        </p:spPr>
        <p:txBody>
          <a:bodyPr wrap="square" lIns="177547" tIns="126747" rIns="34672" bIns="101347" rtlCol="0" anchor="t">
            <a:normAutofit/>
          </a:bodyPr>
          <a:lstStyle/>
          <a:p>
            <a:pPr algn="l" indent="0" marL="0">
              <a:lnSpc>
                <a:spcPts val="1960"/>
              </a:lnSpc>
              <a:buNone/>
            </a:pPr>
            <a:r>
              <a:rPr lang="en-US" sz="1400" b="1" dirty="0">
                <a:solidFill>
                  <a:srgbClr val="0F2A43"/>
                </a:solidFill>
                <a:latin typeface="Arial" pitchFamily="34" charset="0"/>
                <a:ea typeface="Arial" pitchFamily="34" charset="-122"/>
                <a:cs typeface="Arial" pitchFamily="34" charset="-120"/>
              </a:rPr>
              <a:t>Epoch:</a:t>
            </a:r>
            <a:r>
              <a:rPr lang="en-US" sz="1400" dirty="0">
                <a:solidFill>
                  <a:srgbClr val="0F2A43"/>
                </a:solidFill>
                <a:latin typeface="Arial" pitchFamily="34" charset="0"/>
                <a:ea typeface="Arial" pitchFamily="34" charset="-122"/>
                <a:cs typeface="Arial" pitchFamily="34" charset="-120"/>
              </a:rPr>
              <a:t> one full cycle of steps 1 to 4. We repeat it 100 times.</a:t>
            </a:r>
            <a:endParaRPr lang="en-US" sz="1400" dirty="0"/>
          </a:p>
        </p:txBody>
      </p:sp>
      <p:sp>
        <p:nvSpPr>
          <p:cNvPr id="25" name="Text 20"/>
          <p:cNvSpPr/>
          <p:nvPr/>
        </p:nvSpPr>
        <p:spPr>
          <a:xfrm>
            <a:off x="812800" y="4208363"/>
            <a:ext cx="10566400" cy="652760"/>
          </a:xfrm>
          <a:prstGeom prst="roundRect">
            <a:avLst>
              <a:gd name="adj" fmla="val 15565"/>
            </a:avLst>
          </a:prstGeom>
          <a:solidFill>
            <a:srgbClr val="0F2A43"/>
          </a:solidFill>
          <a:ln/>
        </p:spPr>
        <p:txBody>
          <a:bodyPr wrap="square" lIns="224242" tIns="148042" rIns="0" bIns="122642" rtlCol="0" anchor="t">
            <a:normAutofit/>
          </a:bodyPr>
          <a:lstStyle/>
          <a:p>
            <a:pPr algn="l" indent="0" marL="0">
              <a:lnSpc>
                <a:spcPts val="2340"/>
              </a:lnSpc>
              <a:buNone/>
            </a:pPr>
            <a:r>
              <a:rPr lang="en-US" sz="1800" dirty="0">
                <a:solidFill>
                  <a:srgbClr val="F7F5EF"/>
                </a:solidFill>
                <a:latin typeface="Georgia" pitchFamily="18" charset="0"/>
                <a:ea typeface="Georgia" pitchFamily="18" charset="-122"/>
                <a:cs typeface="Georgia" pitchFamily="18" charset="-120"/>
              </a:rPr>
              <a:t>The gradient points uphill, so we step the other way.</a:t>
            </a:r>
            <a:endParaRPr lang="en-US" sz="1800" dirty="0"/>
          </a:p>
        </p:txBody>
      </p:sp>
      <p:sp>
        <p:nvSpPr>
          <p:cNvPr id="26" name="Text 21"/>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7" name="Text 22"/>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14 / 37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HANDS-ON CODE · 0:34</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Pure NumPy: gradients by hand</a:t>
            </a:r>
            <a:endParaRPr lang="en-US" sz="3000" dirty="0"/>
          </a:p>
        </p:txBody>
      </p:sp>
      <p:sp>
        <p:nvSpPr>
          <p:cNvPr id="4" name="Text 2"/>
          <p:cNvSpPr/>
          <p:nvPr/>
        </p:nvSpPr>
        <p:spPr>
          <a:xfrm>
            <a:off x="812800" y="1521420"/>
            <a:ext cx="6731000" cy="2395041"/>
          </a:xfrm>
          <a:prstGeom prst="roundRect">
            <a:avLst>
              <a:gd name="adj" fmla="val 4242"/>
            </a:avLst>
          </a:prstGeom>
          <a:solidFill>
            <a:srgbClr val="0F2A43"/>
          </a:solidFill>
          <a:ln/>
        </p:spPr>
        <p:txBody>
          <a:bodyPr wrap="square" lIns="173442" tIns="173442" rIns="0" bIns="148042" rtlCol="0" anchor="t">
            <a:normAutofit/>
          </a:bodyPr>
          <a:lstStyle/>
          <a:p>
            <a:pPr algn="l" indent="0" marL="0">
              <a:lnSpc>
                <a:spcPts val="1740"/>
              </a:lnSpc>
              <a:buNone/>
            </a:pPr>
            <a:r>
              <a:rPr lang="en-US" sz="1200" dirty="0">
                <a:solidFill>
                  <a:srgbClr val="7FD1C7"/>
                </a:solidFill>
                <a:latin typeface="Courier New" pitchFamily="49" charset="0"/>
                <a:ea typeface="Courier New" pitchFamily="49" charset="-122"/>
                <a:cs typeface="Courier New" pitchFamily="49" charset="-120"/>
              </a:rPr>
              <a:t># y = 3x + 2 + noise; w random, b = 0, lr = 0.1</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for epoch in range(100):</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y_pred = np.dot(X, w) + b  </a:t>
            </a:r>
            <a:r>
              <a:rPr lang="en-US" sz="1200" dirty="0">
                <a:solidFill>
                  <a:srgbClr val="7FD1C7"/>
                </a:solidFill>
                <a:latin typeface="Courier New" pitchFamily="49" charset="0"/>
                <a:ea typeface="Courier New" pitchFamily="49" charset="-122"/>
                <a:cs typeface="Courier New" pitchFamily="49" charset="-120"/>
              </a:rPr>
              <a:t># forward pass</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loss = np.mean((y_pred - y) ** 2)  </a:t>
            </a:r>
            <a:r>
              <a:rPr lang="en-US" sz="1200" dirty="0">
                <a:solidFill>
                  <a:srgbClr val="7FD1C7"/>
                </a:solidFill>
                <a:latin typeface="Courier New" pitchFamily="49" charset="0"/>
                <a:ea typeface="Courier New" pitchFamily="49" charset="-122"/>
                <a:cs typeface="Courier New" pitchFamily="49" charset="-120"/>
              </a:rPr>
              <a:t># MSE</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dw = (2 / len(X)) * np.dot(X.T, (y_pred - y))</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db = (2 / len(X)) * np.sum(y_pred - y)</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w -= lr * dw  </a:t>
            </a:r>
            <a:r>
              <a:rPr lang="en-US" sz="1200" dirty="0">
                <a:solidFill>
                  <a:srgbClr val="7FD1C7"/>
                </a:solidFill>
                <a:latin typeface="Courier New" pitchFamily="49" charset="0"/>
                <a:ea typeface="Courier New" pitchFamily="49" charset="-122"/>
                <a:cs typeface="Courier New" pitchFamily="49" charset="-120"/>
              </a:rPr>
              <a:t># update</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b -= lr * db</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print(f"Learned Weight: {w[0,0]:.4f}, Learned Bias: {b[0,0]:.4f}")</a:t>
            </a:r>
            <a:endParaRPr lang="en-US" sz="1200" dirty="0"/>
          </a:p>
        </p:txBody>
      </p:sp>
      <p:sp>
        <p:nvSpPr>
          <p:cNvPr id="5" name="Text 3"/>
          <p:cNvSpPr/>
          <p:nvPr/>
        </p:nvSpPr>
        <p:spPr>
          <a:xfrm>
            <a:off x="812800" y="4043462"/>
            <a:ext cx="693293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Analytical gradients of the MSE: you derive dL/dw and dL/db yourself.</a:t>
            </a:r>
            <a:endParaRPr lang="en-US" sz="1400" dirty="0"/>
          </a:p>
        </p:txBody>
      </p:sp>
      <p:sp>
        <p:nvSpPr>
          <p:cNvPr id="6" name="Shape 4"/>
          <p:cNvSpPr/>
          <p:nvPr/>
        </p:nvSpPr>
        <p:spPr>
          <a:xfrm>
            <a:off x="7851775" y="1524595"/>
            <a:ext cx="3524250" cy="1385391"/>
          </a:xfrm>
          <a:prstGeom prst="roundRect">
            <a:avLst>
              <a:gd name="adj" fmla="val 7104"/>
            </a:avLst>
          </a:prstGeom>
          <a:solidFill>
            <a:srgbClr val="FFFDF8"/>
          </a:solidFill>
          <a:ln w="6350">
            <a:solidFill>
              <a:srgbClr val="D9D2BE"/>
            </a:solidFill>
            <a:prstDash val="solid"/>
          </a:ln>
        </p:spPr>
      </p:sp>
      <p:sp>
        <p:nvSpPr>
          <p:cNvPr id="7" name="Text 5"/>
          <p:cNvSpPr/>
          <p:nvPr/>
        </p:nvSpPr>
        <p:spPr>
          <a:xfrm>
            <a:off x="8058150" y="1705570"/>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OUTPUT (SEED 42)</a:t>
            </a:r>
            <a:endParaRPr lang="en-US" sz="1200" dirty="0"/>
          </a:p>
        </p:txBody>
      </p:sp>
      <p:sp>
        <p:nvSpPr>
          <p:cNvPr id="8" name="Text 6"/>
          <p:cNvSpPr/>
          <p:nvPr/>
        </p:nvSpPr>
        <p:spPr>
          <a:xfrm>
            <a:off x="8058150" y="1995091"/>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Learned Weight: 2.5870</a:t>
            </a:r>
            <a:endParaRPr lang="en-US" sz="1200" dirty="0"/>
          </a:p>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Learned Bias: 2.2072</a:t>
            </a:r>
            <a:endParaRPr lang="en-US" sz="1200" dirty="0"/>
          </a:p>
        </p:txBody>
      </p:sp>
      <p:sp>
        <p:nvSpPr>
          <p:cNvPr id="9" name="Text 7"/>
          <p:cNvSpPr/>
          <p:nvPr/>
        </p:nvSpPr>
        <p:spPr>
          <a:xfrm>
            <a:off x="8058150" y="2497931"/>
            <a:ext cx="320484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True values: w = 3, b = 2</a:t>
            </a:r>
            <a:endParaRPr lang="en-US" sz="1400" dirty="0"/>
          </a:p>
        </p:txBody>
      </p:sp>
      <p:sp>
        <p:nvSpPr>
          <p:cNvPr id="10" name="Shape 8"/>
          <p:cNvSpPr/>
          <p:nvPr/>
        </p:nvSpPr>
        <p:spPr>
          <a:xfrm>
            <a:off x="7848600" y="3065562"/>
            <a:ext cx="3530600" cy="800001"/>
          </a:xfrm>
          <a:prstGeom prst="roundRect">
            <a:avLst>
              <a:gd name="adj" fmla="val 6350"/>
            </a:avLst>
          </a:prstGeom>
          <a:solidFill>
            <a:srgbClr val="FBF3DC"/>
          </a:solidFill>
          <a:ln/>
        </p:spPr>
      </p:sp>
      <p:sp>
        <p:nvSpPr>
          <p:cNvPr id="11" name="Shape 9"/>
          <p:cNvSpPr/>
          <p:nvPr/>
        </p:nvSpPr>
        <p:spPr>
          <a:xfrm>
            <a:off x="7848600" y="3065562"/>
            <a:ext cx="3530600" cy="800001"/>
          </a:xfrm>
          <a:custGeom>
            <a:avLst/>
            <a:gdLst/>
            <a:ahLst/>
            <a:cxnLst/>
            <a:rect l="l" t="t" r="r" b="b"/>
            <a:pathLst>
              <a:path w="3530600" h="800001">
                <a:moveTo>
                  <a:pt x="50800" y="800001"/>
                </a:moveTo>
                <a:lnTo>
                  <a:pt x="50800" y="800001"/>
                </a:lnTo>
                <a:arcTo hR="50800" wR="50800" stAng="5400000" swAng="5400000"/>
                <a:lnTo>
                  <a:pt x="0" y="50800"/>
                </a:lnTo>
                <a:arcTo hR="50800" wR="50800" stAng="10800000" swAng="5400000"/>
                <a:lnTo>
                  <a:pt x="50800" y="0"/>
                </a:lnTo>
                <a:lnTo>
                  <a:pt x="50800" y="800001"/>
                </a:lnTo>
                <a:close/>
              </a:path>
            </a:pathLst>
          </a:custGeom>
          <a:solidFill>
            <a:srgbClr val="E3B54A"/>
          </a:solidFill>
          <a:ln/>
        </p:spPr>
      </p:sp>
      <p:sp>
        <p:nvSpPr>
          <p:cNvPr id="12" name="Text 10"/>
          <p:cNvSpPr/>
          <p:nvPr/>
        </p:nvSpPr>
        <p:spPr>
          <a:xfrm>
            <a:off x="8077200" y="3217962"/>
            <a:ext cx="321792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DISCUSS · 2 MIN</a:t>
            </a:r>
            <a:endParaRPr lang="en-US" sz="1200" dirty="0"/>
          </a:p>
        </p:txBody>
      </p:sp>
      <p:sp>
        <p:nvSpPr>
          <p:cNvPr id="13" name="Text 11"/>
          <p:cNvSpPr/>
          <p:nvPr/>
        </p:nvSpPr>
        <p:spPr>
          <a:xfrm>
            <a:off x="8077200" y="3482082"/>
            <a:ext cx="321792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Why is the result not at 3 and 2 yet?</a:t>
            </a:r>
            <a:endParaRPr lang="en-US" sz="1400" dirty="0"/>
          </a:p>
        </p:txBody>
      </p:sp>
      <p:sp>
        <p:nvSpPr>
          <p:cNvPr id="14" name="Text 12"/>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5" name="Text 13"/>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15 / 37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HANDS-ON CODE · 0:37</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PyTorch: autograd does the calculus</a:t>
            </a:r>
            <a:endParaRPr lang="en-US" sz="3000" dirty="0"/>
          </a:p>
        </p:txBody>
      </p:sp>
      <p:sp>
        <p:nvSpPr>
          <p:cNvPr id="4" name="Text 2"/>
          <p:cNvSpPr/>
          <p:nvPr/>
        </p:nvSpPr>
        <p:spPr>
          <a:xfrm>
            <a:off x="812800" y="1521420"/>
            <a:ext cx="10566400" cy="2539603"/>
          </a:xfrm>
          <a:prstGeom prst="roundRect">
            <a:avLst>
              <a:gd name="adj" fmla="val 4001"/>
            </a:avLst>
          </a:prstGeom>
          <a:solidFill>
            <a:srgbClr val="0F2A43"/>
          </a:solidFill>
          <a:ln/>
        </p:spPr>
        <p:txBody>
          <a:bodyPr wrap="square" lIns="173442" tIns="173442" rIns="0" bIns="148042" rtlCol="0" anchor="t">
            <a:normAutofit/>
          </a:bodyPr>
          <a:lstStyle/>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model = torch.nn.Linear(in_features=1, out_features=1)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optimizer = torch.optim.SGD(model.parameters(), lr=0.1)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criterion = torch.nn.MSELoss()</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for epoch in range(100):</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optimizer.zero_grad()  </a:t>
            </a:r>
            <a:r>
              <a:rPr lang="en-US" sz="1200" dirty="0">
                <a:solidFill>
                  <a:srgbClr val="7FD1C7"/>
                </a:solidFill>
                <a:latin typeface="Courier New" pitchFamily="49" charset="0"/>
                <a:ea typeface="Courier New" pitchFamily="49" charset="-122"/>
                <a:cs typeface="Courier New" pitchFamily="49" charset="-120"/>
              </a:rPr>
              <a:t># clear old gradients</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predictions = model(X_tensor)  </a:t>
            </a:r>
            <a:r>
              <a:rPr lang="en-US" sz="1200" dirty="0">
                <a:solidFill>
                  <a:srgbClr val="7FD1C7"/>
                </a:solidFill>
                <a:latin typeface="Courier New" pitchFamily="49" charset="0"/>
                <a:ea typeface="Courier New" pitchFamily="49" charset="-122"/>
                <a:cs typeface="Courier New" pitchFamily="49" charset="-120"/>
              </a:rPr>
              <a:t># forward pass</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loss = criterion(predictions, y_tensor)  </a:t>
            </a:r>
            <a:r>
              <a:rPr lang="en-US" sz="1200" dirty="0">
                <a:solidFill>
                  <a:srgbClr val="7FD1C7"/>
                </a:solidFill>
                <a:latin typeface="Courier New" pitchFamily="49" charset="0"/>
                <a:ea typeface="Courier New" pitchFamily="49" charset="-122"/>
                <a:cs typeface="Courier New" pitchFamily="49" charset="-120"/>
              </a:rPr>
              <a:t># compute MSE</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loss.backward()  </a:t>
            </a:r>
            <a:r>
              <a:rPr lang="en-US" sz="1200" dirty="0">
                <a:solidFill>
                  <a:srgbClr val="7FD1C7"/>
                </a:solidFill>
                <a:latin typeface="Courier New" pitchFamily="49" charset="0"/>
                <a:ea typeface="Courier New" pitchFamily="49" charset="-122"/>
                <a:cs typeface="Courier New" pitchFamily="49" charset="-120"/>
              </a:rPr>
              <a:t># autograd computes gradients</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optimizer.step()  </a:t>
            </a:r>
            <a:r>
              <a:rPr lang="en-US" sz="1200" dirty="0">
                <a:solidFill>
                  <a:srgbClr val="7FD1C7"/>
                </a:solidFill>
                <a:latin typeface="Courier New" pitchFamily="49" charset="0"/>
                <a:ea typeface="Courier New" pitchFamily="49" charset="-122"/>
                <a:cs typeface="Courier New" pitchFamily="49" charset="-120"/>
              </a:rPr>
              <a:t># update parameters</a:t>
            </a:r>
            <a:endParaRPr lang="en-US" sz="1200" dirty="0"/>
          </a:p>
        </p:txBody>
      </p:sp>
      <p:sp>
        <p:nvSpPr>
          <p:cNvPr id="5" name="Shape 3"/>
          <p:cNvSpPr/>
          <p:nvPr/>
        </p:nvSpPr>
        <p:spPr>
          <a:xfrm>
            <a:off x="812800" y="4264223"/>
            <a:ext cx="5181600" cy="1211362"/>
          </a:xfrm>
          <a:prstGeom prst="roundRect">
            <a:avLst>
              <a:gd name="adj" fmla="val 4194"/>
            </a:avLst>
          </a:prstGeom>
          <a:solidFill>
            <a:srgbClr val="FBF3DC"/>
          </a:solidFill>
          <a:ln/>
        </p:spPr>
      </p:sp>
      <p:sp>
        <p:nvSpPr>
          <p:cNvPr id="6" name="Shape 4"/>
          <p:cNvSpPr/>
          <p:nvPr/>
        </p:nvSpPr>
        <p:spPr>
          <a:xfrm>
            <a:off x="812800" y="4264223"/>
            <a:ext cx="5181600" cy="1211362"/>
          </a:xfrm>
          <a:custGeom>
            <a:avLst/>
            <a:gdLst/>
            <a:ahLst/>
            <a:cxnLst/>
            <a:rect l="l" t="t" r="r" b="b"/>
            <a:pathLst>
              <a:path w="5181600" h="1211362">
                <a:moveTo>
                  <a:pt x="50800" y="1211362"/>
                </a:moveTo>
                <a:lnTo>
                  <a:pt x="50800" y="1211362"/>
                </a:lnTo>
                <a:arcTo hR="50800" wR="50800" stAng="5400000" swAng="5400000"/>
                <a:lnTo>
                  <a:pt x="0" y="50800"/>
                </a:lnTo>
                <a:arcTo hR="50800" wR="50800" stAng="10800000" swAng="5400000"/>
                <a:lnTo>
                  <a:pt x="50800" y="0"/>
                </a:lnTo>
                <a:lnTo>
                  <a:pt x="50800" y="1211362"/>
                </a:lnTo>
                <a:close/>
              </a:path>
            </a:pathLst>
          </a:custGeom>
          <a:solidFill>
            <a:srgbClr val="E3B54A"/>
          </a:solidFill>
          <a:ln/>
        </p:spPr>
      </p:sp>
      <p:sp>
        <p:nvSpPr>
          <p:cNvPr id="7" name="Text 5"/>
          <p:cNvSpPr/>
          <p:nvPr/>
        </p:nvSpPr>
        <p:spPr>
          <a:xfrm>
            <a:off x="1041400" y="4391223"/>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COMMON PITFALL</a:t>
            </a:r>
            <a:endParaRPr lang="en-US" sz="1200" dirty="0"/>
          </a:p>
        </p:txBody>
      </p:sp>
      <p:sp>
        <p:nvSpPr>
          <p:cNvPr id="8" name="Text 6"/>
          <p:cNvSpPr/>
          <p:nvPr/>
        </p:nvSpPr>
        <p:spPr>
          <a:xfrm>
            <a:off x="1041400" y="4655344"/>
            <a:ext cx="4918456"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Call optimizer.zero_grad() before loss.backward(). Gradients accumulate by default, so uncleared buffers make training diverge.</a:t>
            </a:r>
            <a:endParaRPr lang="en-US" sz="1400" dirty="0"/>
          </a:p>
        </p:txBody>
      </p:sp>
      <p:sp>
        <p:nvSpPr>
          <p:cNvPr id="9" name="Shape 7"/>
          <p:cNvSpPr/>
          <p:nvPr/>
        </p:nvSpPr>
        <p:spPr>
          <a:xfrm>
            <a:off x="6197600" y="4264223"/>
            <a:ext cx="5181600" cy="1211362"/>
          </a:xfrm>
          <a:prstGeom prst="roundRect">
            <a:avLst>
              <a:gd name="adj" fmla="val 4194"/>
            </a:avLst>
          </a:prstGeom>
          <a:solidFill>
            <a:srgbClr val="E4EEF2"/>
          </a:solidFill>
          <a:ln/>
        </p:spPr>
      </p:sp>
      <p:sp>
        <p:nvSpPr>
          <p:cNvPr id="10" name="Shape 8"/>
          <p:cNvSpPr/>
          <p:nvPr/>
        </p:nvSpPr>
        <p:spPr>
          <a:xfrm>
            <a:off x="6197600" y="4264223"/>
            <a:ext cx="5181600" cy="1211362"/>
          </a:xfrm>
          <a:custGeom>
            <a:avLst/>
            <a:gdLst/>
            <a:ahLst/>
            <a:cxnLst/>
            <a:rect l="l" t="t" r="r" b="b"/>
            <a:pathLst>
              <a:path w="5181600" h="1211362">
                <a:moveTo>
                  <a:pt x="50800" y="1211362"/>
                </a:moveTo>
                <a:lnTo>
                  <a:pt x="50800" y="1211362"/>
                </a:lnTo>
                <a:arcTo hR="50800" wR="50800" stAng="5400000" swAng="5400000"/>
                <a:lnTo>
                  <a:pt x="0" y="50800"/>
                </a:lnTo>
                <a:arcTo hR="50800" wR="50800" stAng="10800000" swAng="5400000"/>
                <a:lnTo>
                  <a:pt x="50800" y="0"/>
                </a:lnTo>
                <a:lnTo>
                  <a:pt x="50800" y="1211362"/>
                </a:lnTo>
                <a:close/>
              </a:path>
            </a:pathLst>
          </a:custGeom>
          <a:solidFill>
            <a:srgbClr val="0E7C7B"/>
          </a:solidFill>
          <a:ln/>
        </p:spPr>
      </p:sp>
      <p:sp>
        <p:nvSpPr>
          <p:cNvPr id="11" name="Text 9"/>
          <p:cNvSpPr/>
          <p:nvPr/>
        </p:nvSpPr>
        <p:spPr>
          <a:xfrm>
            <a:off x="6426200" y="4391223"/>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WHY IT HELPS</a:t>
            </a:r>
            <a:endParaRPr lang="en-US" sz="1200" dirty="0"/>
          </a:p>
        </p:txBody>
      </p:sp>
      <p:sp>
        <p:nvSpPr>
          <p:cNvPr id="12" name="Text 10"/>
          <p:cNvSpPr/>
          <p:nvPr/>
        </p:nvSpPr>
        <p:spPr>
          <a:xfrm>
            <a:off x="6426200" y="4655344"/>
            <a:ext cx="4918456"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Autograd builds a dynamic computational graph, so you never derive multivariable gradients by hand.</a:t>
            </a:r>
            <a:endParaRPr lang="en-US" sz="1400" dirty="0"/>
          </a:p>
        </p:txBody>
      </p:sp>
      <p:sp>
        <p:nvSpPr>
          <p:cNvPr id="13" name="Text 11"/>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4" name="Text 12"/>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16 / 37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2 · QUESTIONS 1–3 · 0:40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Check your understanding</a:t>
            </a:r>
            <a:endParaRPr lang="en-US" sz="3000" dirty="0"/>
          </a:p>
        </p:txBody>
      </p:sp>
      <p:sp>
        <p:nvSpPr>
          <p:cNvPr id="4" name="Shape 2"/>
          <p:cNvSpPr/>
          <p:nvPr/>
        </p:nvSpPr>
        <p:spPr>
          <a:xfrm>
            <a:off x="815975" y="1524595"/>
            <a:ext cx="3380284" cy="2637334"/>
          </a:xfrm>
          <a:prstGeom prst="roundRect">
            <a:avLst>
              <a:gd name="adj" fmla="val 3732"/>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3056560"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A dataset has N samples and d features per sample. What is the shape of the feature matrix X?</a:t>
            </a:r>
            <a:endParaRPr lang="en-US" sz="1400" dirty="0"/>
          </a:p>
        </p:txBody>
      </p:sp>
      <p:sp>
        <p:nvSpPr>
          <p:cNvPr id="7" name="Text 5"/>
          <p:cNvSpPr/>
          <p:nvPr/>
        </p:nvSpPr>
        <p:spPr>
          <a:xfrm>
            <a:off x="1022350" y="28407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d × N</a:t>
            </a:r>
            <a:endParaRPr lang="en-US" sz="1400" dirty="0"/>
          </a:p>
        </p:txBody>
      </p:sp>
      <p:sp>
        <p:nvSpPr>
          <p:cNvPr id="8" name="Text 6"/>
          <p:cNvSpPr/>
          <p:nvPr/>
        </p:nvSpPr>
        <p:spPr>
          <a:xfrm>
            <a:off x="1022350" y="31353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N × d</a:t>
            </a:r>
            <a:endParaRPr lang="en-US" sz="1400" dirty="0"/>
          </a:p>
        </p:txBody>
      </p:sp>
      <p:sp>
        <p:nvSpPr>
          <p:cNvPr id="9" name="Text 7"/>
          <p:cNvSpPr/>
          <p:nvPr/>
        </p:nvSpPr>
        <p:spPr>
          <a:xfrm>
            <a:off x="1022350" y="34298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N × N</a:t>
            </a:r>
            <a:endParaRPr lang="en-US" sz="1400" dirty="0"/>
          </a:p>
        </p:txBody>
      </p:sp>
      <p:sp>
        <p:nvSpPr>
          <p:cNvPr id="10" name="Text 8"/>
          <p:cNvSpPr/>
          <p:nvPr/>
        </p:nvSpPr>
        <p:spPr>
          <a:xfrm>
            <a:off x="1022350" y="37244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d × d</a:t>
            </a:r>
            <a:endParaRPr lang="en-US" sz="1400" dirty="0"/>
          </a:p>
        </p:txBody>
      </p:sp>
      <p:sp>
        <p:nvSpPr>
          <p:cNvPr id="11" name="Shape 9"/>
          <p:cNvSpPr/>
          <p:nvPr/>
        </p:nvSpPr>
        <p:spPr>
          <a:xfrm>
            <a:off x="4405809" y="1524595"/>
            <a:ext cx="3380383" cy="2637334"/>
          </a:xfrm>
          <a:prstGeom prst="roundRect">
            <a:avLst>
              <a:gd name="adj" fmla="val 3732"/>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3" name="Text 11"/>
          <p:cNvSpPr/>
          <p:nvPr/>
        </p:nvSpPr>
        <p:spPr>
          <a:xfrm>
            <a:off x="4612184" y="2045891"/>
            <a:ext cx="305666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Predictions are [2, 4] and true labels are [1, 6]. What is the MSE?</a:t>
            </a:r>
            <a:endParaRPr lang="en-US" sz="1400" dirty="0"/>
          </a:p>
        </p:txBody>
      </p:sp>
      <p:sp>
        <p:nvSpPr>
          <p:cNvPr id="14" name="Text 12"/>
          <p:cNvSpPr/>
          <p:nvPr/>
        </p:nvSpPr>
        <p:spPr>
          <a:xfrm>
            <a:off x="4612184" y="260965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1.5</a:t>
            </a:r>
            <a:endParaRPr lang="en-US" sz="1400" dirty="0"/>
          </a:p>
        </p:txBody>
      </p:sp>
      <p:sp>
        <p:nvSpPr>
          <p:cNvPr id="15" name="Text 13"/>
          <p:cNvSpPr/>
          <p:nvPr/>
        </p:nvSpPr>
        <p:spPr>
          <a:xfrm>
            <a:off x="4612184" y="29042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5.0</a:t>
            </a:r>
            <a:endParaRPr lang="en-US" sz="1400" dirty="0"/>
          </a:p>
        </p:txBody>
      </p:sp>
      <p:sp>
        <p:nvSpPr>
          <p:cNvPr id="16" name="Text 14"/>
          <p:cNvSpPr/>
          <p:nvPr/>
        </p:nvSpPr>
        <p:spPr>
          <a:xfrm>
            <a:off x="4612184" y="31988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2.5</a:t>
            </a:r>
            <a:endParaRPr lang="en-US" sz="1400" dirty="0"/>
          </a:p>
        </p:txBody>
      </p:sp>
      <p:sp>
        <p:nvSpPr>
          <p:cNvPr id="17" name="Text 15"/>
          <p:cNvSpPr/>
          <p:nvPr/>
        </p:nvSpPr>
        <p:spPr>
          <a:xfrm>
            <a:off x="4612184" y="349339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0.5</a:t>
            </a:r>
            <a:endParaRPr lang="en-US" sz="1400" dirty="0"/>
          </a:p>
        </p:txBody>
      </p:sp>
      <p:sp>
        <p:nvSpPr>
          <p:cNvPr id="18" name="Shape 16"/>
          <p:cNvSpPr/>
          <p:nvPr/>
        </p:nvSpPr>
        <p:spPr>
          <a:xfrm>
            <a:off x="7995741" y="1524595"/>
            <a:ext cx="3380284" cy="2637334"/>
          </a:xfrm>
          <a:prstGeom prst="roundRect">
            <a:avLst>
              <a:gd name="adj" fmla="val 3732"/>
            </a:avLst>
          </a:prstGeom>
          <a:solidFill>
            <a:srgbClr val="FFFDF8"/>
          </a:solidFill>
          <a:ln w="6350">
            <a:solidFill>
              <a:srgbClr val="D9D2BE"/>
            </a:solidFill>
            <a:prstDash val="solid"/>
          </a:ln>
        </p:spPr>
      </p:sp>
      <p:sp>
        <p:nvSpPr>
          <p:cNvPr id="19" name="Text 17"/>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20" name="Text 18"/>
          <p:cNvSpPr/>
          <p:nvPr/>
        </p:nvSpPr>
        <p:spPr>
          <a:xfrm>
            <a:off x="8202116" y="2045891"/>
            <a:ext cx="317073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Why does MSE square the errors?</a:t>
            </a:r>
            <a:endParaRPr lang="en-US" sz="1400" dirty="0"/>
          </a:p>
        </p:txBody>
      </p:sp>
      <p:sp>
        <p:nvSpPr>
          <p:cNvPr id="21" name="Text 19"/>
          <p:cNvSpPr/>
          <p:nvPr/>
        </p:nvSpPr>
        <p:spPr>
          <a:xfrm>
            <a:off x="8202116" y="2378571"/>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So errors do not cancel and large errors weigh more</a:t>
            </a:r>
            <a:endParaRPr lang="en-US" sz="1400" dirty="0"/>
          </a:p>
        </p:txBody>
      </p:sp>
      <p:sp>
        <p:nvSpPr>
          <p:cNvPr id="22" name="Text 20"/>
          <p:cNvSpPr/>
          <p:nvPr/>
        </p:nvSpPr>
        <p:spPr>
          <a:xfrm>
            <a:off x="8202116" y="2904232"/>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So positive and negative errors can cancel out</a:t>
            </a:r>
            <a:endParaRPr lang="en-US" sz="1400" dirty="0"/>
          </a:p>
        </p:txBody>
      </p:sp>
      <p:sp>
        <p:nvSpPr>
          <p:cNvPr id="23" name="Text 21"/>
          <p:cNvSpPr/>
          <p:nvPr/>
        </p:nvSpPr>
        <p:spPr>
          <a:xfrm>
            <a:off x="8202116" y="3429893"/>
            <a:ext cx="317073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So the loss is always exactly zero</a:t>
            </a:r>
            <a:endParaRPr lang="en-US" sz="1400" dirty="0"/>
          </a:p>
        </p:txBody>
      </p:sp>
      <p:sp>
        <p:nvSpPr>
          <p:cNvPr id="24" name="Text 22"/>
          <p:cNvSpPr/>
          <p:nvPr/>
        </p:nvSpPr>
        <p:spPr>
          <a:xfrm>
            <a:off x="8202116" y="37244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So that no model is needed</a:t>
            </a:r>
            <a:endParaRPr lang="en-US" sz="1400" dirty="0"/>
          </a:p>
        </p:txBody>
      </p:sp>
      <p:sp>
        <p:nvSpPr>
          <p:cNvPr id="25" name="Text 23"/>
          <p:cNvSpPr/>
          <p:nvPr/>
        </p:nvSpPr>
        <p:spPr>
          <a:xfrm>
            <a:off x="812800" y="4368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Work Question 2 on paper: write down each error, square it, then average.</a:t>
            </a:r>
            <a:endParaRPr lang="en-US" sz="1200" dirty="0"/>
          </a:p>
        </p:txBody>
      </p:sp>
      <p:sp>
        <p:nvSpPr>
          <p:cNvPr id="26" name="Text 2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7" name="Text 2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17 / 37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2 · ANSWERS 1–3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489994"/>
          </a:xfrm>
          <a:prstGeom prst="roundRect">
            <a:avLst>
              <a:gd name="adj" fmla="val 3953"/>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a:t>
            </a:r>
            <a:endParaRPr lang="en-US" sz="1400" dirty="0"/>
          </a:p>
        </p:txBody>
      </p:sp>
      <p:sp>
        <p:nvSpPr>
          <p:cNvPr id="7" name="Text 5"/>
          <p:cNvSpPr/>
          <p:nvPr/>
        </p:nvSpPr>
        <p:spPr>
          <a:xfrm>
            <a:off x="1022350"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N × d</a:t>
            </a:r>
            <a:endParaRPr lang="en-US" sz="1400" dirty="0"/>
          </a:p>
        </p:txBody>
      </p:sp>
      <p:sp>
        <p:nvSpPr>
          <p:cNvPr id="8" name="Text 6"/>
          <p:cNvSpPr/>
          <p:nvPr/>
        </p:nvSpPr>
        <p:spPr>
          <a:xfrm>
            <a:off x="1022350" y="283061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One row per sample and one column per feature. In the lecture code, X has shape (100, 1).</a:t>
            </a:r>
            <a:endParaRPr lang="en-US" sz="1400" dirty="0"/>
          </a:p>
        </p:txBody>
      </p:sp>
      <p:sp>
        <p:nvSpPr>
          <p:cNvPr id="9" name="Shape 7"/>
          <p:cNvSpPr/>
          <p:nvPr/>
        </p:nvSpPr>
        <p:spPr>
          <a:xfrm>
            <a:off x="4405809" y="1524595"/>
            <a:ext cx="3380383" cy="2489994"/>
          </a:xfrm>
          <a:prstGeom prst="roundRect">
            <a:avLst>
              <a:gd name="adj" fmla="val 3953"/>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1" name="Text 9"/>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12" name="Text 10"/>
          <p:cNvSpPr/>
          <p:nvPr/>
        </p:nvSpPr>
        <p:spPr>
          <a:xfrm>
            <a:off x="4612184" y="2497931"/>
            <a:ext cx="305666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MSE = 2.5</a:t>
            </a:r>
            <a:endParaRPr lang="en-US" sz="1400" dirty="0"/>
          </a:p>
        </p:txBody>
      </p:sp>
      <p:sp>
        <p:nvSpPr>
          <p:cNvPr id="13" name="Text 11"/>
          <p:cNvSpPr/>
          <p:nvPr/>
        </p:nvSpPr>
        <p:spPr>
          <a:xfrm>
            <a:off x="4612184" y="2830612"/>
            <a:ext cx="305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Errors are +1 and −2. Squares are 1 and 4. The mean is (1 + 4) / 2 = 2.5.</a:t>
            </a:r>
            <a:endParaRPr lang="en-US" sz="1400" dirty="0"/>
          </a:p>
        </p:txBody>
      </p:sp>
      <p:sp>
        <p:nvSpPr>
          <p:cNvPr id="14" name="Shape 12"/>
          <p:cNvSpPr/>
          <p:nvPr/>
        </p:nvSpPr>
        <p:spPr>
          <a:xfrm>
            <a:off x="7995741" y="1524595"/>
            <a:ext cx="3380284" cy="2489994"/>
          </a:xfrm>
          <a:prstGeom prst="roundRect">
            <a:avLst>
              <a:gd name="adj" fmla="val 3953"/>
            </a:avLst>
          </a:prstGeom>
          <a:solidFill>
            <a:srgbClr val="FFFDF8"/>
          </a:solidFill>
          <a:ln w="6350">
            <a:solidFill>
              <a:srgbClr val="D9D2BE"/>
            </a:solidFill>
            <a:prstDash val="solid"/>
          </a:ln>
        </p:spPr>
      </p:sp>
      <p:sp>
        <p:nvSpPr>
          <p:cNvPr id="15" name="Text 13"/>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16" name="Text 14"/>
          <p:cNvSpPr/>
          <p:nvPr/>
        </p:nvSpPr>
        <p:spPr>
          <a:xfrm>
            <a:off x="8202116" y="2045891"/>
            <a:ext cx="1152128"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A</a:t>
            </a:r>
            <a:endParaRPr lang="en-US" sz="1400" dirty="0"/>
          </a:p>
        </p:txBody>
      </p:sp>
      <p:sp>
        <p:nvSpPr>
          <p:cNvPr id="17" name="Text 15"/>
          <p:cNvSpPr/>
          <p:nvPr/>
        </p:nvSpPr>
        <p:spPr>
          <a:xfrm>
            <a:off x="8202116" y="249793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Errors do not cancel, large errors weigh more</a:t>
            </a:r>
            <a:endParaRPr lang="en-US" sz="1400" dirty="0"/>
          </a:p>
        </p:txBody>
      </p:sp>
      <p:sp>
        <p:nvSpPr>
          <p:cNvPr id="18" name="Text 16"/>
          <p:cNvSpPr/>
          <p:nvPr/>
        </p:nvSpPr>
        <p:spPr>
          <a:xfrm>
            <a:off x="8202116" y="306169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Squaring removes the sign, so +1 and −1 no longer sum to zero, and big misses are penalised more.</a:t>
            </a:r>
            <a:endParaRPr lang="en-US" sz="14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18 / 37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2 · QUESTIONS 4–6 · 0:43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Check your understanding</a:t>
            </a:r>
            <a:endParaRPr lang="en-US" sz="3000" dirty="0"/>
          </a:p>
        </p:txBody>
      </p:sp>
      <p:sp>
        <p:nvSpPr>
          <p:cNvPr id="4" name="Shape 2"/>
          <p:cNvSpPr/>
          <p:nvPr/>
        </p:nvSpPr>
        <p:spPr>
          <a:xfrm>
            <a:off x="815975" y="1524595"/>
            <a:ext cx="3380284" cy="2868414"/>
          </a:xfrm>
          <a:prstGeom prst="roundRect">
            <a:avLst>
              <a:gd name="adj" fmla="val 3431"/>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a:t>
            </a:r>
            <a:endParaRPr lang="en-US" sz="1200" dirty="0"/>
          </a:p>
        </p:txBody>
      </p:sp>
      <p:sp>
        <p:nvSpPr>
          <p:cNvPr id="6" name="Text 4"/>
          <p:cNvSpPr/>
          <p:nvPr/>
        </p:nvSpPr>
        <p:spPr>
          <a:xfrm>
            <a:off x="1022350"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In gradient descent with learning rate lr, which update is correct?</a:t>
            </a:r>
            <a:endParaRPr lang="en-US" sz="1400" dirty="0"/>
          </a:p>
        </p:txBody>
      </p:sp>
      <p:sp>
        <p:nvSpPr>
          <p:cNvPr id="7" name="Text 5"/>
          <p:cNvSpPr/>
          <p:nvPr/>
        </p:nvSpPr>
        <p:spPr>
          <a:xfrm>
            <a:off x="1022350"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w = w + lr × gradient</a:t>
            </a:r>
            <a:endParaRPr lang="en-US" sz="1400" dirty="0"/>
          </a:p>
        </p:txBody>
      </p:sp>
      <p:sp>
        <p:nvSpPr>
          <p:cNvPr id="8" name="Text 6"/>
          <p:cNvSpPr/>
          <p:nvPr/>
        </p:nvSpPr>
        <p:spPr>
          <a:xfrm>
            <a:off x="1022350" y="29042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w = lr ÷ gradient</a:t>
            </a:r>
            <a:endParaRPr lang="en-US" sz="1400" dirty="0"/>
          </a:p>
        </p:txBody>
      </p:sp>
      <p:sp>
        <p:nvSpPr>
          <p:cNvPr id="9" name="Text 7"/>
          <p:cNvSpPr/>
          <p:nvPr/>
        </p:nvSpPr>
        <p:spPr>
          <a:xfrm>
            <a:off x="1022350" y="31988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w = w − lr × gradient</a:t>
            </a:r>
            <a:endParaRPr lang="en-US" sz="1400" dirty="0"/>
          </a:p>
        </p:txBody>
      </p:sp>
      <p:sp>
        <p:nvSpPr>
          <p:cNvPr id="10" name="Text 8"/>
          <p:cNvSpPr/>
          <p:nvPr/>
        </p:nvSpPr>
        <p:spPr>
          <a:xfrm>
            <a:off x="1022350" y="34933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w = a random number</a:t>
            </a:r>
            <a:endParaRPr lang="en-US" sz="1400" dirty="0"/>
          </a:p>
        </p:txBody>
      </p:sp>
      <p:sp>
        <p:nvSpPr>
          <p:cNvPr id="11" name="Shape 9"/>
          <p:cNvSpPr/>
          <p:nvPr/>
        </p:nvSpPr>
        <p:spPr>
          <a:xfrm>
            <a:off x="4405809" y="1524595"/>
            <a:ext cx="3380383" cy="2868414"/>
          </a:xfrm>
          <a:prstGeom prst="roundRect">
            <a:avLst>
              <a:gd name="adj" fmla="val 3431"/>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3" name="Text 11"/>
          <p:cNvSpPr/>
          <p:nvPr/>
        </p:nvSpPr>
        <p:spPr>
          <a:xfrm>
            <a:off x="4612184" y="2045891"/>
            <a:ext cx="305666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What does optimizer.zero_grad() do in a PyTorch training loop?</a:t>
            </a:r>
            <a:endParaRPr lang="en-US" sz="1400" dirty="0"/>
          </a:p>
        </p:txBody>
      </p:sp>
      <p:sp>
        <p:nvSpPr>
          <p:cNvPr id="14" name="Text 12"/>
          <p:cNvSpPr/>
          <p:nvPr/>
        </p:nvSpPr>
        <p:spPr>
          <a:xfrm>
            <a:off x="4612184" y="260965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Sets all model weights to zero</a:t>
            </a:r>
            <a:endParaRPr lang="en-US" sz="1400" dirty="0"/>
          </a:p>
        </p:txBody>
      </p:sp>
      <p:sp>
        <p:nvSpPr>
          <p:cNvPr id="15" name="Text 13"/>
          <p:cNvSpPr/>
          <p:nvPr/>
        </p:nvSpPr>
        <p:spPr>
          <a:xfrm>
            <a:off x="4612184" y="29042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Stops the training loop</a:t>
            </a:r>
            <a:endParaRPr lang="en-US" sz="1400" dirty="0"/>
          </a:p>
        </p:txBody>
      </p:sp>
      <p:sp>
        <p:nvSpPr>
          <p:cNvPr id="16" name="Text 14"/>
          <p:cNvSpPr/>
          <p:nvPr/>
        </p:nvSpPr>
        <p:spPr>
          <a:xfrm>
            <a:off x="4612184" y="31988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Sets the loss to zero</a:t>
            </a:r>
            <a:endParaRPr lang="en-US" sz="1400" dirty="0"/>
          </a:p>
        </p:txBody>
      </p:sp>
      <p:sp>
        <p:nvSpPr>
          <p:cNvPr id="17" name="Text 15"/>
          <p:cNvSpPr/>
          <p:nvPr/>
        </p:nvSpPr>
        <p:spPr>
          <a:xfrm>
            <a:off x="4612184" y="3493393"/>
            <a:ext cx="305666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Clears gradients left from the previous step</a:t>
            </a:r>
            <a:endParaRPr lang="en-US" sz="1400" dirty="0"/>
          </a:p>
        </p:txBody>
      </p:sp>
      <p:sp>
        <p:nvSpPr>
          <p:cNvPr id="18" name="Shape 16"/>
          <p:cNvSpPr/>
          <p:nvPr/>
        </p:nvSpPr>
        <p:spPr>
          <a:xfrm>
            <a:off x="7995741" y="1524595"/>
            <a:ext cx="3380284" cy="2868414"/>
          </a:xfrm>
          <a:prstGeom prst="roundRect">
            <a:avLst>
              <a:gd name="adj" fmla="val 3431"/>
            </a:avLst>
          </a:prstGeom>
          <a:solidFill>
            <a:srgbClr val="FFFDF8"/>
          </a:solidFill>
          <a:ln w="6350">
            <a:solidFill>
              <a:srgbClr val="D9D2BE"/>
            </a:solidFill>
            <a:prstDash val="solid"/>
          </a:ln>
        </p:spPr>
      </p:sp>
      <p:sp>
        <p:nvSpPr>
          <p:cNvPr id="19" name="Text 17"/>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a:t>
            </a:r>
            <a:endParaRPr lang="en-US" sz="1200" dirty="0"/>
          </a:p>
        </p:txBody>
      </p:sp>
      <p:sp>
        <p:nvSpPr>
          <p:cNvPr id="20" name="Text 18"/>
          <p:cNvSpPr/>
          <p:nvPr/>
        </p:nvSpPr>
        <p:spPr>
          <a:xfrm>
            <a:off x="8202116"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Which is the correct order for one PyTorch training step?</a:t>
            </a:r>
            <a:endParaRPr lang="en-US" sz="1400" dirty="0"/>
          </a:p>
        </p:txBody>
      </p:sp>
      <p:sp>
        <p:nvSpPr>
          <p:cNvPr id="21" name="Text 19"/>
          <p:cNvSpPr/>
          <p:nvPr/>
        </p:nvSpPr>
        <p:spPr>
          <a:xfrm>
            <a:off x="8202116" y="2609652"/>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zero_grad, forward, loss, backward, step</a:t>
            </a:r>
            <a:endParaRPr lang="en-US" sz="1400" dirty="0"/>
          </a:p>
        </p:txBody>
      </p:sp>
      <p:sp>
        <p:nvSpPr>
          <p:cNvPr id="22" name="Text 20"/>
          <p:cNvSpPr/>
          <p:nvPr/>
        </p:nvSpPr>
        <p:spPr>
          <a:xfrm>
            <a:off x="8202116" y="31353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forward, loss, step, backward</a:t>
            </a:r>
            <a:endParaRPr lang="en-US" sz="1400" dirty="0"/>
          </a:p>
        </p:txBody>
      </p:sp>
      <p:sp>
        <p:nvSpPr>
          <p:cNvPr id="23" name="Text 21"/>
          <p:cNvSpPr/>
          <p:nvPr/>
        </p:nvSpPr>
        <p:spPr>
          <a:xfrm>
            <a:off x="8202116" y="3429893"/>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backward, zero_grad, forward, step</a:t>
            </a:r>
            <a:endParaRPr lang="en-US" sz="1400" dirty="0"/>
          </a:p>
        </p:txBody>
      </p:sp>
      <p:sp>
        <p:nvSpPr>
          <p:cNvPr id="24" name="Text 22"/>
          <p:cNvSpPr/>
          <p:nvPr/>
        </p:nvSpPr>
        <p:spPr>
          <a:xfrm>
            <a:off x="8202116" y="3955554"/>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step, forward, loss, zero_grad</a:t>
            </a:r>
            <a:endParaRPr lang="en-US" sz="1400" dirty="0"/>
          </a:p>
        </p:txBody>
      </p:sp>
      <p:sp>
        <p:nvSpPr>
          <p:cNvPr id="25" name="Text 23"/>
          <p:cNvSpPr/>
          <p:nvPr/>
        </p:nvSpPr>
        <p:spPr>
          <a:xfrm>
            <a:off x="812800" y="45993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Hint for Question 6: look back at the training loop on the PyTorch slide.</a:t>
            </a:r>
            <a:endParaRPr lang="en-US" sz="1200" dirty="0"/>
          </a:p>
        </p:txBody>
      </p:sp>
      <p:sp>
        <p:nvSpPr>
          <p:cNvPr id="26" name="Text 2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7" name="Text 2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19 / 37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2 · ANSWERS 4–6</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489994"/>
          </a:xfrm>
          <a:prstGeom prst="roundRect">
            <a:avLst>
              <a:gd name="adj" fmla="val 3953"/>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7" name="Text 5"/>
          <p:cNvSpPr/>
          <p:nvPr/>
        </p:nvSpPr>
        <p:spPr>
          <a:xfrm>
            <a:off x="1022350"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 = w − lr × gradient</a:t>
            </a:r>
            <a:endParaRPr lang="en-US" sz="1400" dirty="0"/>
          </a:p>
        </p:txBody>
      </p:sp>
      <p:sp>
        <p:nvSpPr>
          <p:cNvPr id="8" name="Text 6"/>
          <p:cNvSpPr/>
          <p:nvPr/>
        </p:nvSpPr>
        <p:spPr>
          <a:xfrm>
            <a:off x="1022350" y="283061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Step against the gradient to reduce the loss. In code: w -= lr * dw.</a:t>
            </a:r>
            <a:endParaRPr lang="en-US" sz="1400" dirty="0"/>
          </a:p>
        </p:txBody>
      </p:sp>
      <p:sp>
        <p:nvSpPr>
          <p:cNvPr id="9" name="Shape 7"/>
          <p:cNvSpPr/>
          <p:nvPr/>
        </p:nvSpPr>
        <p:spPr>
          <a:xfrm>
            <a:off x="4405809" y="1524595"/>
            <a:ext cx="3380383" cy="2489994"/>
          </a:xfrm>
          <a:prstGeom prst="roundRect">
            <a:avLst>
              <a:gd name="adj" fmla="val 3953"/>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1" name="Text 9"/>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D</a:t>
            </a:r>
            <a:endParaRPr lang="en-US" sz="1400" dirty="0"/>
          </a:p>
        </p:txBody>
      </p:sp>
      <p:sp>
        <p:nvSpPr>
          <p:cNvPr id="12" name="Text 10"/>
          <p:cNvSpPr/>
          <p:nvPr/>
        </p:nvSpPr>
        <p:spPr>
          <a:xfrm>
            <a:off x="4612184" y="2497931"/>
            <a:ext cx="3056662"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Clears gradients from the previous step</a:t>
            </a:r>
            <a:endParaRPr lang="en-US" sz="1400" dirty="0"/>
          </a:p>
        </p:txBody>
      </p:sp>
      <p:sp>
        <p:nvSpPr>
          <p:cNvPr id="13" name="Text 11"/>
          <p:cNvSpPr/>
          <p:nvPr/>
        </p:nvSpPr>
        <p:spPr>
          <a:xfrm>
            <a:off x="4612184" y="3061692"/>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Gradients accumulate by default, so uncleared buffers can make training diverge.</a:t>
            </a:r>
            <a:endParaRPr lang="en-US" sz="1400" dirty="0"/>
          </a:p>
        </p:txBody>
      </p:sp>
      <p:sp>
        <p:nvSpPr>
          <p:cNvPr id="14" name="Shape 12"/>
          <p:cNvSpPr/>
          <p:nvPr/>
        </p:nvSpPr>
        <p:spPr>
          <a:xfrm>
            <a:off x="7995741" y="1524595"/>
            <a:ext cx="3380284" cy="2489994"/>
          </a:xfrm>
          <a:prstGeom prst="roundRect">
            <a:avLst>
              <a:gd name="adj" fmla="val 3953"/>
            </a:avLst>
          </a:prstGeom>
          <a:solidFill>
            <a:srgbClr val="FFFDF8"/>
          </a:solidFill>
          <a:ln w="6350">
            <a:solidFill>
              <a:srgbClr val="D9D2BE"/>
            </a:solidFill>
            <a:prstDash val="solid"/>
          </a:ln>
        </p:spPr>
      </p:sp>
      <p:sp>
        <p:nvSpPr>
          <p:cNvPr id="15" name="Text 13"/>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a:t>
            </a:r>
            <a:endParaRPr lang="en-US" sz="1200" dirty="0"/>
          </a:p>
        </p:txBody>
      </p:sp>
      <p:sp>
        <p:nvSpPr>
          <p:cNvPr id="16" name="Text 14"/>
          <p:cNvSpPr/>
          <p:nvPr/>
        </p:nvSpPr>
        <p:spPr>
          <a:xfrm>
            <a:off x="8202116" y="2045891"/>
            <a:ext cx="1152128"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A</a:t>
            </a:r>
            <a:endParaRPr lang="en-US" sz="1400" dirty="0"/>
          </a:p>
        </p:txBody>
      </p:sp>
      <p:sp>
        <p:nvSpPr>
          <p:cNvPr id="17" name="Text 15"/>
          <p:cNvSpPr/>
          <p:nvPr/>
        </p:nvSpPr>
        <p:spPr>
          <a:xfrm>
            <a:off x="8202116" y="249793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zero_grad, forward, loss, backward, step</a:t>
            </a:r>
            <a:endParaRPr lang="en-US" sz="1400" dirty="0"/>
          </a:p>
        </p:txBody>
      </p:sp>
      <p:sp>
        <p:nvSpPr>
          <p:cNvPr id="18" name="Text 16"/>
          <p:cNvSpPr/>
          <p:nvPr/>
        </p:nvSpPr>
        <p:spPr>
          <a:xfrm>
            <a:off x="8202116" y="306169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Clear, predict, measure the loss, backpropagate, then update the parameters.</a:t>
            </a:r>
            <a:endParaRPr lang="en-US" sz="14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20 / 37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GENERALIZATION · 0:45</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Train, validation and test sets</a:t>
            </a:r>
            <a:endParaRPr lang="en-US" sz="3000" dirty="0"/>
          </a:p>
        </p:txBody>
      </p:sp>
      <p:sp>
        <p:nvSpPr>
          <p:cNvPr id="4" name="Text 2"/>
          <p:cNvSpPr/>
          <p:nvPr/>
        </p:nvSpPr>
        <p:spPr>
          <a:xfrm>
            <a:off x="812800" y="1572220"/>
            <a:ext cx="7061200" cy="528241"/>
          </a:xfrm>
          <a:custGeom>
            <a:avLst/>
            <a:gdLst/>
            <a:ahLst/>
            <a:cxnLst/>
            <a:rect l="l" t="t" r="r" b="b"/>
            <a:pathLst>
              <a:path w="7061200" h="528241">
                <a:moveTo>
                  <a:pt x="0" y="76200"/>
                </a:moveTo>
                <a:arcTo hR="76200" wR="76200" stAng="10800000" swAng="5400000"/>
                <a:lnTo>
                  <a:pt x="7061200" y="0"/>
                </a:lnTo>
                <a:lnTo>
                  <a:pt x="7061200" y="528241"/>
                </a:lnTo>
                <a:lnTo>
                  <a:pt x="76200" y="528241"/>
                </a:lnTo>
                <a:arcTo hR="76200" wR="76200" stAng="5400000" swAng="5400000"/>
                <a:close/>
              </a:path>
            </a:pathLst>
          </a:custGeom>
          <a:solidFill>
            <a:srgbClr val="0E7C7B"/>
          </a:solidFill>
          <a:ln/>
        </p:spPr>
        <p:txBody>
          <a:bodyPr wrap="square" lIns="51054" tIns="139700" rIns="51054" bIns="114300" rtlCol="0" anchor="t">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Training · 70%</a:t>
            </a:r>
            <a:endParaRPr lang="en-US" sz="1400" dirty="0"/>
          </a:p>
        </p:txBody>
      </p:sp>
      <p:sp>
        <p:nvSpPr>
          <p:cNvPr id="5" name="Text 3"/>
          <p:cNvSpPr/>
          <p:nvPr/>
        </p:nvSpPr>
        <p:spPr>
          <a:xfrm>
            <a:off x="7874000" y="1572220"/>
            <a:ext cx="1752600" cy="528241"/>
          </a:xfrm>
          <a:prstGeom prst="rect">
            <a:avLst/>
          </a:prstGeom>
          <a:solidFill>
            <a:srgbClr val="E3B54A"/>
          </a:solidFill>
          <a:ln/>
        </p:spPr>
        <p:txBody>
          <a:bodyPr wrap="square" lIns="127000" tIns="139700" rIns="127000" bIns="114300" rtlCol="0" anchor="t">
            <a:normAutofit/>
          </a:bodyPr>
          <a:lstStyle/>
          <a:p>
            <a:pPr algn="ctr" indent="0" marL="0">
              <a:lnSpc>
                <a:spcPts val="1960"/>
              </a:lnSpc>
              <a:buNone/>
            </a:pPr>
            <a:r>
              <a:rPr lang="en-US" sz="1400" b="1" dirty="0">
                <a:solidFill>
                  <a:srgbClr val="0F2A43"/>
                </a:solidFill>
                <a:latin typeface="Arial" pitchFamily="34" charset="0"/>
                <a:ea typeface="Arial" pitchFamily="34" charset="-122"/>
                <a:cs typeface="Arial" pitchFamily="34" charset="-120"/>
              </a:rPr>
              <a:t>Val · 15%</a:t>
            </a:r>
            <a:endParaRPr lang="en-US" sz="1400" dirty="0"/>
          </a:p>
        </p:txBody>
      </p:sp>
      <p:sp>
        <p:nvSpPr>
          <p:cNvPr id="6" name="Text 4"/>
          <p:cNvSpPr/>
          <p:nvPr/>
        </p:nvSpPr>
        <p:spPr>
          <a:xfrm>
            <a:off x="9626600" y="1572220"/>
            <a:ext cx="1752600" cy="528241"/>
          </a:xfrm>
          <a:custGeom>
            <a:avLst/>
            <a:gdLst/>
            <a:ahLst/>
            <a:cxnLst/>
            <a:rect l="l" t="t" r="r" b="b"/>
            <a:pathLst>
              <a:path w="1752600" h="528241">
                <a:moveTo>
                  <a:pt x="1676400" y="0"/>
                </a:moveTo>
                <a:arcTo hR="76200" wR="76200" stAng="16200000" swAng="5400000"/>
                <a:lnTo>
                  <a:pt x="1752600" y="452041"/>
                </a:lnTo>
                <a:arcTo hR="76200" wR="76200" stAng="0" swAng="5400000"/>
                <a:lnTo>
                  <a:pt x="0" y="528241"/>
                </a:lnTo>
                <a:lnTo>
                  <a:pt x="0" y="0"/>
                </a:lnTo>
                <a:close/>
              </a:path>
            </a:pathLst>
          </a:custGeom>
          <a:solidFill>
            <a:srgbClr val="0F2A43"/>
          </a:solidFill>
          <a:ln/>
        </p:spPr>
        <p:txBody>
          <a:bodyPr wrap="square" lIns="127000" tIns="139700" rIns="127000" bIns="114300" rtlCol="0" anchor="t">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Test · 15%</a:t>
            </a:r>
            <a:endParaRPr lang="en-US" sz="1400" dirty="0"/>
          </a:p>
        </p:txBody>
      </p:sp>
      <p:sp>
        <p:nvSpPr>
          <p:cNvPr id="7" name="Shape 5"/>
          <p:cNvSpPr/>
          <p:nvPr/>
        </p:nvSpPr>
        <p:spPr>
          <a:xfrm>
            <a:off x="815975" y="2357636"/>
            <a:ext cx="3380284" cy="2068513"/>
          </a:xfrm>
          <a:prstGeom prst="roundRect">
            <a:avLst>
              <a:gd name="adj" fmla="val 4758"/>
            </a:avLst>
          </a:prstGeom>
          <a:solidFill>
            <a:srgbClr val="FFFDF8"/>
          </a:solidFill>
          <a:ln w="6350">
            <a:solidFill>
              <a:srgbClr val="D9D2BE"/>
            </a:solidFill>
            <a:prstDash val="solid"/>
          </a:ln>
        </p:spPr>
      </p:sp>
      <p:sp>
        <p:nvSpPr>
          <p:cNvPr id="8" name="Text 6"/>
          <p:cNvSpPr/>
          <p:nvPr/>
        </p:nvSpPr>
        <p:spPr>
          <a:xfrm>
            <a:off x="1047750" y="2589411"/>
            <a:ext cx="3004236"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E7C7B"/>
                </a:solidFill>
                <a:latin typeface="Georgia" pitchFamily="18" charset="0"/>
                <a:ea typeface="Georgia" pitchFamily="18" charset="-122"/>
                <a:cs typeface="Georgia" pitchFamily="18" charset="-120"/>
              </a:rPr>
              <a:t>70–80%</a:t>
            </a:r>
            <a:endParaRPr lang="en-US" sz="3000" dirty="0"/>
          </a:p>
        </p:txBody>
      </p:sp>
      <p:sp>
        <p:nvSpPr>
          <p:cNvPr id="9" name="Text 7"/>
          <p:cNvSpPr/>
          <p:nvPr/>
        </p:nvSpPr>
        <p:spPr>
          <a:xfrm>
            <a:off x="1047750" y="3072011"/>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Training set</a:t>
            </a:r>
            <a:endParaRPr lang="en-US" sz="1800" dirty="0"/>
          </a:p>
        </p:txBody>
      </p:sp>
      <p:sp>
        <p:nvSpPr>
          <p:cNvPr id="10" name="Text 8"/>
          <p:cNvSpPr/>
          <p:nvPr/>
        </p:nvSpPr>
        <p:spPr>
          <a:xfrm>
            <a:off x="1047750" y="3447852"/>
            <a:ext cx="30042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Used to update model parameters via gradient descent.</a:t>
            </a:r>
            <a:endParaRPr lang="en-US" sz="1400" dirty="0"/>
          </a:p>
        </p:txBody>
      </p:sp>
      <p:sp>
        <p:nvSpPr>
          <p:cNvPr id="11" name="Shape 9"/>
          <p:cNvSpPr/>
          <p:nvPr/>
        </p:nvSpPr>
        <p:spPr>
          <a:xfrm>
            <a:off x="4405809" y="2357636"/>
            <a:ext cx="3380383" cy="2068513"/>
          </a:xfrm>
          <a:prstGeom prst="roundRect">
            <a:avLst>
              <a:gd name="adj" fmla="val 4758"/>
            </a:avLst>
          </a:prstGeom>
          <a:solidFill>
            <a:srgbClr val="FFFDF8"/>
          </a:solidFill>
          <a:ln w="6350">
            <a:solidFill>
              <a:srgbClr val="D9D2BE"/>
            </a:solidFill>
            <a:prstDash val="solid"/>
          </a:ln>
        </p:spPr>
      </p:sp>
      <p:sp>
        <p:nvSpPr>
          <p:cNvPr id="12" name="Text 10"/>
          <p:cNvSpPr/>
          <p:nvPr/>
        </p:nvSpPr>
        <p:spPr>
          <a:xfrm>
            <a:off x="4637584" y="2589411"/>
            <a:ext cx="3004338"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F2A43"/>
                </a:solidFill>
                <a:latin typeface="Georgia" pitchFamily="18" charset="0"/>
                <a:ea typeface="Georgia" pitchFamily="18" charset="-122"/>
                <a:cs typeface="Georgia" pitchFamily="18" charset="-120"/>
              </a:rPr>
              <a:t>10–15%</a:t>
            </a:r>
            <a:endParaRPr lang="en-US" sz="3000" dirty="0"/>
          </a:p>
        </p:txBody>
      </p:sp>
      <p:sp>
        <p:nvSpPr>
          <p:cNvPr id="13" name="Text 11"/>
          <p:cNvSpPr/>
          <p:nvPr/>
        </p:nvSpPr>
        <p:spPr>
          <a:xfrm>
            <a:off x="4637584" y="3072011"/>
            <a:ext cx="30043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Validation set</a:t>
            </a:r>
            <a:endParaRPr lang="en-US" sz="1800" dirty="0"/>
          </a:p>
        </p:txBody>
      </p:sp>
      <p:sp>
        <p:nvSpPr>
          <p:cNvPr id="14" name="Text 12"/>
          <p:cNvSpPr/>
          <p:nvPr/>
        </p:nvSpPr>
        <p:spPr>
          <a:xfrm>
            <a:off x="4637584" y="3447852"/>
            <a:ext cx="300433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Used to tune hyperparameters (learning rate, regularization strength, depth) and to stop early.</a:t>
            </a:r>
            <a:endParaRPr lang="en-US" sz="1400" dirty="0"/>
          </a:p>
        </p:txBody>
      </p:sp>
      <p:sp>
        <p:nvSpPr>
          <p:cNvPr id="15" name="Shape 13"/>
          <p:cNvSpPr/>
          <p:nvPr/>
        </p:nvSpPr>
        <p:spPr>
          <a:xfrm>
            <a:off x="7995741" y="2357636"/>
            <a:ext cx="3380284" cy="2068513"/>
          </a:xfrm>
          <a:prstGeom prst="roundRect">
            <a:avLst>
              <a:gd name="adj" fmla="val 4758"/>
            </a:avLst>
          </a:prstGeom>
          <a:solidFill>
            <a:srgbClr val="FFFDF8"/>
          </a:solidFill>
          <a:ln w="6350">
            <a:solidFill>
              <a:srgbClr val="D9D2BE"/>
            </a:solidFill>
            <a:prstDash val="solid"/>
          </a:ln>
        </p:spPr>
      </p:sp>
      <p:sp>
        <p:nvSpPr>
          <p:cNvPr id="16" name="Text 14"/>
          <p:cNvSpPr/>
          <p:nvPr/>
        </p:nvSpPr>
        <p:spPr>
          <a:xfrm>
            <a:off x="8227516" y="2589411"/>
            <a:ext cx="3004236"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0F2A43"/>
                </a:solidFill>
                <a:latin typeface="Georgia" pitchFamily="18" charset="0"/>
                <a:ea typeface="Georgia" pitchFamily="18" charset="-122"/>
                <a:cs typeface="Georgia" pitchFamily="18" charset="-120"/>
              </a:rPr>
              <a:t>10–15%</a:t>
            </a:r>
            <a:endParaRPr lang="en-US" sz="3000" dirty="0"/>
          </a:p>
        </p:txBody>
      </p:sp>
      <p:sp>
        <p:nvSpPr>
          <p:cNvPr id="17" name="Text 15"/>
          <p:cNvSpPr/>
          <p:nvPr/>
        </p:nvSpPr>
        <p:spPr>
          <a:xfrm>
            <a:off x="8227516" y="3072011"/>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Test set</a:t>
            </a:r>
            <a:endParaRPr lang="en-US" sz="1800" dirty="0"/>
          </a:p>
        </p:txBody>
      </p:sp>
      <p:sp>
        <p:nvSpPr>
          <p:cNvPr id="18" name="Text 16"/>
          <p:cNvSpPr/>
          <p:nvPr/>
        </p:nvSpPr>
        <p:spPr>
          <a:xfrm>
            <a:off x="8227516" y="3447852"/>
            <a:ext cx="300423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Kept isolated until the final evaluation. Gives an unbiased estimate of real-world performance.</a:t>
            </a:r>
            <a:endParaRPr lang="en-US" sz="14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21 / 37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HANDS-ON CODE · 0:48</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Splitting with scikit-learn</a:t>
            </a:r>
            <a:endParaRPr lang="en-US" sz="3000" dirty="0"/>
          </a:p>
        </p:txBody>
      </p:sp>
      <p:sp>
        <p:nvSpPr>
          <p:cNvPr id="4" name="Text 2"/>
          <p:cNvSpPr/>
          <p:nvPr/>
        </p:nvSpPr>
        <p:spPr>
          <a:xfrm>
            <a:off x="812800" y="1572220"/>
            <a:ext cx="6731000" cy="1953121"/>
          </a:xfrm>
          <a:prstGeom prst="roundRect">
            <a:avLst>
              <a:gd name="adj" fmla="val 5202"/>
            </a:avLst>
          </a:prstGeom>
          <a:solidFill>
            <a:srgbClr val="0F2A43"/>
          </a:solidFill>
          <a:ln/>
        </p:spPr>
        <p:txBody>
          <a:bodyPr wrap="square" lIns="173442" tIns="173442" rIns="0" bIns="148042" rtlCol="0" anchor="t">
            <a:normAutofit/>
          </a:bodyPr>
          <a:lstStyle/>
          <a:p>
            <a:pPr algn="l" indent="0" marL="0">
              <a:lnSpc>
                <a:spcPts val="1740"/>
              </a:lnSpc>
              <a:buNone/>
            </a:pPr>
            <a:r>
              <a:rPr lang="en-US" sz="1200" dirty="0">
                <a:solidFill>
                  <a:srgbClr val="7FD1C7"/>
                </a:solidFill>
                <a:latin typeface="Courier New" pitchFamily="49" charset="0"/>
                <a:ea typeface="Courier New" pitchFamily="49" charset="-122"/>
                <a:cs typeface="Courier New" pitchFamily="49" charset="-120"/>
              </a:rPr>
              <a:t># 1) hold out 15% for the test set</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X_train_val, X_test, y_train_val, y_test = train_test_split(</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X, y, test_size=0.15, random_state=42)</a:t>
            </a:r>
            <a:endParaRPr lang="en-US" sz="1200" dirty="0"/>
          </a:p>
          <a:p>
            <a:pPr algn="l" indent="0" marL="0">
              <a:lnSpc>
                <a:spcPts val="1740"/>
              </a:lnSpc>
              <a:buNone/>
            </a:pPr>
            <a:endParaRPr lang="en-US" sz="1200" dirty="0"/>
          </a:p>
          <a:p>
            <a:pPr algn="l" indent="0" marL="0">
              <a:lnSpc>
                <a:spcPts val="1740"/>
              </a:lnSpc>
              <a:buNone/>
            </a:pPr>
            <a:r>
              <a:rPr lang="en-US" sz="1200" dirty="0">
                <a:solidFill>
                  <a:srgbClr val="7FD1C7"/>
                </a:solidFill>
                <a:latin typeface="Courier New" pitchFamily="49" charset="0"/>
                <a:ea typeface="Courier New" pitchFamily="49" charset="-122"/>
                <a:cs typeface="Courier New" pitchFamily="49" charset="-120"/>
              </a:rPr>
              <a:t># 2) 0.1765 of the remaining 85% is about 15% of all data</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X_train, X_val, y_train, y_val = train_test_split(</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    X_train_val, y_train_val, test_size=0.1765, random_state=42)</a:t>
            </a:r>
            <a:endParaRPr lang="en-US" sz="1200" dirty="0"/>
          </a:p>
        </p:txBody>
      </p:sp>
      <p:sp>
        <p:nvSpPr>
          <p:cNvPr id="5" name="Shape 3"/>
          <p:cNvSpPr/>
          <p:nvPr/>
        </p:nvSpPr>
        <p:spPr>
          <a:xfrm>
            <a:off x="7851775" y="1575395"/>
            <a:ext cx="3524250" cy="1149152"/>
          </a:xfrm>
          <a:prstGeom prst="roundRect">
            <a:avLst>
              <a:gd name="adj" fmla="val 8565"/>
            </a:avLst>
          </a:prstGeom>
          <a:solidFill>
            <a:srgbClr val="FFFDF8"/>
          </a:solidFill>
          <a:ln w="6350">
            <a:solidFill>
              <a:srgbClr val="D9D2BE"/>
            </a:solidFill>
            <a:prstDash val="solid"/>
          </a:ln>
        </p:spPr>
      </p:sp>
      <p:sp>
        <p:nvSpPr>
          <p:cNvPr id="6" name="Text 4"/>
          <p:cNvSpPr/>
          <p:nvPr/>
        </p:nvSpPr>
        <p:spPr>
          <a:xfrm>
            <a:off x="8058150" y="1756370"/>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WHY 0.1765?</a:t>
            </a:r>
            <a:endParaRPr lang="en-US" sz="1200" dirty="0"/>
          </a:p>
        </p:txBody>
      </p:sp>
      <p:sp>
        <p:nvSpPr>
          <p:cNvPr id="7" name="Text 5"/>
          <p:cNvSpPr/>
          <p:nvPr/>
        </p:nvSpPr>
        <p:spPr>
          <a:xfrm>
            <a:off x="8058150" y="2045891"/>
            <a:ext cx="320484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0.15 ÷ 0.85 ≈ 0.1765, so the validation set is about 15% of the full data.</a:t>
            </a:r>
            <a:endParaRPr lang="en-US" sz="1400" dirty="0"/>
          </a:p>
        </p:txBody>
      </p:sp>
      <p:sp>
        <p:nvSpPr>
          <p:cNvPr id="8" name="Shape 6"/>
          <p:cNvSpPr/>
          <p:nvPr/>
        </p:nvSpPr>
        <p:spPr>
          <a:xfrm>
            <a:off x="7851775" y="2883297"/>
            <a:ext cx="3524250" cy="1794272"/>
          </a:xfrm>
          <a:prstGeom prst="roundRect">
            <a:avLst>
              <a:gd name="adj" fmla="val 5486"/>
            </a:avLst>
          </a:prstGeom>
          <a:solidFill>
            <a:srgbClr val="FFFDF8"/>
          </a:solidFill>
          <a:ln w="6350">
            <a:solidFill>
              <a:srgbClr val="D9D2BE"/>
            </a:solidFill>
            <a:prstDash val="solid"/>
          </a:ln>
        </p:spPr>
      </p:sp>
      <p:sp>
        <p:nvSpPr>
          <p:cNvPr id="9" name="Text 7"/>
          <p:cNvSpPr/>
          <p:nvPr/>
        </p:nvSpPr>
        <p:spPr>
          <a:xfrm>
            <a:off x="8058150" y="3064272"/>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OUTPUT FOR N = 100</a:t>
            </a:r>
            <a:endParaRPr lang="en-US" sz="1200" dirty="0"/>
          </a:p>
        </p:txBody>
      </p:sp>
      <p:sp>
        <p:nvSpPr>
          <p:cNvPr id="10" name="Text 8"/>
          <p:cNvSpPr/>
          <p:nvPr/>
        </p:nvSpPr>
        <p:spPr>
          <a:xfrm>
            <a:off x="8058150" y="3353792"/>
            <a:ext cx="320484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Train size: 69</a:t>
            </a:r>
            <a:endParaRPr lang="en-US" sz="1200" dirty="0"/>
          </a:p>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Val size: 16</a:t>
            </a:r>
            <a:endParaRPr lang="en-US" sz="1200" dirty="0"/>
          </a:p>
          <a:p>
            <a:pPr algn="l" indent="0" marL="0">
              <a:lnSpc>
                <a:spcPts val="1680"/>
              </a:lnSpc>
              <a:buNone/>
            </a:pPr>
            <a:r>
              <a:rPr lang="en-US" sz="1200" dirty="0">
                <a:solidFill>
                  <a:srgbClr val="0F2A43"/>
                </a:solidFill>
                <a:latin typeface="Courier New" pitchFamily="49" charset="0"/>
                <a:ea typeface="Courier New" pitchFamily="49" charset="-122"/>
                <a:cs typeface="Courier New" pitchFamily="49" charset="-120"/>
              </a:rPr>
              <a:t>Test size: 15</a:t>
            </a:r>
            <a:endParaRPr lang="en-US" sz="1200" dirty="0"/>
          </a:p>
        </p:txBody>
      </p:sp>
      <p:sp>
        <p:nvSpPr>
          <p:cNvPr id="11" name="Text 9"/>
          <p:cNvSpPr/>
          <p:nvPr/>
        </p:nvSpPr>
        <p:spPr>
          <a:xfrm>
            <a:off x="8058150" y="4069953"/>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Rounding gives 69 / 16 / 15, close to 70 / 15 / 15.</a:t>
            </a:r>
            <a:endParaRPr lang="en-US" sz="1200" dirty="0"/>
          </a:p>
        </p:txBody>
      </p:sp>
      <p:sp>
        <p:nvSpPr>
          <p:cNvPr id="12" name="Text 10"/>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3" name="Text 11"/>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22 / 37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3 · QUESTIONS 1–3 · 0:50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Check your understanding</a:t>
            </a:r>
            <a:endParaRPr lang="en-US" sz="3000" dirty="0"/>
          </a:p>
        </p:txBody>
      </p:sp>
      <p:sp>
        <p:nvSpPr>
          <p:cNvPr id="4" name="Shape 2"/>
          <p:cNvSpPr/>
          <p:nvPr/>
        </p:nvSpPr>
        <p:spPr>
          <a:xfrm>
            <a:off x="815975" y="1524595"/>
            <a:ext cx="3380284" cy="2637334"/>
          </a:xfrm>
          <a:prstGeom prst="roundRect">
            <a:avLst>
              <a:gd name="adj" fmla="val 3732"/>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3056560"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Which subset is used to tune hyperparameters and decide when to stop early?</a:t>
            </a:r>
            <a:endParaRPr lang="en-US" sz="1400" dirty="0"/>
          </a:p>
        </p:txBody>
      </p:sp>
      <p:sp>
        <p:nvSpPr>
          <p:cNvPr id="7" name="Text 5"/>
          <p:cNvSpPr/>
          <p:nvPr/>
        </p:nvSpPr>
        <p:spPr>
          <a:xfrm>
            <a:off x="1022350" y="28407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Test set</a:t>
            </a:r>
            <a:endParaRPr lang="en-US" sz="1400" dirty="0"/>
          </a:p>
        </p:txBody>
      </p:sp>
      <p:sp>
        <p:nvSpPr>
          <p:cNvPr id="8" name="Text 6"/>
          <p:cNvSpPr/>
          <p:nvPr/>
        </p:nvSpPr>
        <p:spPr>
          <a:xfrm>
            <a:off x="1022350" y="31353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Training set</a:t>
            </a:r>
            <a:endParaRPr lang="en-US" sz="1400" dirty="0"/>
          </a:p>
        </p:txBody>
      </p:sp>
      <p:sp>
        <p:nvSpPr>
          <p:cNvPr id="9" name="Text 7"/>
          <p:cNvSpPr/>
          <p:nvPr/>
        </p:nvSpPr>
        <p:spPr>
          <a:xfrm>
            <a:off x="1022350" y="34298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Validation set</a:t>
            </a:r>
            <a:endParaRPr lang="en-US" sz="1400" dirty="0"/>
          </a:p>
        </p:txBody>
      </p:sp>
      <p:sp>
        <p:nvSpPr>
          <p:cNvPr id="10" name="Text 8"/>
          <p:cNvSpPr/>
          <p:nvPr/>
        </p:nvSpPr>
        <p:spPr>
          <a:xfrm>
            <a:off x="1022350" y="37244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All of them equally</a:t>
            </a:r>
            <a:endParaRPr lang="en-US" sz="1400" dirty="0"/>
          </a:p>
        </p:txBody>
      </p:sp>
      <p:sp>
        <p:nvSpPr>
          <p:cNvPr id="11" name="Shape 9"/>
          <p:cNvSpPr/>
          <p:nvPr/>
        </p:nvSpPr>
        <p:spPr>
          <a:xfrm>
            <a:off x="4405809" y="1524595"/>
            <a:ext cx="3380383" cy="2637334"/>
          </a:xfrm>
          <a:prstGeom prst="roundRect">
            <a:avLst>
              <a:gd name="adj" fmla="val 3732"/>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 · TRUE OR FALSE</a:t>
            </a:r>
            <a:endParaRPr lang="en-US" sz="1200" dirty="0"/>
          </a:p>
        </p:txBody>
      </p:sp>
      <p:sp>
        <p:nvSpPr>
          <p:cNvPr id="13" name="Text 11"/>
          <p:cNvSpPr/>
          <p:nvPr/>
        </p:nvSpPr>
        <p:spPr>
          <a:xfrm>
            <a:off x="4612184" y="2045891"/>
            <a:ext cx="3056662"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You may check the test set repeatedly while tuning, as long as you never train on it.</a:t>
            </a:r>
            <a:endParaRPr lang="en-US" sz="1400" dirty="0"/>
          </a:p>
        </p:txBody>
      </p:sp>
      <p:sp>
        <p:nvSpPr>
          <p:cNvPr id="14" name="Text 12"/>
          <p:cNvSpPr/>
          <p:nvPr/>
        </p:nvSpPr>
        <p:spPr>
          <a:xfrm>
            <a:off x="4612184" y="28407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True</a:t>
            </a:r>
            <a:endParaRPr lang="en-US" sz="1400" dirty="0"/>
          </a:p>
        </p:txBody>
      </p:sp>
      <p:sp>
        <p:nvSpPr>
          <p:cNvPr id="15" name="Text 13"/>
          <p:cNvSpPr/>
          <p:nvPr/>
        </p:nvSpPr>
        <p:spPr>
          <a:xfrm>
            <a:off x="4612184" y="31353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False</a:t>
            </a:r>
            <a:endParaRPr lang="en-US" sz="1400" dirty="0"/>
          </a:p>
        </p:txBody>
      </p:sp>
      <p:sp>
        <p:nvSpPr>
          <p:cNvPr id="16" name="Shape 14"/>
          <p:cNvSpPr/>
          <p:nvPr/>
        </p:nvSpPr>
        <p:spPr>
          <a:xfrm>
            <a:off x="7995741" y="1524595"/>
            <a:ext cx="3380284" cy="2637334"/>
          </a:xfrm>
          <a:prstGeom prst="roundRect">
            <a:avLst>
              <a:gd name="adj" fmla="val 3732"/>
            </a:avLst>
          </a:prstGeom>
          <a:solidFill>
            <a:srgbClr val="FFFDF8"/>
          </a:solidFill>
          <a:ln w="6350">
            <a:solidFill>
              <a:srgbClr val="D9D2BE"/>
            </a:solidFill>
            <a:prstDash val="solid"/>
          </a:ln>
        </p:spPr>
      </p:sp>
      <p:sp>
        <p:nvSpPr>
          <p:cNvPr id="17" name="Text 15"/>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18" name="Text 16"/>
          <p:cNvSpPr/>
          <p:nvPr/>
        </p:nvSpPr>
        <p:spPr>
          <a:xfrm>
            <a:off x="8202116"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You split 1,000 samples 70 / 15 / 15. How many are train / val / test?</a:t>
            </a:r>
            <a:endParaRPr lang="en-US" sz="1400" dirty="0"/>
          </a:p>
        </p:txBody>
      </p:sp>
      <p:sp>
        <p:nvSpPr>
          <p:cNvPr id="19" name="Text 17"/>
          <p:cNvSpPr/>
          <p:nvPr/>
        </p:nvSpPr>
        <p:spPr>
          <a:xfrm>
            <a:off x="8202116"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800 / 100 / 100</a:t>
            </a:r>
            <a:endParaRPr lang="en-US" sz="1400" dirty="0"/>
          </a:p>
        </p:txBody>
      </p:sp>
      <p:sp>
        <p:nvSpPr>
          <p:cNvPr id="20" name="Text 18"/>
          <p:cNvSpPr/>
          <p:nvPr/>
        </p:nvSpPr>
        <p:spPr>
          <a:xfrm>
            <a:off x="8202116" y="29042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600 / 200 / 200</a:t>
            </a:r>
            <a:endParaRPr lang="en-US" sz="1400" dirty="0"/>
          </a:p>
        </p:txBody>
      </p:sp>
      <p:sp>
        <p:nvSpPr>
          <p:cNvPr id="21" name="Text 19"/>
          <p:cNvSpPr/>
          <p:nvPr/>
        </p:nvSpPr>
        <p:spPr>
          <a:xfrm>
            <a:off x="8202116" y="31988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700 / 200 / 100</a:t>
            </a:r>
            <a:endParaRPr lang="en-US" sz="1400" dirty="0"/>
          </a:p>
        </p:txBody>
      </p:sp>
      <p:sp>
        <p:nvSpPr>
          <p:cNvPr id="22" name="Text 20"/>
          <p:cNvSpPr/>
          <p:nvPr/>
        </p:nvSpPr>
        <p:spPr>
          <a:xfrm>
            <a:off x="8202116" y="34933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700 / 150 / 150</a:t>
            </a:r>
            <a:endParaRPr lang="en-US" sz="1400" dirty="0"/>
          </a:p>
        </p:txBody>
      </p:sp>
      <p:sp>
        <p:nvSpPr>
          <p:cNvPr id="23" name="Text 21"/>
          <p:cNvSpPr/>
          <p:nvPr/>
        </p:nvSpPr>
        <p:spPr>
          <a:xfrm>
            <a:off x="812800" y="4368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Last checkpoint of the lecture: vote, then reveal.</a:t>
            </a:r>
            <a:endParaRPr lang="en-US" sz="1200" dirty="0"/>
          </a:p>
        </p:txBody>
      </p:sp>
      <p:sp>
        <p:nvSpPr>
          <p:cNvPr id="24" name="Text 22"/>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5" name="Text 23"/>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23 / 37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QUIZ 3 · ANSWERS 1–3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258913"/>
          </a:xfrm>
          <a:prstGeom prst="roundRect">
            <a:avLst>
              <a:gd name="adj" fmla="val 4357"/>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7" name="Text 5"/>
          <p:cNvSpPr/>
          <p:nvPr/>
        </p:nvSpPr>
        <p:spPr>
          <a:xfrm>
            <a:off x="1022350"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Validation set</a:t>
            </a:r>
            <a:endParaRPr lang="en-US" sz="1400" dirty="0"/>
          </a:p>
        </p:txBody>
      </p:sp>
      <p:sp>
        <p:nvSpPr>
          <p:cNvPr id="8" name="Text 6"/>
          <p:cNvSpPr/>
          <p:nvPr/>
        </p:nvSpPr>
        <p:spPr>
          <a:xfrm>
            <a:off x="1022350" y="283061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It tunes the learning rate, regularization strength and depth, and supports early stopping.</a:t>
            </a:r>
            <a:endParaRPr lang="en-US" sz="1400" dirty="0"/>
          </a:p>
        </p:txBody>
      </p:sp>
      <p:sp>
        <p:nvSpPr>
          <p:cNvPr id="9" name="Shape 7"/>
          <p:cNvSpPr/>
          <p:nvPr/>
        </p:nvSpPr>
        <p:spPr>
          <a:xfrm>
            <a:off x="4405809" y="1524595"/>
            <a:ext cx="3380383" cy="2258913"/>
          </a:xfrm>
          <a:prstGeom prst="roundRect">
            <a:avLst>
              <a:gd name="adj" fmla="val 4357"/>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1" name="Text 9"/>
          <p:cNvSpPr/>
          <p:nvPr/>
        </p:nvSpPr>
        <p:spPr>
          <a:xfrm>
            <a:off x="4612184" y="2045891"/>
            <a:ext cx="1781175"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 (False)</a:t>
            </a:r>
            <a:endParaRPr lang="en-US" sz="1400" dirty="0"/>
          </a:p>
        </p:txBody>
      </p:sp>
      <p:sp>
        <p:nvSpPr>
          <p:cNvPr id="12" name="Text 10"/>
          <p:cNvSpPr/>
          <p:nvPr/>
        </p:nvSpPr>
        <p:spPr>
          <a:xfrm>
            <a:off x="4612184" y="2497931"/>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The test set stays isolated until the final evaluation. Repeated peeking makes the estimate biased.</a:t>
            </a:r>
            <a:endParaRPr lang="en-US" sz="1400" dirty="0"/>
          </a:p>
        </p:txBody>
      </p:sp>
      <p:sp>
        <p:nvSpPr>
          <p:cNvPr id="13" name="Shape 11"/>
          <p:cNvSpPr/>
          <p:nvPr/>
        </p:nvSpPr>
        <p:spPr>
          <a:xfrm>
            <a:off x="7995741" y="1524595"/>
            <a:ext cx="3380284" cy="2258913"/>
          </a:xfrm>
          <a:prstGeom prst="roundRect">
            <a:avLst>
              <a:gd name="adj" fmla="val 4357"/>
            </a:avLst>
          </a:prstGeom>
          <a:solidFill>
            <a:srgbClr val="FFFDF8"/>
          </a:solidFill>
          <a:ln w="6350">
            <a:solidFill>
              <a:srgbClr val="D9D2BE"/>
            </a:solidFill>
            <a:prstDash val="solid"/>
          </a:ln>
        </p:spPr>
      </p:sp>
      <p:sp>
        <p:nvSpPr>
          <p:cNvPr id="14" name="Text 12"/>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15" name="Text 13"/>
          <p:cNvSpPr/>
          <p:nvPr/>
        </p:nvSpPr>
        <p:spPr>
          <a:xfrm>
            <a:off x="8202116"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D</a:t>
            </a:r>
            <a:endParaRPr lang="en-US" sz="1400" dirty="0"/>
          </a:p>
        </p:txBody>
      </p:sp>
      <p:sp>
        <p:nvSpPr>
          <p:cNvPr id="16" name="Text 14"/>
          <p:cNvSpPr/>
          <p:nvPr/>
        </p:nvSpPr>
        <p:spPr>
          <a:xfrm>
            <a:off x="8202116"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700 / 150 / 150</a:t>
            </a:r>
            <a:endParaRPr lang="en-US" sz="1400" dirty="0"/>
          </a:p>
        </p:txBody>
      </p:sp>
      <p:sp>
        <p:nvSpPr>
          <p:cNvPr id="17" name="Text 15"/>
          <p:cNvSpPr/>
          <p:nvPr/>
        </p:nvSpPr>
        <p:spPr>
          <a:xfrm>
            <a:off x="8202116" y="283061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70% of 1,000 is 700. The other 300 split evenly into 150 validation and 150 test.</a:t>
            </a:r>
            <a:endParaRPr lang="en-US" sz="1400" dirty="0"/>
          </a:p>
        </p:txBody>
      </p:sp>
      <p:sp>
        <p:nvSpPr>
          <p:cNvPr id="18" name="Text 1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9" name="Text 1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24 / 37</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A43"/>
        </a:solidFill>
      </p:bgPr>
    </p:bg>
    <p:spTree>
      <p:nvGrpSpPr>
        <p:cNvPr id="1" name=""/>
        <p:cNvGrpSpPr/>
        <p:nvPr/>
      </p:nvGrpSpPr>
      <p:grpSpPr>
        <a:xfrm>
          <a:off x="0" y="0"/>
          <a:ext cx="0" cy="0"/>
          <a:chOff x="0" y="0"/>
          <a:chExt cx="0" cy="0"/>
        </a:xfrm>
      </p:grpSpPr>
      <p:pic>
        <p:nvPicPr>
          <p:cNvPr id="2" name="Image 0" descr="Clock">    </p:cNvPr>
          <p:cNvPicPr>
            <a:picLocks noChangeAspect="1"/>
          </p:cNvPicPr>
          <p:nvPr/>
        </p:nvPicPr>
        <p:blipFill>
          <a:blip r:embed="rId1"/>
          <a:srcRect l="0" r="0" t="0" b="0"/>
          <a:stretch/>
        </p:blipFill>
        <p:spPr>
          <a:xfrm>
            <a:off x="812800" y="1699320"/>
            <a:ext cx="609600" cy="609600"/>
          </a:xfrm>
          <a:prstGeom prst="rect">
            <a:avLst/>
          </a:prstGeom>
        </p:spPr>
      </p:pic>
      <p:sp>
        <p:nvSpPr>
          <p:cNvPr id="3" name="Text 0"/>
          <p:cNvSpPr/>
          <p:nvPr/>
        </p:nvSpPr>
        <p:spPr>
          <a:xfrm>
            <a:off x="812800" y="25121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3B54A"/>
                </a:solidFill>
                <a:latin typeface="Arial" pitchFamily="34" charset="0"/>
                <a:ea typeface="Arial" pitchFamily="34" charset="-122"/>
                <a:cs typeface="Arial" pitchFamily="34" charset="-120"/>
              </a:rPr>
              <a:t>BREAK · 0:55</a:t>
            </a:r>
            <a:endParaRPr lang="en-US" sz="1200" dirty="0"/>
          </a:p>
        </p:txBody>
      </p:sp>
      <p:sp>
        <p:nvSpPr>
          <p:cNvPr id="4" name="Text 1"/>
          <p:cNvSpPr/>
          <p:nvPr>
            <p:ph type="title"/>
          </p:nvPr>
        </p:nvSpPr>
        <p:spPr>
          <a:xfrm>
            <a:off x="812800" y="292864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5EF"/>
                </a:solidFill>
                <a:latin typeface="Georgia" pitchFamily="18" charset="0"/>
                <a:ea typeface="Georgia" pitchFamily="18" charset="-122"/>
                <a:cs typeface="Georgia" pitchFamily="18" charset="-120"/>
              </a:rPr>
              <a:t>Five-minute break</a:t>
            </a:r>
            <a:endParaRPr lang="en-US" sz="4800" dirty="0"/>
          </a:p>
        </p:txBody>
      </p:sp>
      <p:sp>
        <p:nvSpPr>
          <p:cNvPr id="5" name="Text 2"/>
          <p:cNvSpPr/>
          <p:nvPr/>
        </p:nvSpPr>
        <p:spPr>
          <a:xfrm>
            <a:off x="812800" y="3771900"/>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8C7D6"/>
                </a:solidFill>
                <a:latin typeface="Arial" pitchFamily="34" charset="0"/>
                <a:ea typeface="Arial" pitchFamily="34" charset="-122"/>
                <a:cs typeface="Arial" pitchFamily="34" charset="-120"/>
              </a:rPr>
              <a:t>Back at 1:00 for Lab 1. Open Python 3.10 or higher and a new Jupyter notebook, then install the packages:</a:t>
            </a:r>
            <a:endParaRPr lang="en-US" sz="1800" dirty="0"/>
          </a:p>
        </p:txBody>
      </p:sp>
      <p:sp>
        <p:nvSpPr>
          <p:cNvPr id="6" name="Text 3"/>
          <p:cNvSpPr/>
          <p:nvPr/>
        </p:nvSpPr>
        <p:spPr>
          <a:xfrm>
            <a:off x="815975" y="4595416"/>
            <a:ext cx="6386909" cy="559991"/>
          </a:xfrm>
          <a:prstGeom prst="roundRect">
            <a:avLst>
              <a:gd name="adj" fmla="val 13040"/>
            </a:avLst>
          </a:prstGeom>
          <a:solidFill>
            <a:srgbClr val="17395A"/>
          </a:solidFill>
          <a:ln w="6350">
            <a:solidFill>
              <a:srgbClr val="2A5078"/>
            </a:solidFill>
            <a:prstDash val="solid"/>
          </a:ln>
        </p:spPr>
        <p:txBody>
          <a:bodyPr wrap="none" lIns="0" tIns="0" rIns="0" bIns="0" rtlCol="0" anchor="ctr">
            <a:normAutofit/>
          </a:bodyPr>
          <a:lstStyle/>
          <a:p>
            <a:pPr algn="ctr" indent="0" marL="0">
              <a:lnSpc>
                <a:spcPts val="1960"/>
              </a:lnSpc>
              <a:buNone/>
            </a:pPr>
            <a:r>
              <a:rPr lang="en-US" sz="1400" dirty="0">
                <a:solidFill>
                  <a:srgbClr val="F7F5EF"/>
                </a:solidFill>
                <a:latin typeface="Courier New" pitchFamily="49" charset="0"/>
                <a:ea typeface="Courier New" pitchFamily="49" charset="-122"/>
                <a:cs typeface="Courier New" pitchFamily="49" charset="-120"/>
              </a:rPr>
              <a:t>pip install numpy pandas matplotlib seaborn scikit-learn</a:t>
            </a:r>
            <a:endParaRPr lang="en-US" sz="1400" dirty="0"/>
          </a:p>
        </p:txBody>
      </p:sp>
      <p:sp>
        <p:nvSpPr>
          <p:cNvPr id="7" name="Text 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6"/>
                </a:solidFill>
                <a:latin typeface="Arial" pitchFamily="34" charset="0"/>
                <a:ea typeface="Arial" pitchFamily="34" charset="-122"/>
                <a:cs typeface="Arial" pitchFamily="34" charset="-120"/>
              </a:rPr>
              <a:t>Introduction to ML · Week 1</a:t>
            </a:r>
            <a:endParaRPr lang="en-US" sz="1200" dirty="0"/>
          </a:p>
        </p:txBody>
      </p:sp>
      <p:sp>
        <p:nvSpPr>
          <p:cNvPr id="8" name="Text 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D6"/>
                </a:solidFill>
                <a:latin typeface="Arial" pitchFamily="34" charset="0"/>
                <a:ea typeface="Arial" pitchFamily="34" charset="-122"/>
                <a:cs typeface="Arial" pitchFamily="34" charset="-120"/>
              </a:rPr>
              <a:t>25 / 37</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1 · 1:00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Python data science foundations and EDA</a:t>
            </a:r>
            <a:endParaRPr lang="en-US" sz="3000" dirty="0"/>
          </a:p>
        </p:txBody>
      </p:sp>
      <p:sp>
        <p:nvSpPr>
          <p:cNvPr id="4" name="Text 2"/>
          <p:cNvSpPr/>
          <p:nvPr/>
        </p:nvSpPr>
        <p:spPr>
          <a:xfrm>
            <a:off x="812800" y="1521420"/>
            <a:ext cx="91567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Objective: build an exploratory data analysis pipeline on a synthetic student performance dataset, compute key statistical summaries and generate plots.</a:t>
            </a:r>
            <a:endParaRPr lang="en-US" sz="1400" dirty="0"/>
          </a:p>
        </p:txBody>
      </p:sp>
      <p:sp>
        <p:nvSpPr>
          <p:cNvPr id="5" name="Shape 3"/>
          <p:cNvSpPr/>
          <p:nvPr/>
        </p:nvSpPr>
        <p:spPr>
          <a:xfrm>
            <a:off x="815975" y="2225477"/>
            <a:ext cx="3380284" cy="2279253"/>
          </a:xfrm>
          <a:prstGeom prst="roundRect">
            <a:avLst>
              <a:gd name="adj" fmla="val 4318"/>
            </a:avLst>
          </a:prstGeom>
          <a:solidFill>
            <a:srgbClr val="FFFDF8"/>
          </a:solidFill>
          <a:ln w="6350">
            <a:solidFill>
              <a:srgbClr val="D9D2BE"/>
            </a:solidFill>
            <a:prstDash val="solid"/>
          </a:ln>
        </p:spPr>
      </p:sp>
      <p:sp>
        <p:nvSpPr>
          <p:cNvPr id="6" name="Text 4"/>
          <p:cNvSpPr/>
          <p:nvPr/>
        </p:nvSpPr>
        <p:spPr>
          <a:xfrm>
            <a:off x="1047750" y="2457252"/>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EXERCISE 1 · 10 MIN</a:t>
            </a:r>
            <a:endParaRPr lang="en-US" sz="1200" dirty="0"/>
          </a:p>
        </p:txBody>
      </p:sp>
      <p:sp>
        <p:nvSpPr>
          <p:cNvPr id="7" name="Text 5"/>
          <p:cNvSpPr/>
          <p:nvPr/>
        </p:nvSpPr>
        <p:spPr>
          <a:xfrm>
            <a:off x="1047750" y="2759472"/>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NumPy vectorization</a:t>
            </a:r>
            <a:endParaRPr lang="en-US" sz="1800" dirty="0"/>
          </a:p>
        </p:txBody>
      </p:sp>
      <p:sp>
        <p:nvSpPr>
          <p:cNvPr id="8" name="Text 6"/>
          <p:cNvSpPr/>
          <p:nvPr/>
        </p:nvSpPr>
        <p:spPr>
          <a:xfrm>
            <a:off x="1047750" y="3122613"/>
            <a:ext cx="300423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Compare a Python loop with array operations on 1,000,000 samples.</a:t>
            </a:r>
            <a:endParaRPr lang="en-US" sz="1400" dirty="0"/>
          </a:p>
        </p:txBody>
      </p:sp>
      <p:sp>
        <p:nvSpPr>
          <p:cNvPr id="9" name="Text 7"/>
          <p:cNvSpPr/>
          <p:nvPr/>
        </p:nvSpPr>
        <p:spPr>
          <a:xfrm>
            <a:off x="1047750" y="3709194"/>
            <a:ext cx="1473498" cy="314920"/>
          </a:xfrm>
          <a:prstGeom prst="roundRect">
            <a:avLst>
              <a:gd name="adj" fmla="val 50000"/>
            </a:avLst>
          </a:prstGeom>
          <a:solidFill>
            <a:srgbClr val="E4EEF2"/>
          </a:solidFill>
          <a:ln/>
        </p:spPr>
        <p:txBody>
          <a:bodyPr wrap="none" lIns="0" tIns="0" rIns="0" bIns="0" rtlCol="0" anchor="ctr">
            <a:normAutofit/>
          </a:bodyPr>
          <a:lstStyle/>
          <a:p>
            <a:pPr algn="ctr" indent="0" marL="0">
              <a:lnSpc>
                <a:spcPts val="1680"/>
              </a:lnSpc>
              <a:buNone/>
            </a:pPr>
            <a:r>
              <a:rPr lang="en-US" sz="1200" b="1" dirty="0">
                <a:solidFill>
                  <a:srgbClr val="0F2A43"/>
                </a:solidFill>
                <a:latin typeface="Arial" pitchFamily="34" charset="0"/>
                <a:ea typeface="Arial" pitchFamily="34" charset="-122"/>
                <a:cs typeface="Arial" pitchFamily="34" charset="-120"/>
              </a:rPr>
              <a:t>25% of the grade</a:t>
            </a:r>
            <a:endParaRPr lang="en-US" sz="1200" dirty="0"/>
          </a:p>
        </p:txBody>
      </p:sp>
      <p:sp>
        <p:nvSpPr>
          <p:cNvPr id="10" name="Shape 8"/>
          <p:cNvSpPr/>
          <p:nvPr/>
        </p:nvSpPr>
        <p:spPr>
          <a:xfrm>
            <a:off x="4405809" y="2225477"/>
            <a:ext cx="3380383" cy="2279253"/>
          </a:xfrm>
          <a:prstGeom prst="roundRect">
            <a:avLst>
              <a:gd name="adj" fmla="val 4318"/>
            </a:avLst>
          </a:prstGeom>
          <a:solidFill>
            <a:srgbClr val="FFFDF8"/>
          </a:solidFill>
          <a:ln w="6350">
            <a:solidFill>
              <a:srgbClr val="D9D2BE"/>
            </a:solidFill>
            <a:prstDash val="solid"/>
          </a:ln>
        </p:spPr>
      </p:sp>
      <p:sp>
        <p:nvSpPr>
          <p:cNvPr id="11" name="Text 9"/>
          <p:cNvSpPr/>
          <p:nvPr/>
        </p:nvSpPr>
        <p:spPr>
          <a:xfrm>
            <a:off x="4637584" y="2457252"/>
            <a:ext cx="300433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EXERCISE 2 · 15 MIN</a:t>
            </a:r>
            <a:endParaRPr lang="en-US" sz="1200" dirty="0"/>
          </a:p>
        </p:txBody>
      </p:sp>
      <p:sp>
        <p:nvSpPr>
          <p:cNvPr id="12" name="Text 10"/>
          <p:cNvSpPr/>
          <p:nvPr/>
        </p:nvSpPr>
        <p:spPr>
          <a:xfrm>
            <a:off x="4637584" y="2759472"/>
            <a:ext cx="300433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Pandas cleaning</a:t>
            </a:r>
            <a:endParaRPr lang="en-US" sz="1800" dirty="0"/>
          </a:p>
        </p:txBody>
      </p:sp>
      <p:sp>
        <p:nvSpPr>
          <p:cNvPr id="13" name="Text 11"/>
          <p:cNvSpPr/>
          <p:nvPr/>
        </p:nvSpPr>
        <p:spPr>
          <a:xfrm>
            <a:off x="4637584" y="3122613"/>
            <a:ext cx="300433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Find missing values in 200 students and impute them with medians.</a:t>
            </a:r>
            <a:endParaRPr lang="en-US" sz="1400" dirty="0"/>
          </a:p>
        </p:txBody>
      </p:sp>
      <p:sp>
        <p:nvSpPr>
          <p:cNvPr id="14" name="Text 12"/>
          <p:cNvSpPr/>
          <p:nvPr/>
        </p:nvSpPr>
        <p:spPr>
          <a:xfrm>
            <a:off x="4637584" y="3709194"/>
            <a:ext cx="1473498" cy="314920"/>
          </a:xfrm>
          <a:prstGeom prst="roundRect">
            <a:avLst>
              <a:gd name="adj" fmla="val 50000"/>
            </a:avLst>
          </a:prstGeom>
          <a:solidFill>
            <a:srgbClr val="E4EEF2"/>
          </a:solidFill>
          <a:ln/>
        </p:spPr>
        <p:txBody>
          <a:bodyPr wrap="none" lIns="0" tIns="0" rIns="0" bIns="0" rtlCol="0" anchor="ctr">
            <a:normAutofit/>
          </a:bodyPr>
          <a:lstStyle/>
          <a:p>
            <a:pPr algn="ctr" indent="0" marL="0">
              <a:lnSpc>
                <a:spcPts val="1680"/>
              </a:lnSpc>
              <a:buNone/>
            </a:pPr>
            <a:r>
              <a:rPr lang="en-US" sz="1200" b="1" dirty="0">
                <a:solidFill>
                  <a:srgbClr val="0F2A43"/>
                </a:solidFill>
                <a:latin typeface="Arial" pitchFamily="34" charset="0"/>
                <a:ea typeface="Arial" pitchFamily="34" charset="-122"/>
                <a:cs typeface="Arial" pitchFamily="34" charset="-120"/>
              </a:rPr>
              <a:t>35% of the grade</a:t>
            </a:r>
            <a:endParaRPr lang="en-US" sz="1200" dirty="0"/>
          </a:p>
        </p:txBody>
      </p:sp>
      <p:sp>
        <p:nvSpPr>
          <p:cNvPr id="15" name="Shape 13"/>
          <p:cNvSpPr/>
          <p:nvPr/>
        </p:nvSpPr>
        <p:spPr>
          <a:xfrm>
            <a:off x="7995741" y="2225477"/>
            <a:ext cx="3380284" cy="2279253"/>
          </a:xfrm>
          <a:prstGeom prst="roundRect">
            <a:avLst>
              <a:gd name="adj" fmla="val 4318"/>
            </a:avLst>
          </a:prstGeom>
          <a:solidFill>
            <a:srgbClr val="FFFDF8"/>
          </a:solidFill>
          <a:ln w="6350">
            <a:solidFill>
              <a:srgbClr val="D9D2BE"/>
            </a:solidFill>
            <a:prstDash val="solid"/>
          </a:ln>
        </p:spPr>
      </p:sp>
      <p:sp>
        <p:nvSpPr>
          <p:cNvPr id="16" name="Text 14"/>
          <p:cNvSpPr/>
          <p:nvPr/>
        </p:nvSpPr>
        <p:spPr>
          <a:xfrm>
            <a:off x="8227516" y="2457252"/>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EXERCISE 3 · 12 MIN</a:t>
            </a:r>
            <a:endParaRPr lang="en-US" sz="1200" dirty="0"/>
          </a:p>
        </p:txBody>
      </p:sp>
      <p:sp>
        <p:nvSpPr>
          <p:cNvPr id="17" name="Text 15"/>
          <p:cNvSpPr/>
          <p:nvPr/>
        </p:nvSpPr>
        <p:spPr>
          <a:xfrm>
            <a:off x="8227516" y="2759472"/>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Features and heatmap</a:t>
            </a:r>
            <a:endParaRPr lang="en-US" sz="1800" dirty="0"/>
          </a:p>
        </p:txBody>
      </p:sp>
      <p:sp>
        <p:nvSpPr>
          <p:cNvPr id="18" name="Text 16"/>
          <p:cNvSpPr/>
          <p:nvPr/>
        </p:nvSpPr>
        <p:spPr>
          <a:xfrm>
            <a:off x="8227516" y="3122613"/>
            <a:ext cx="300423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2A43"/>
                </a:solidFill>
                <a:latin typeface="Arial" pitchFamily="34" charset="0"/>
                <a:ea typeface="Arial" pitchFamily="34" charset="-122"/>
                <a:cs typeface="Arial" pitchFamily="34" charset="-120"/>
              </a:rPr>
              <a:t>Create high_performer, compute correlations and plot a Seaborn heatmap.</a:t>
            </a:r>
            <a:endParaRPr lang="en-US" sz="1400" dirty="0"/>
          </a:p>
        </p:txBody>
      </p:sp>
      <p:sp>
        <p:nvSpPr>
          <p:cNvPr id="19" name="Text 17"/>
          <p:cNvSpPr/>
          <p:nvPr/>
        </p:nvSpPr>
        <p:spPr>
          <a:xfrm>
            <a:off x="8227516" y="3958034"/>
            <a:ext cx="1473498" cy="314920"/>
          </a:xfrm>
          <a:prstGeom prst="roundRect">
            <a:avLst>
              <a:gd name="adj" fmla="val 50000"/>
            </a:avLst>
          </a:prstGeom>
          <a:solidFill>
            <a:srgbClr val="E4EEF2"/>
          </a:solidFill>
          <a:ln/>
        </p:spPr>
        <p:txBody>
          <a:bodyPr wrap="none" lIns="0" tIns="0" rIns="0" bIns="0" rtlCol="0" anchor="ctr">
            <a:normAutofit/>
          </a:bodyPr>
          <a:lstStyle/>
          <a:p>
            <a:pPr algn="ctr" indent="0" marL="0">
              <a:lnSpc>
                <a:spcPts val="1680"/>
              </a:lnSpc>
              <a:buNone/>
            </a:pPr>
            <a:r>
              <a:rPr lang="en-US" sz="1200" b="1" dirty="0">
                <a:solidFill>
                  <a:srgbClr val="0F2A43"/>
                </a:solidFill>
                <a:latin typeface="Arial" pitchFamily="34" charset="0"/>
                <a:ea typeface="Arial" pitchFamily="34" charset="-122"/>
                <a:cs typeface="Arial" pitchFamily="34" charset="-120"/>
              </a:rPr>
              <a:t>30% of the grade</a:t>
            </a:r>
            <a:endParaRPr lang="en-US" sz="1200" dirty="0"/>
          </a:p>
        </p:txBody>
      </p:sp>
      <p:sp>
        <p:nvSpPr>
          <p:cNvPr id="20" name="Text 18"/>
          <p:cNvSpPr/>
          <p:nvPr/>
        </p:nvSpPr>
        <p:spPr>
          <a:xfrm>
            <a:off x="812800" y="471110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The remaining 10% rewards code organization and clear Markdown.</a:t>
            </a:r>
            <a:endParaRPr lang="en-US" sz="1200" dirty="0"/>
          </a:p>
        </p:txBody>
      </p:sp>
      <p:sp>
        <p:nvSpPr>
          <p:cNvPr id="21" name="Text 19"/>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2" name="Text 20"/>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26 / 37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SETUP · 1:00 · 5 MIN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Prerequisites and environment</a:t>
            </a:r>
            <a:endParaRPr lang="en-US" sz="3000" dirty="0"/>
          </a:p>
        </p:txBody>
      </p:sp>
      <p:sp>
        <p:nvSpPr>
          <p:cNvPr id="4" name="Shape 2"/>
          <p:cNvSpPr/>
          <p:nvPr/>
        </p:nvSpPr>
        <p:spPr>
          <a:xfrm>
            <a:off x="815975" y="1575395"/>
            <a:ext cx="4438650" cy="631130"/>
          </a:xfrm>
          <a:prstGeom prst="roundRect">
            <a:avLst>
              <a:gd name="adj" fmla="val 15595"/>
            </a:avLst>
          </a:prstGeom>
          <a:solidFill>
            <a:srgbClr val="FFFDF8"/>
          </a:solidFill>
          <a:ln w="6350">
            <a:solidFill>
              <a:srgbClr val="D9D2BE"/>
            </a:solidFill>
            <a:prstDash val="solid"/>
          </a:ln>
        </p:spPr>
      </p:sp>
      <p:sp>
        <p:nvSpPr>
          <p:cNvPr id="5" name="Text 3"/>
          <p:cNvSpPr/>
          <p:nvPr/>
        </p:nvSpPr>
        <p:spPr>
          <a:xfrm>
            <a:off x="996950" y="1730970"/>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1</a:t>
            </a:r>
            <a:endParaRPr lang="en-US" sz="1800" dirty="0"/>
          </a:p>
        </p:txBody>
      </p:sp>
      <p:sp>
        <p:nvSpPr>
          <p:cNvPr id="6" name="Text 4"/>
          <p:cNvSpPr/>
          <p:nvPr/>
        </p:nvSpPr>
        <p:spPr>
          <a:xfrm>
            <a:off x="1352550" y="1775420"/>
            <a:ext cx="383273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Use Python 3.10 or higher</a:t>
            </a:r>
            <a:endParaRPr lang="en-US" sz="1400" dirty="0"/>
          </a:p>
        </p:txBody>
      </p:sp>
      <p:sp>
        <p:nvSpPr>
          <p:cNvPr id="7" name="Shape 5"/>
          <p:cNvSpPr/>
          <p:nvPr/>
        </p:nvSpPr>
        <p:spPr>
          <a:xfrm>
            <a:off x="815975" y="2339876"/>
            <a:ext cx="4438650" cy="773311"/>
          </a:xfrm>
          <a:prstGeom prst="roundRect">
            <a:avLst>
              <a:gd name="adj" fmla="val 12728"/>
            </a:avLst>
          </a:prstGeom>
          <a:solidFill>
            <a:srgbClr val="FFFDF8"/>
          </a:solidFill>
          <a:ln w="6350">
            <a:solidFill>
              <a:srgbClr val="D9D2BE"/>
            </a:solidFill>
            <a:prstDash val="solid"/>
          </a:ln>
        </p:spPr>
      </p:sp>
      <p:sp>
        <p:nvSpPr>
          <p:cNvPr id="8" name="Text 6"/>
          <p:cNvSpPr/>
          <p:nvPr/>
        </p:nvSpPr>
        <p:spPr>
          <a:xfrm>
            <a:off x="996950" y="2566491"/>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2</a:t>
            </a:r>
            <a:endParaRPr lang="en-US" sz="1800" dirty="0"/>
          </a:p>
        </p:txBody>
      </p:sp>
      <p:sp>
        <p:nvSpPr>
          <p:cNvPr id="9" name="Text 7"/>
          <p:cNvSpPr/>
          <p:nvPr/>
        </p:nvSpPr>
        <p:spPr>
          <a:xfrm>
            <a:off x="1352550" y="2495451"/>
            <a:ext cx="383273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Install the packages with pip (command on the break slide)</a:t>
            </a:r>
            <a:endParaRPr lang="en-US" sz="1400" dirty="0"/>
          </a:p>
        </p:txBody>
      </p:sp>
      <p:sp>
        <p:nvSpPr>
          <p:cNvPr id="10" name="Shape 8"/>
          <p:cNvSpPr/>
          <p:nvPr/>
        </p:nvSpPr>
        <p:spPr>
          <a:xfrm>
            <a:off x="815975" y="3246537"/>
            <a:ext cx="4438650" cy="631130"/>
          </a:xfrm>
          <a:prstGeom prst="roundRect">
            <a:avLst>
              <a:gd name="adj" fmla="val 15595"/>
            </a:avLst>
          </a:prstGeom>
          <a:solidFill>
            <a:srgbClr val="FFFDF8"/>
          </a:solidFill>
          <a:ln w="6350">
            <a:solidFill>
              <a:srgbClr val="D9D2BE"/>
            </a:solidFill>
            <a:prstDash val="solid"/>
          </a:ln>
        </p:spPr>
      </p:sp>
      <p:sp>
        <p:nvSpPr>
          <p:cNvPr id="11" name="Text 9"/>
          <p:cNvSpPr/>
          <p:nvPr/>
        </p:nvSpPr>
        <p:spPr>
          <a:xfrm>
            <a:off x="996950" y="3402112"/>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7C7B"/>
                </a:solidFill>
                <a:latin typeface="Georgia" pitchFamily="18" charset="0"/>
                <a:ea typeface="Georgia" pitchFamily="18" charset="-122"/>
                <a:cs typeface="Georgia" pitchFamily="18" charset="-120"/>
              </a:rPr>
              <a:t>3</a:t>
            </a:r>
            <a:endParaRPr lang="en-US" sz="1800" dirty="0"/>
          </a:p>
        </p:txBody>
      </p:sp>
      <p:sp>
        <p:nvSpPr>
          <p:cNvPr id="12" name="Text 10"/>
          <p:cNvSpPr/>
          <p:nvPr/>
        </p:nvSpPr>
        <p:spPr>
          <a:xfrm>
            <a:off x="1352550" y="3446562"/>
            <a:ext cx="383273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Print the version numbers to verify</a:t>
            </a:r>
            <a:endParaRPr lang="en-US" sz="1400" dirty="0"/>
          </a:p>
        </p:txBody>
      </p:sp>
      <p:sp>
        <p:nvSpPr>
          <p:cNvPr id="13" name="Shape 11"/>
          <p:cNvSpPr/>
          <p:nvPr/>
        </p:nvSpPr>
        <p:spPr>
          <a:xfrm>
            <a:off x="812800" y="4007842"/>
            <a:ext cx="4445000" cy="980281"/>
          </a:xfrm>
          <a:prstGeom prst="roundRect">
            <a:avLst>
              <a:gd name="adj" fmla="val 5182"/>
            </a:avLst>
          </a:prstGeom>
          <a:solidFill>
            <a:srgbClr val="FBF3DC"/>
          </a:solidFill>
          <a:ln/>
        </p:spPr>
      </p:sp>
      <p:sp>
        <p:nvSpPr>
          <p:cNvPr id="14" name="Shape 12"/>
          <p:cNvSpPr/>
          <p:nvPr/>
        </p:nvSpPr>
        <p:spPr>
          <a:xfrm>
            <a:off x="812800" y="4007842"/>
            <a:ext cx="4445000" cy="980281"/>
          </a:xfrm>
          <a:custGeom>
            <a:avLst/>
            <a:gdLst/>
            <a:ahLst/>
            <a:cxnLst/>
            <a:rect l="l" t="t" r="r" b="b"/>
            <a:pathLst>
              <a:path w="4445000" h="980281">
                <a:moveTo>
                  <a:pt x="50800" y="980281"/>
                </a:moveTo>
                <a:lnTo>
                  <a:pt x="50800" y="980281"/>
                </a:lnTo>
                <a:arcTo hR="50800" wR="50800" stAng="5400000" swAng="5400000"/>
                <a:lnTo>
                  <a:pt x="0" y="50800"/>
                </a:lnTo>
                <a:arcTo hR="50800" wR="50800" stAng="10800000" swAng="5400000"/>
                <a:lnTo>
                  <a:pt x="50800" y="0"/>
                </a:lnTo>
                <a:lnTo>
                  <a:pt x="50800" y="980281"/>
                </a:lnTo>
                <a:close/>
              </a:path>
            </a:pathLst>
          </a:custGeom>
          <a:solidFill>
            <a:srgbClr val="E3B54A"/>
          </a:solidFill>
          <a:ln/>
        </p:spPr>
      </p:sp>
      <p:sp>
        <p:nvSpPr>
          <p:cNvPr id="15" name="Text 13"/>
          <p:cNvSpPr/>
          <p:nvPr/>
        </p:nvSpPr>
        <p:spPr>
          <a:xfrm>
            <a:off x="1041400" y="4134842"/>
            <a:ext cx="41597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CHECKPOINT</a:t>
            </a:r>
            <a:endParaRPr lang="en-US" sz="1200" dirty="0"/>
          </a:p>
        </p:txBody>
      </p:sp>
      <p:sp>
        <p:nvSpPr>
          <p:cNvPr id="16" name="Text 14"/>
          <p:cNvSpPr/>
          <p:nvPr/>
        </p:nvSpPr>
        <p:spPr>
          <a:xfrm>
            <a:off x="1041400" y="4398963"/>
            <a:ext cx="4159758"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Raise a hand when every version prints without errors.</a:t>
            </a:r>
            <a:endParaRPr lang="en-US" sz="1400" dirty="0"/>
          </a:p>
        </p:txBody>
      </p:sp>
      <p:sp>
        <p:nvSpPr>
          <p:cNvPr id="17" name="Text 15"/>
          <p:cNvSpPr/>
          <p:nvPr/>
        </p:nvSpPr>
        <p:spPr>
          <a:xfrm>
            <a:off x="5562600" y="1572220"/>
            <a:ext cx="5816600" cy="1732161"/>
          </a:xfrm>
          <a:prstGeom prst="roundRect">
            <a:avLst>
              <a:gd name="adj" fmla="val 5866"/>
            </a:avLst>
          </a:prstGeom>
          <a:solidFill>
            <a:srgbClr val="0F2A43"/>
          </a:solidFill>
          <a:ln/>
        </p:spPr>
        <p:txBody>
          <a:bodyPr wrap="square" lIns="173442" tIns="173442" rIns="11136" bIns="148042" rtlCol="0" anchor="t">
            <a:normAutofit/>
          </a:bodyPr>
          <a:lstStyle/>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import sys, numpy, pandas, matplotlib, seaborn, sklearn</a:t>
            </a:r>
            <a:endParaRPr lang="en-US" sz="1200" dirty="0"/>
          </a:p>
          <a:p>
            <a:pPr algn="l" indent="0" marL="0">
              <a:lnSpc>
                <a:spcPts val="1740"/>
              </a:lnSpc>
              <a:buNone/>
            </a:pP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print(sys.version)</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print(numpy.__version__, pandas.__version__)</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print(matplotlib.__version__, seaborn.__version__)</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print(sklearn.__version__)</a:t>
            </a:r>
            <a:endParaRPr lang="en-US" sz="1200" dirty="0"/>
          </a:p>
        </p:txBody>
      </p:sp>
      <p:sp>
        <p:nvSpPr>
          <p:cNvPr id="18" name="Text 16"/>
          <p:cNvSpPr/>
          <p:nvPr/>
        </p:nvSpPr>
        <p:spPr>
          <a:xfrm>
            <a:off x="5562600" y="340598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PyTorch is not needed for Lab 1.</a:t>
            </a:r>
            <a:endParaRPr lang="en-US" sz="12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27 / 37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EXERCISE 1 · 1:05 · 10 MIN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NumPy vectorization vs. loops</a:t>
            </a:r>
            <a:endParaRPr lang="en-US" sz="3000" dirty="0"/>
          </a:p>
        </p:txBody>
      </p:sp>
      <p:sp>
        <p:nvSpPr>
          <p:cNvPr id="4" name="Text 2"/>
          <p:cNvSpPr/>
          <p:nvPr/>
        </p:nvSpPr>
        <p:spPr>
          <a:xfrm>
            <a:off x="812800" y="1572220"/>
            <a:ext cx="6858000" cy="2616002"/>
          </a:xfrm>
          <a:prstGeom prst="roundRect">
            <a:avLst>
              <a:gd name="adj" fmla="val 3884"/>
            </a:avLst>
          </a:prstGeom>
          <a:solidFill>
            <a:srgbClr val="0F2A43"/>
          </a:solidFill>
          <a:ln/>
        </p:spPr>
        <p:txBody>
          <a:bodyPr wrap="square" lIns="173442" tIns="173442" rIns="0" bIns="148042" rtlCol="0" anchor="t">
            <a:normAutofit/>
          </a:bodyPr>
          <a:lstStyle/>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N = 1_000_000</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y_true = np.random.rand(N)</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y_pred = np.random.rand(N)</a:t>
            </a:r>
            <a:endParaRPr lang="en-US" sz="1200" dirty="0"/>
          </a:p>
          <a:p>
            <a:pPr algn="l" indent="0" marL="0">
              <a:lnSpc>
                <a:spcPts val="1740"/>
              </a:lnSpc>
              <a:buNone/>
            </a:pPr>
            <a:endParaRPr lang="en-US" sz="1200" dirty="0"/>
          </a:p>
          <a:p>
            <a:pPr algn="l" indent="0" marL="0">
              <a:lnSpc>
                <a:spcPts val="1740"/>
              </a:lnSpc>
              <a:buNone/>
            </a:pPr>
            <a:r>
              <a:rPr lang="en-US" sz="1200" dirty="0">
                <a:solidFill>
                  <a:srgbClr val="7FD1C7"/>
                </a:solidFill>
                <a:latin typeface="Courier New" pitchFamily="49" charset="0"/>
                <a:ea typeface="Courier New" pitchFamily="49" charset="-122"/>
                <a:cs typeface="Courier New" pitchFamily="49" charset="-120"/>
              </a:rPr>
              <a:t># 1) pure Python loop (time it with time.time())</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python_mse = sum((t - p) ** 2 for t, p in zip(y_true, y_pred)) / N</a:t>
            </a:r>
            <a:endParaRPr lang="en-US" sz="1200" dirty="0"/>
          </a:p>
          <a:p>
            <a:pPr algn="l" indent="0" marL="0">
              <a:lnSpc>
                <a:spcPts val="1740"/>
              </a:lnSpc>
              <a:buNone/>
            </a:pPr>
            <a:r>
              <a:rPr lang="en-US" sz="1200" dirty="0">
                <a:solidFill>
                  <a:srgbClr val="7FD1C7"/>
                </a:solidFill>
                <a:latin typeface="Courier New" pitchFamily="49" charset="0"/>
                <a:ea typeface="Courier New" pitchFamily="49" charset="-122"/>
                <a:cs typeface="Courier New" pitchFamily="49" charset="-120"/>
              </a:rPr>
              <a:t># 2) vectorized NumPy (time it the same way)</a:t>
            </a: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numpy_mse = np.mean((y_true - y_pred) ** 2)</a:t>
            </a:r>
            <a:endParaRPr lang="en-US" sz="1200" dirty="0"/>
          </a:p>
          <a:p>
            <a:pPr algn="l" indent="0" marL="0">
              <a:lnSpc>
                <a:spcPts val="1740"/>
              </a:lnSpc>
              <a:buNone/>
            </a:pPr>
            <a:endParaRPr lang="en-US" sz="1200" dirty="0"/>
          </a:p>
          <a:p>
            <a:pPr algn="l" indent="0" marL="0">
              <a:lnSpc>
                <a:spcPts val="1740"/>
              </a:lnSpc>
              <a:buNone/>
            </a:pPr>
            <a:r>
              <a:rPr lang="en-US" sz="1200" dirty="0">
                <a:solidFill>
                  <a:srgbClr val="E8EEF4"/>
                </a:solidFill>
                <a:latin typeface="Courier New" pitchFamily="49" charset="0"/>
                <a:ea typeface="Courier New" pitchFamily="49" charset="-122"/>
                <a:cs typeface="Courier New" pitchFamily="49" charset="-120"/>
              </a:rPr>
              <a:t>speedup = python_duration / numpy_duration</a:t>
            </a:r>
            <a:endParaRPr lang="en-US" sz="1200" dirty="0"/>
          </a:p>
        </p:txBody>
      </p:sp>
      <p:sp>
        <p:nvSpPr>
          <p:cNvPr id="5" name="Shape 3"/>
          <p:cNvSpPr/>
          <p:nvPr/>
        </p:nvSpPr>
        <p:spPr>
          <a:xfrm>
            <a:off x="7975600" y="1572220"/>
            <a:ext cx="3403600" cy="980281"/>
          </a:xfrm>
          <a:prstGeom prst="roundRect">
            <a:avLst>
              <a:gd name="adj" fmla="val 5182"/>
            </a:avLst>
          </a:prstGeom>
          <a:solidFill>
            <a:srgbClr val="FBF3DC"/>
          </a:solidFill>
          <a:ln/>
        </p:spPr>
      </p:sp>
      <p:sp>
        <p:nvSpPr>
          <p:cNvPr id="6" name="Shape 4"/>
          <p:cNvSpPr/>
          <p:nvPr/>
        </p:nvSpPr>
        <p:spPr>
          <a:xfrm>
            <a:off x="7975600" y="1572220"/>
            <a:ext cx="3403600" cy="980281"/>
          </a:xfrm>
          <a:custGeom>
            <a:avLst/>
            <a:gdLst/>
            <a:ahLst/>
            <a:cxnLst/>
            <a:rect l="l" t="t" r="r" b="b"/>
            <a:pathLst>
              <a:path w="3403600" h="980281">
                <a:moveTo>
                  <a:pt x="50800" y="980281"/>
                </a:moveTo>
                <a:lnTo>
                  <a:pt x="50800" y="980281"/>
                </a:lnTo>
                <a:arcTo hR="50800" wR="50800" stAng="5400000" swAng="5400000"/>
                <a:lnTo>
                  <a:pt x="0" y="50800"/>
                </a:lnTo>
                <a:arcTo hR="50800" wR="50800" stAng="10800000" swAng="5400000"/>
                <a:lnTo>
                  <a:pt x="50800" y="0"/>
                </a:lnTo>
                <a:lnTo>
                  <a:pt x="50800" y="980281"/>
                </a:lnTo>
                <a:close/>
              </a:path>
            </a:pathLst>
          </a:custGeom>
          <a:solidFill>
            <a:srgbClr val="E3B54A"/>
          </a:solidFill>
          <a:ln/>
        </p:spPr>
      </p:sp>
      <p:sp>
        <p:nvSpPr>
          <p:cNvPr id="7" name="Text 5"/>
          <p:cNvSpPr/>
          <p:nvPr/>
        </p:nvSpPr>
        <p:spPr>
          <a:xfrm>
            <a:off x="8204200" y="1699220"/>
            <a:ext cx="308711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PREDICT FIRST · 1 MIN</a:t>
            </a:r>
            <a:endParaRPr lang="en-US" sz="1200" dirty="0"/>
          </a:p>
        </p:txBody>
      </p:sp>
      <p:sp>
        <p:nvSpPr>
          <p:cNvPr id="8" name="Text 6"/>
          <p:cNvSpPr/>
          <p:nvPr/>
        </p:nvSpPr>
        <p:spPr>
          <a:xfrm>
            <a:off x="8204200" y="1963341"/>
            <a:ext cx="3087116"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How many times faster will NumPy be: 2×, 10× or 100×?</a:t>
            </a:r>
            <a:endParaRPr lang="en-US" sz="1400" dirty="0"/>
          </a:p>
        </p:txBody>
      </p:sp>
      <p:sp>
        <p:nvSpPr>
          <p:cNvPr id="9" name="Shape 7"/>
          <p:cNvSpPr/>
          <p:nvPr/>
        </p:nvSpPr>
        <p:spPr>
          <a:xfrm>
            <a:off x="7978775" y="2708077"/>
            <a:ext cx="3397250" cy="1730673"/>
          </a:xfrm>
          <a:prstGeom prst="roundRect">
            <a:avLst>
              <a:gd name="adj" fmla="val 5687"/>
            </a:avLst>
          </a:prstGeom>
          <a:solidFill>
            <a:srgbClr val="FFFDF8"/>
          </a:solidFill>
          <a:ln w="6350">
            <a:solidFill>
              <a:srgbClr val="D9D2BE"/>
            </a:solidFill>
            <a:prstDash val="solid"/>
          </a:ln>
        </p:spPr>
      </p:sp>
      <p:sp>
        <p:nvSpPr>
          <p:cNvPr id="10" name="Text 8"/>
          <p:cNvSpPr/>
          <p:nvPr/>
        </p:nvSpPr>
        <p:spPr>
          <a:xfrm>
            <a:off x="8159750" y="2863652"/>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RECORD YOUR RESULT</a:t>
            </a:r>
            <a:endParaRPr lang="en-US" sz="1200" dirty="0"/>
          </a:p>
        </p:txBody>
      </p:sp>
      <p:sp>
        <p:nvSpPr>
          <p:cNvPr id="11" name="Text 9"/>
          <p:cNvSpPr/>
          <p:nvPr/>
        </p:nvSpPr>
        <p:spPr>
          <a:xfrm>
            <a:off x="8159750" y="3127772"/>
            <a:ext cx="3126359" cy="1180802"/>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The lab page expects 50–100×, but the gap depends on your machine (a quick test run gave about 4×). Both MSE values should match, near 1/6 ≈ 0.167.</a:t>
            </a:r>
            <a:endParaRPr lang="en-US" sz="1400" dirty="0"/>
          </a:p>
        </p:txBody>
      </p:sp>
      <p:sp>
        <p:nvSpPr>
          <p:cNvPr id="12" name="Text 10"/>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3" name="Text 11"/>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28 / 37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EXERCISE 2A · 1:15 · 7 MIN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Build and inspect the dataset</a:t>
            </a:r>
            <a:endParaRPr lang="en-US" sz="3000" dirty="0"/>
          </a:p>
        </p:txBody>
      </p:sp>
      <p:sp>
        <p:nvSpPr>
          <p:cNvPr id="4" name="Text 2"/>
          <p:cNvSpPr/>
          <p:nvPr/>
        </p:nvSpPr>
        <p:spPr>
          <a:xfrm>
            <a:off x="812800" y="1521420"/>
            <a:ext cx="6731000" cy="3606205"/>
          </a:xfrm>
          <a:prstGeom prst="roundRect">
            <a:avLst>
              <a:gd name="adj" fmla="val 2817"/>
            </a:avLst>
          </a:prstGeom>
          <a:solidFill>
            <a:srgbClr val="0F2A43"/>
          </a:solidFill>
          <a:ln/>
        </p:spPr>
        <p:txBody>
          <a:bodyPr wrap="square" lIns="173442" tIns="173442" rIns="0" bIns="148042" rtlCol="0" anchor="t">
            <a:normAutofit/>
          </a:bodyPr>
          <a:lstStyle/>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np.random.seed(42)</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n_students = 200</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data = {</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"student_id": [f"STU_{i:03d}" for i in range(1, n_students + 1)],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"study_hours": np.random.normal(15, 4, n_students).round(1),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"attendance_pct": np.random.uniform(60, 100, n_students).round(1),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"exam_score": np.random.normal(75, 12, n_students).round(1),</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 = pd.DataFrame(data)</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mask_study = np.random.rand(n_students) &lt; 0.08</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mask_exam = np.random.rand(n_students) &lt; 0.05</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df.loc[mask_study, "study_hours"] = np.nan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df.loc[mask_exam, "exam_score"] = np.nan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print(df.isnull().sum())</a:t>
            </a:r>
            <a:endParaRPr lang="en-US" sz="1200" dirty="0"/>
          </a:p>
        </p:txBody>
      </p:sp>
      <p:sp>
        <p:nvSpPr>
          <p:cNvPr id="5" name="Shape 3"/>
          <p:cNvSpPr/>
          <p:nvPr/>
        </p:nvSpPr>
        <p:spPr>
          <a:xfrm>
            <a:off x="7851775" y="1524595"/>
            <a:ext cx="3524250" cy="3599855"/>
          </a:xfrm>
          <a:prstGeom prst="roundRect">
            <a:avLst>
              <a:gd name="adj" fmla="val 2793"/>
            </a:avLst>
          </a:prstGeom>
          <a:solidFill>
            <a:srgbClr val="FFFDF8"/>
          </a:solidFill>
          <a:ln w="6350">
            <a:solidFill>
              <a:srgbClr val="D9D2BE"/>
            </a:solidFill>
            <a:prstDash val="solid"/>
          </a:ln>
        </p:spPr>
      </p:sp>
      <p:sp>
        <p:nvSpPr>
          <p:cNvPr id="6" name="Text 4"/>
          <p:cNvSpPr/>
          <p:nvPr/>
        </p:nvSpPr>
        <p:spPr>
          <a:xfrm>
            <a:off x="8058150" y="1705570"/>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MISSING VALUES (SEED 42)</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70850" y="2033191"/>
          <a:ext cx="3098800" cy="1929805"/>
        </p:xfrm>
        <a:graphic>
          <a:graphicData uri="http://schemas.openxmlformats.org/drawingml/2006/table">
            <a:tbl>
              <a:tblPr/>
              <a:tblGrid>
                <a:gridCol w="2231136"/>
                <a:gridCol w="867664"/>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Column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960"/>
                        </a:lnSpc>
                        <a:buNone/>
                      </a:pPr>
                      <a:r>
                        <a:rPr lang="en-US" sz="1400" b="1" dirty="0">
                          <a:solidFill>
                            <a:srgbClr val="0F2A43"/>
                          </a:solidFill>
                          <a:latin typeface="Arial" pitchFamily="34" charset="0"/>
                          <a:ea typeface="Arial" pitchFamily="34" charset="-122"/>
                          <a:cs typeface="Arial" pitchFamily="34" charset="-120"/>
                        </a:rPr>
                        <a:t>NaN</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student_id</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study_hours</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14</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attendance_pct</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exam_score</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058150" y="4064595"/>
            <a:ext cx="320484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NaNs are injected at random with probabilities 8% and 5%.</a:t>
            </a:r>
            <a:endParaRPr lang="en-US" sz="1200" dirty="0"/>
          </a:p>
        </p:txBody>
      </p:sp>
      <p:sp>
        <p:nvSpPr>
          <p:cNvPr id="9" name="Text 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0" name="Text 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29 / 37</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EXERCISE 2B · 1:22 · 8 MIN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Impute missing values with the median</a:t>
            </a:r>
            <a:endParaRPr lang="en-US" sz="3000" dirty="0"/>
          </a:p>
        </p:txBody>
      </p:sp>
      <p:sp>
        <p:nvSpPr>
          <p:cNvPr id="4" name="Text 2"/>
          <p:cNvSpPr/>
          <p:nvPr/>
        </p:nvSpPr>
        <p:spPr>
          <a:xfrm>
            <a:off x="812800" y="1572220"/>
            <a:ext cx="6350000" cy="2326283"/>
          </a:xfrm>
          <a:prstGeom prst="roundRect">
            <a:avLst>
              <a:gd name="adj" fmla="val 4367"/>
            </a:avLst>
          </a:prstGeom>
          <a:solidFill>
            <a:srgbClr val="0F2A43"/>
          </a:solidFill>
          <a:ln/>
        </p:spPr>
        <p:txBody>
          <a:bodyPr wrap="square" lIns="173442" tIns="173442" rIns="0" bIns="148042" rtlCol="0" anchor="t">
            <a:normAutofit/>
          </a:bodyPr>
          <a:lstStyle/>
          <a:p>
            <a:pPr algn="l" indent="0" marL="0">
              <a:lnSpc>
                <a:spcPts val="1680"/>
              </a:lnSpc>
              <a:buNone/>
            </a:pPr>
            <a:r>
              <a:rPr lang="en-US" sz="1200" dirty="0">
                <a:solidFill>
                  <a:srgbClr val="7FD1C7"/>
                </a:solidFill>
                <a:latin typeface="Courier New" pitchFamily="49" charset="0"/>
                <a:ea typeface="Courier New" pitchFamily="49" charset="-122"/>
                <a:cs typeface="Courier New" pitchFamily="49" charset="-120"/>
              </a:rPr>
              <a:t># Impute missing study_hours with the median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study_median = df["study_hours"].median()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df["study_hours"] = df["study_hours"].fillna(study_median)</a:t>
            </a:r>
            <a:endParaRPr lang="en-US" sz="1200" dirty="0"/>
          </a:p>
          <a:p>
            <a:pPr algn="l" indent="0" marL="0">
              <a:lnSpc>
                <a:spcPts val="1680"/>
              </a:lnSpc>
              <a:buNone/>
            </a:pPr>
            <a:endParaRPr lang="en-US" sz="1200" dirty="0"/>
          </a:p>
          <a:p>
            <a:pPr algn="l" indent="0" marL="0">
              <a:lnSpc>
                <a:spcPts val="1680"/>
              </a:lnSpc>
              <a:buNone/>
            </a:pPr>
            <a:r>
              <a:rPr lang="en-US" sz="1200" dirty="0">
                <a:solidFill>
                  <a:srgbClr val="7FD1C7"/>
                </a:solidFill>
                <a:latin typeface="Courier New" pitchFamily="49" charset="0"/>
                <a:ea typeface="Courier New" pitchFamily="49" charset="-122"/>
                <a:cs typeface="Courier New" pitchFamily="49" charset="-120"/>
              </a:rPr>
              <a:t># Impute missing exam_score with the median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exam_median = df["exam_score"].median()</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df["exam_score"] = df["exam_score"].fillna(exam_median)</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print(df.isnull().sum())</a:t>
            </a:r>
            <a:endParaRPr lang="en-US" sz="1200" dirty="0"/>
          </a:p>
        </p:txBody>
      </p:sp>
      <p:sp>
        <p:nvSpPr>
          <p:cNvPr id="5" name="Shape 3"/>
          <p:cNvSpPr/>
          <p:nvPr/>
        </p:nvSpPr>
        <p:spPr>
          <a:xfrm>
            <a:off x="812800" y="4050903"/>
            <a:ext cx="6350000" cy="749201"/>
          </a:xfrm>
          <a:prstGeom prst="roundRect">
            <a:avLst>
              <a:gd name="adj" fmla="val 6781"/>
            </a:avLst>
          </a:prstGeom>
          <a:solidFill>
            <a:srgbClr val="FBF3DC"/>
          </a:solidFill>
          <a:ln/>
        </p:spPr>
      </p:sp>
      <p:sp>
        <p:nvSpPr>
          <p:cNvPr id="6" name="Shape 4"/>
          <p:cNvSpPr/>
          <p:nvPr/>
        </p:nvSpPr>
        <p:spPr>
          <a:xfrm>
            <a:off x="812800" y="4050903"/>
            <a:ext cx="6350000" cy="749201"/>
          </a:xfrm>
          <a:custGeom>
            <a:avLst/>
            <a:gdLst/>
            <a:ahLst/>
            <a:cxnLst/>
            <a:rect l="l" t="t" r="r" b="b"/>
            <a:pathLst>
              <a:path w="6350000" h="749201">
                <a:moveTo>
                  <a:pt x="50800" y="749201"/>
                </a:moveTo>
                <a:lnTo>
                  <a:pt x="50800" y="749201"/>
                </a:lnTo>
                <a:arcTo hR="50800" wR="50800" stAng="5400000" swAng="5400000"/>
                <a:lnTo>
                  <a:pt x="0" y="50800"/>
                </a:lnTo>
                <a:arcTo hR="50800" wR="50800" stAng="10800000" swAng="5400000"/>
                <a:lnTo>
                  <a:pt x="50800" y="0"/>
                </a:lnTo>
                <a:lnTo>
                  <a:pt x="50800" y="749201"/>
                </a:lnTo>
                <a:close/>
              </a:path>
            </a:pathLst>
          </a:custGeom>
          <a:solidFill>
            <a:srgbClr val="E3B54A"/>
          </a:solidFill>
          <a:ln/>
        </p:spPr>
      </p:sp>
      <p:sp>
        <p:nvSpPr>
          <p:cNvPr id="7" name="Text 5"/>
          <p:cNvSpPr/>
          <p:nvPr/>
        </p:nvSpPr>
        <p:spPr>
          <a:xfrm>
            <a:off x="1041400" y="4177903"/>
            <a:ext cx="61219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PREDICT FIRST · 1 MIN</a:t>
            </a:r>
            <a:endParaRPr lang="en-US" sz="1200" dirty="0"/>
          </a:p>
        </p:txBody>
      </p:sp>
      <p:sp>
        <p:nvSpPr>
          <p:cNvPr id="8" name="Text 6"/>
          <p:cNvSpPr/>
          <p:nvPr/>
        </p:nvSpPr>
        <p:spPr>
          <a:xfrm>
            <a:off x="1041400" y="4442023"/>
            <a:ext cx="6121908"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What will df.isnull().sum() print after imputation?</a:t>
            </a:r>
            <a:endParaRPr lang="en-US" sz="1400" dirty="0"/>
          </a:p>
        </p:txBody>
      </p:sp>
      <p:sp>
        <p:nvSpPr>
          <p:cNvPr id="9" name="Shape 7"/>
          <p:cNvSpPr/>
          <p:nvPr/>
        </p:nvSpPr>
        <p:spPr>
          <a:xfrm>
            <a:off x="7470775" y="1575395"/>
            <a:ext cx="3905250" cy="1281212"/>
          </a:xfrm>
          <a:prstGeom prst="roundRect">
            <a:avLst>
              <a:gd name="adj" fmla="val 7682"/>
            </a:avLst>
          </a:prstGeom>
          <a:solidFill>
            <a:srgbClr val="FFFDF8"/>
          </a:solidFill>
          <a:ln w="6350">
            <a:solidFill>
              <a:srgbClr val="D9D2BE"/>
            </a:solidFill>
            <a:prstDash val="solid"/>
          </a:ln>
        </p:spPr>
      </p:sp>
      <p:sp>
        <p:nvSpPr>
          <p:cNvPr id="10" name="Text 8"/>
          <p:cNvSpPr/>
          <p:nvPr/>
        </p:nvSpPr>
        <p:spPr>
          <a:xfrm>
            <a:off x="7651750" y="1730970"/>
            <a:ext cx="36495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BEST PRACTICE</a:t>
            </a:r>
            <a:endParaRPr lang="en-US" sz="1200" dirty="0"/>
          </a:p>
        </p:txBody>
      </p:sp>
      <p:sp>
        <p:nvSpPr>
          <p:cNvPr id="11" name="Text 9"/>
          <p:cNvSpPr/>
          <p:nvPr/>
        </p:nvSpPr>
        <p:spPr>
          <a:xfrm>
            <a:off x="7651750" y="2007791"/>
            <a:ext cx="3649599"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For skewed features prefer the median. The values 10, 11, 12, 13, 100 have mean 29.2 but median 12.</a:t>
            </a:r>
            <a:endParaRPr lang="en-US" sz="1400" dirty="0"/>
          </a:p>
        </p:txBody>
      </p:sp>
      <p:sp>
        <p:nvSpPr>
          <p:cNvPr id="12" name="Shape 10"/>
          <p:cNvSpPr/>
          <p:nvPr/>
        </p:nvSpPr>
        <p:spPr>
          <a:xfrm>
            <a:off x="7470775" y="3015357"/>
            <a:ext cx="3905250" cy="1281212"/>
          </a:xfrm>
          <a:prstGeom prst="roundRect">
            <a:avLst>
              <a:gd name="adj" fmla="val 7682"/>
            </a:avLst>
          </a:prstGeom>
          <a:solidFill>
            <a:srgbClr val="FFFDF8"/>
          </a:solidFill>
          <a:ln w="6350">
            <a:solidFill>
              <a:srgbClr val="D9D2BE"/>
            </a:solidFill>
            <a:prstDash val="solid"/>
          </a:ln>
        </p:spPr>
      </p:sp>
      <p:sp>
        <p:nvSpPr>
          <p:cNvPr id="13" name="Text 11"/>
          <p:cNvSpPr/>
          <p:nvPr/>
        </p:nvSpPr>
        <p:spPr>
          <a:xfrm>
            <a:off x="7651750" y="3170932"/>
            <a:ext cx="36495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OUR RUN</a:t>
            </a:r>
            <a:endParaRPr lang="en-US" sz="1200" dirty="0"/>
          </a:p>
        </p:txBody>
      </p:sp>
      <p:sp>
        <p:nvSpPr>
          <p:cNvPr id="14" name="Text 12"/>
          <p:cNvSpPr/>
          <p:nvPr/>
        </p:nvSpPr>
        <p:spPr>
          <a:xfrm>
            <a:off x="7651750" y="3447752"/>
            <a:ext cx="3649599"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Median study_hours is 14.8 and median exam_score is 73.9. Afterwards every missing count is 0.</a:t>
            </a:r>
            <a:endParaRPr lang="en-US" sz="1400" dirty="0"/>
          </a:p>
        </p:txBody>
      </p:sp>
      <p:sp>
        <p:nvSpPr>
          <p:cNvPr id="15" name="Text 13"/>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6" name="Text 14"/>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30 / 37</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EXERCISE 3 · 1:30 · 12 MIN</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Feature engineering and heatmap</a:t>
            </a:r>
            <a:endParaRPr lang="en-US" sz="3000" dirty="0"/>
          </a:p>
        </p:txBody>
      </p:sp>
      <p:sp>
        <p:nvSpPr>
          <p:cNvPr id="4" name="Text 2"/>
          <p:cNvSpPr/>
          <p:nvPr/>
        </p:nvSpPr>
        <p:spPr>
          <a:xfrm>
            <a:off x="812800" y="1572220"/>
            <a:ext cx="5842000" cy="2539603"/>
          </a:xfrm>
          <a:prstGeom prst="roundRect">
            <a:avLst>
              <a:gd name="adj" fmla="val 4001"/>
            </a:avLst>
          </a:prstGeom>
          <a:solidFill>
            <a:srgbClr val="0F2A43"/>
          </a:solidFill>
          <a:ln/>
        </p:spPr>
        <p:txBody>
          <a:bodyPr wrap="square" lIns="173442" tIns="173442" rIns="10374" bIns="148042" rtlCol="0" anchor="t">
            <a:normAutofit/>
          </a:bodyPr>
          <a:lstStyle/>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df["high_performer"] = (df["exam_score"] &gt;= 80).astype(int)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corr_matrix = df[["study_hours", "attendance_pct",</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"exam_score", "high_performer"]].corr()</a:t>
            </a:r>
            <a:endParaRPr lang="en-US" sz="1200" dirty="0"/>
          </a:p>
          <a:p>
            <a:pPr algn="l" indent="0" marL="0">
              <a:lnSpc>
                <a:spcPts val="1680"/>
              </a:lnSpc>
              <a:buNone/>
            </a:pP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plt.figure(figsize=(8, 6))</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sns.heatmap(corr_matrix, annot=True, cmap="Blues",</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            fmt=".2f", linewidths=0.5)</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plt.title("Feature Correlation Heatmap")</a:t>
            </a:r>
            <a:endParaRPr lang="en-US" sz="1200" dirty="0"/>
          </a:p>
          <a:p>
            <a:pPr algn="l" indent="0" marL="0">
              <a:lnSpc>
                <a:spcPts val="1680"/>
              </a:lnSpc>
              <a:buNone/>
            </a:pPr>
            <a:r>
              <a:rPr lang="en-US" sz="1200" dirty="0">
                <a:solidFill>
                  <a:srgbClr val="E8EEF4"/>
                </a:solidFill>
                <a:latin typeface="Courier New" pitchFamily="49" charset="0"/>
                <a:ea typeface="Courier New" pitchFamily="49" charset="-122"/>
                <a:cs typeface="Courier New" pitchFamily="49" charset="-120"/>
              </a:rPr>
              <a:t>plt.show()</a:t>
            </a:r>
            <a:endParaRPr lang="en-US" sz="1200" dirty="0"/>
          </a:p>
        </p:txBody>
      </p:sp>
      <p:sp>
        <p:nvSpPr>
          <p:cNvPr id="5" name="Shape 3"/>
          <p:cNvSpPr/>
          <p:nvPr/>
        </p:nvSpPr>
        <p:spPr>
          <a:xfrm>
            <a:off x="812800" y="4264223"/>
            <a:ext cx="5842000" cy="1211362"/>
          </a:xfrm>
          <a:prstGeom prst="roundRect">
            <a:avLst>
              <a:gd name="adj" fmla="val 4194"/>
            </a:avLst>
          </a:prstGeom>
          <a:solidFill>
            <a:srgbClr val="FBF3DC"/>
          </a:solidFill>
          <a:ln/>
        </p:spPr>
      </p:sp>
      <p:sp>
        <p:nvSpPr>
          <p:cNvPr id="6" name="Shape 4"/>
          <p:cNvSpPr/>
          <p:nvPr/>
        </p:nvSpPr>
        <p:spPr>
          <a:xfrm>
            <a:off x="812800" y="4264223"/>
            <a:ext cx="5842000" cy="1211362"/>
          </a:xfrm>
          <a:custGeom>
            <a:avLst/>
            <a:gdLst/>
            <a:ahLst/>
            <a:cxnLst/>
            <a:rect l="l" t="t" r="r" b="b"/>
            <a:pathLst>
              <a:path w="5842000" h="1211362">
                <a:moveTo>
                  <a:pt x="50800" y="1211362"/>
                </a:moveTo>
                <a:lnTo>
                  <a:pt x="50800" y="1211362"/>
                </a:lnTo>
                <a:arcTo hR="50800" wR="50800" stAng="5400000" swAng="5400000"/>
                <a:lnTo>
                  <a:pt x="0" y="50800"/>
                </a:lnTo>
                <a:arcTo hR="50800" wR="50800" stAng="10800000" swAng="5400000"/>
                <a:lnTo>
                  <a:pt x="50800" y="0"/>
                </a:lnTo>
                <a:lnTo>
                  <a:pt x="50800" y="1211362"/>
                </a:lnTo>
                <a:close/>
              </a:path>
            </a:pathLst>
          </a:custGeom>
          <a:solidFill>
            <a:srgbClr val="E3B54A"/>
          </a:solidFill>
          <a:ln/>
        </p:spPr>
      </p:sp>
      <p:sp>
        <p:nvSpPr>
          <p:cNvPr id="7" name="Text 5"/>
          <p:cNvSpPr/>
          <p:nvPr/>
        </p:nvSpPr>
        <p:spPr>
          <a:xfrm>
            <a:off x="1041400" y="4391223"/>
            <a:ext cx="55986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4E00"/>
                </a:solidFill>
                <a:latin typeface="Arial" pitchFamily="34" charset="0"/>
                <a:ea typeface="Arial" pitchFamily="34" charset="-122"/>
                <a:cs typeface="Arial" pitchFamily="34" charset="-120"/>
              </a:rPr>
              <a:t>DISCUSS · 3 MIN</a:t>
            </a:r>
            <a:endParaRPr lang="en-US" sz="1200" dirty="0"/>
          </a:p>
        </p:txBody>
      </p:sp>
      <p:sp>
        <p:nvSpPr>
          <p:cNvPr id="8" name="Text 6"/>
          <p:cNvSpPr/>
          <p:nvPr/>
        </p:nvSpPr>
        <p:spPr>
          <a:xfrm>
            <a:off x="1041400" y="4655344"/>
            <a:ext cx="5598668"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The lab page expects strong positive correlations for study_hours and attendance_pct. These columns were generated independently. What do you see?</a:t>
            </a:r>
            <a:endParaRPr lang="en-US" sz="1400" dirty="0"/>
          </a:p>
        </p:txBody>
      </p:sp>
      <p:sp>
        <p:nvSpPr>
          <p:cNvPr id="9" name="Shape 7"/>
          <p:cNvSpPr/>
          <p:nvPr/>
        </p:nvSpPr>
        <p:spPr>
          <a:xfrm>
            <a:off x="6962775" y="1575395"/>
            <a:ext cx="4413250" cy="3195638"/>
          </a:xfrm>
          <a:prstGeom prst="roundRect">
            <a:avLst>
              <a:gd name="adj" fmla="val 3080"/>
            </a:avLst>
          </a:prstGeom>
          <a:solidFill>
            <a:srgbClr val="FFFDF8"/>
          </a:solidFill>
          <a:ln w="6350">
            <a:solidFill>
              <a:srgbClr val="D9D2BE"/>
            </a:solidFill>
            <a:prstDash val="solid"/>
          </a:ln>
        </p:spPr>
      </p:sp>
      <p:sp>
        <p:nvSpPr>
          <p:cNvPr id="10" name="Text 8"/>
          <p:cNvSpPr/>
          <p:nvPr/>
        </p:nvSpPr>
        <p:spPr>
          <a:xfrm>
            <a:off x="7169150" y="1756370"/>
            <a:ext cx="41205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CORRELATIONS IN OUR RUN (SEED 42)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181850" y="2083991"/>
          <a:ext cx="3987800" cy="1662906"/>
        </p:xfrm>
        <a:graphic>
          <a:graphicData uri="http://schemas.openxmlformats.org/drawingml/2006/table">
            <a:tbl>
              <a:tblPr/>
              <a:tblGrid>
                <a:gridCol w="797560"/>
                <a:gridCol w="797560"/>
                <a:gridCol w="797560"/>
                <a:gridCol w="797560"/>
                <a:gridCol w="797560"/>
              </a:tblGrid>
              <a:tr h="332581">
                <a:tc>
                  <a:txBody>
                    <a:bodyPr/>
                    <a:lstStyle/>
                    <a:p>
                      <a:pPr indent="0" marL="0">
                        <a:lnSpc>
                          <a:spcPts val="1680"/>
                        </a:lnSpc>
                        <a:buNone/>
                      </a:pPr>
                      <a:r>
                        <a:rPr lang="en-US" sz="1200" b="1" dirty="0">
                          <a:solidFill>
                            <a:srgbClr val="0F2A43"/>
                          </a:solidFill>
                          <a:latin typeface="Arial" pitchFamily="34" charset="0"/>
                          <a:ea typeface="Arial" pitchFamily="34" charset="-122"/>
                          <a:cs typeface="Arial" pitchFamily="34" charset="-120"/>
                        </a:rPr>
                        <a:t> </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680"/>
                        </a:lnSpc>
                        <a:buNone/>
                      </a:pPr>
                      <a:r>
                        <a:rPr lang="en-US" sz="1200" b="1" dirty="0">
                          <a:solidFill>
                            <a:srgbClr val="0F2A43"/>
                          </a:solidFill>
                          <a:latin typeface="Arial" pitchFamily="34" charset="0"/>
                          <a:ea typeface="Arial" pitchFamily="34" charset="-122"/>
                          <a:cs typeface="Arial" pitchFamily="34" charset="-120"/>
                        </a:rPr>
                        <a:t>SH</a:t>
                      </a:r>
                      <a:endParaRPr lang="en-US" sz="1200" dirty="0">
                        <a:latin typeface="Arial" charset="0"/>
                        <a:ea typeface="Arial" charset="0"/>
                        <a:cs typeface="Arial"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680"/>
                        </a:lnSpc>
                        <a:buNone/>
                      </a:pPr>
                      <a:r>
                        <a:rPr lang="en-US" sz="1200" b="1" dirty="0">
                          <a:solidFill>
                            <a:srgbClr val="0F2A43"/>
                          </a:solidFill>
                          <a:latin typeface="Arial" pitchFamily="34" charset="0"/>
                          <a:ea typeface="Arial" pitchFamily="34" charset="-122"/>
                          <a:cs typeface="Arial" pitchFamily="34" charset="-120"/>
                        </a:rPr>
                        <a:t>AT</a:t>
                      </a:r>
                      <a:endParaRPr lang="en-US" sz="1200" dirty="0">
                        <a:latin typeface="Arial" charset="0"/>
                        <a:ea typeface="Arial" charset="0"/>
                        <a:cs typeface="Arial"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680"/>
                        </a:lnSpc>
                        <a:buNone/>
                      </a:pPr>
                      <a:r>
                        <a:rPr lang="en-US" sz="1200" b="1" dirty="0">
                          <a:solidFill>
                            <a:srgbClr val="0F2A43"/>
                          </a:solidFill>
                          <a:latin typeface="Arial" pitchFamily="34" charset="0"/>
                          <a:ea typeface="Arial" pitchFamily="34" charset="-122"/>
                          <a:cs typeface="Arial" pitchFamily="34" charset="-120"/>
                        </a:rPr>
                        <a:t>ES</a:t>
                      </a:r>
                      <a:endParaRPr lang="en-US" sz="1200" dirty="0">
                        <a:latin typeface="Arial" charset="0"/>
                        <a:ea typeface="Arial" charset="0"/>
                        <a:cs typeface="Arial"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680"/>
                        </a:lnSpc>
                        <a:buNone/>
                      </a:pPr>
                      <a:r>
                        <a:rPr lang="en-US" sz="1200" b="1" dirty="0">
                          <a:solidFill>
                            <a:srgbClr val="0F2A43"/>
                          </a:solidFill>
                          <a:latin typeface="Arial" pitchFamily="34" charset="0"/>
                          <a:ea typeface="Arial" pitchFamily="34" charset="-122"/>
                          <a:cs typeface="Arial" pitchFamily="34" charset="-120"/>
                        </a:rPr>
                        <a:t>HP</a:t>
                      </a:r>
                      <a:endParaRPr lang="en-US" sz="1200" dirty="0">
                        <a:latin typeface="Arial" charset="0"/>
                        <a:ea typeface="Arial" charset="0"/>
                        <a:cs typeface="Arial" charset="0"/>
                      </a:endParaRPr>
                    </a:p>
                  </a:txBody>
                  <a:tcPr marL="53340" marR="53340" marT="53340" marB="5334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32581">
                <a:tc>
                  <a:txBody>
                    <a:bodyPr/>
                    <a:lstStyle/>
                    <a:p>
                      <a:pPr indent="0" marL="0">
                        <a:lnSpc>
                          <a:spcPts val="1680"/>
                        </a:lnSpc>
                        <a:buNone/>
                      </a:pPr>
                      <a:r>
                        <a:rPr lang="en-US" sz="1200" dirty="0">
                          <a:solidFill>
                            <a:srgbClr val="0F2A43"/>
                          </a:solidFill>
                          <a:latin typeface="Arial" pitchFamily="34" charset="0"/>
                          <a:ea typeface="Arial" pitchFamily="34" charset="-122"/>
                          <a:cs typeface="Arial" pitchFamily="34" charset="-120"/>
                        </a:rPr>
                        <a:t>SH</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−0.05</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−0.03</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−0.02</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0F2A43"/>
                          </a:solidFill>
                          <a:latin typeface="Arial" pitchFamily="34" charset="0"/>
                          <a:ea typeface="Arial" pitchFamily="34" charset="-122"/>
                          <a:cs typeface="Arial" pitchFamily="34" charset="-120"/>
                        </a:rPr>
                        <a:t>AT</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−0.05</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0.01</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0F2A43"/>
                          </a:solidFill>
                          <a:latin typeface="Arial" pitchFamily="34" charset="0"/>
                          <a:ea typeface="Arial" pitchFamily="34" charset="-122"/>
                          <a:cs typeface="Arial" pitchFamily="34" charset="-120"/>
                        </a:rPr>
                        <a:t>ES</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−0.03</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0.01</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0.77</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0F2A43"/>
                          </a:solidFill>
                          <a:latin typeface="Arial" pitchFamily="34" charset="0"/>
                          <a:ea typeface="Arial" pitchFamily="34" charset="-122"/>
                          <a:cs typeface="Arial" pitchFamily="34" charset="-120"/>
                        </a:rPr>
                        <a:t>HP</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−0.02</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0.77</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680"/>
                        </a:lnSpc>
                        <a:buNone/>
                      </a:pPr>
                      <a:r>
                        <a:rPr lang="en-US" sz="1200" dirty="0">
                          <a:solidFill>
                            <a:srgbClr val="0F2A43"/>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2" name="Text 9"/>
          <p:cNvSpPr/>
          <p:nvPr/>
        </p:nvSpPr>
        <p:spPr>
          <a:xfrm>
            <a:off x="7169150" y="3848497"/>
            <a:ext cx="4120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SH = study_hours, AT = attendance_pct, ES = exam_score, HP = high_performer.</a:t>
            </a:r>
            <a:endParaRPr lang="en-US" sz="1200" dirty="0"/>
          </a:p>
        </p:txBody>
      </p:sp>
      <p:sp>
        <p:nvSpPr>
          <p:cNvPr id="13" name="Text 10"/>
          <p:cNvSpPr/>
          <p:nvPr/>
        </p:nvSpPr>
        <p:spPr>
          <a:xfrm>
            <a:off x="7169150" y="4376738"/>
            <a:ext cx="4203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2A43"/>
                </a:solidFill>
                <a:latin typeface="Arial" pitchFamily="34" charset="0"/>
                <a:ea typeface="Arial" pitchFamily="34" charset="-122"/>
                <a:cs typeface="Arial" pitchFamily="34" charset="-120"/>
              </a:rPr>
              <a:t>The only strong cell exists because HP is derived from ES.</a:t>
            </a:r>
            <a:endParaRPr lang="en-US" sz="1200" dirty="0"/>
          </a:p>
        </p:txBody>
      </p:sp>
      <p:sp>
        <p:nvSpPr>
          <p:cNvPr id="14" name="Text 11"/>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5" name="Text 12"/>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31 / 37</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QUIZ · QUESTIONS 1–3 · 1:42</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Lab check: NumPy and Pandas</a:t>
            </a:r>
            <a:endParaRPr lang="en-US" sz="3000" dirty="0"/>
          </a:p>
        </p:txBody>
      </p:sp>
      <p:sp>
        <p:nvSpPr>
          <p:cNvPr id="4" name="Shape 2"/>
          <p:cNvSpPr/>
          <p:nvPr/>
        </p:nvSpPr>
        <p:spPr>
          <a:xfrm>
            <a:off x="815975" y="1524595"/>
            <a:ext cx="3380284" cy="3330575"/>
          </a:xfrm>
          <a:prstGeom prst="roundRect">
            <a:avLst>
              <a:gd name="adj" fmla="val 2955"/>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Why is np.mean((y_true - y_pred) ** 2) faster than the Python loop?</a:t>
            </a:r>
            <a:endParaRPr lang="en-US" sz="1400" dirty="0"/>
          </a:p>
        </p:txBody>
      </p:sp>
      <p:sp>
        <p:nvSpPr>
          <p:cNvPr id="7" name="Text 5"/>
          <p:cNvSpPr/>
          <p:nvPr/>
        </p:nvSpPr>
        <p:spPr>
          <a:xfrm>
            <a:off x="1022350" y="2609652"/>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It uses only a small sample of the data</a:t>
            </a:r>
            <a:endParaRPr lang="en-US" sz="1400" dirty="0"/>
          </a:p>
        </p:txBody>
      </p:sp>
      <p:sp>
        <p:nvSpPr>
          <p:cNvPr id="8" name="Text 6"/>
          <p:cNvSpPr/>
          <p:nvPr/>
        </p:nvSpPr>
        <p:spPr>
          <a:xfrm>
            <a:off x="1022350" y="3135313"/>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It works on whole C-backed arrays at once</a:t>
            </a:r>
            <a:endParaRPr lang="en-US" sz="1400" dirty="0"/>
          </a:p>
        </p:txBody>
      </p:sp>
      <p:sp>
        <p:nvSpPr>
          <p:cNvPr id="9" name="Text 7"/>
          <p:cNvSpPr/>
          <p:nvPr/>
        </p:nvSpPr>
        <p:spPr>
          <a:xfrm>
            <a:off x="1022350" y="36609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Python lists cannot store floats</a:t>
            </a:r>
            <a:endParaRPr lang="en-US" sz="1400" dirty="0"/>
          </a:p>
        </p:txBody>
      </p:sp>
      <p:sp>
        <p:nvSpPr>
          <p:cNvPr id="10" name="Text 8"/>
          <p:cNvSpPr/>
          <p:nvPr/>
        </p:nvSpPr>
        <p:spPr>
          <a:xfrm>
            <a:off x="1022350" y="3955554"/>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It skips the squaring step</a:t>
            </a:r>
            <a:endParaRPr lang="en-US" sz="1400" dirty="0"/>
          </a:p>
        </p:txBody>
      </p:sp>
      <p:sp>
        <p:nvSpPr>
          <p:cNvPr id="11" name="Shape 9"/>
          <p:cNvSpPr/>
          <p:nvPr/>
        </p:nvSpPr>
        <p:spPr>
          <a:xfrm>
            <a:off x="4405809" y="1524595"/>
            <a:ext cx="3380383" cy="3330575"/>
          </a:xfrm>
          <a:prstGeom prst="roundRect">
            <a:avLst>
              <a:gd name="adj" fmla="val 2955"/>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3" name="Text 11"/>
          <p:cNvSpPr/>
          <p:nvPr/>
        </p:nvSpPr>
        <p:spPr>
          <a:xfrm>
            <a:off x="4612184" y="2045891"/>
            <a:ext cx="3056662"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Why prefer the median over the mean when imputing a skewed feature?</a:t>
            </a:r>
            <a:endParaRPr lang="en-US" sz="1400" dirty="0"/>
          </a:p>
        </p:txBody>
      </p:sp>
      <p:sp>
        <p:nvSpPr>
          <p:cNvPr id="14" name="Text 12"/>
          <p:cNvSpPr/>
          <p:nvPr/>
        </p:nvSpPr>
        <p:spPr>
          <a:xfrm>
            <a:off x="4612184" y="2840732"/>
            <a:ext cx="305666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The median is always larger than the mean</a:t>
            </a:r>
            <a:endParaRPr lang="en-US" sz="1400" dirty="0"/>
          </a:p>
        </p:txBody>
      </p:sp>
      <p:sp>
        <p:nvSpPr>
          <p:cNvPr id="15" name="Text 13"/>
          <p:cNvSpPr/>
          <p:nvPr/>
        </p:nvSpPr>
        <p:spPr>
          <a:xfrm>
            <a:off x="4612184" y="3366393"/>
            <a:ext cx="305666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The mean cannot be computed with NaN present</a:t>
            </a:r>
            <a:endParaRPr lang="en-US" sz="1400" dirty="0"/>
          </a:p>
        </p:txBody>
      </p:sp>
      <p:sp>
        <p:nvSpPr>
          <p:cNvPr id="16" name="Text 14"/>
          <p:cNvSpPr/>
          <p:nvPr/>
        </p:nvSpPr>
        <p:spPr>
          <a:xfrm>
            <a:off x="4612184" y="3892054"/>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The median is robust to outliers</a:t>
            </a:r>
            <a:endParaRPr lang="en-US" sz="1400" dirty="0"/>
          </a:p>
        </p:txBody>
      </p:sp>
      <p:sp>
        <p:nvSpPr>
          <p:cNvPr id="17" name="Text 15"/>
          <p:cNvSpPr/>
          <p:nvPr/>
        </p:nvSpPr>
        <p:spPr>
          <a:xfrm>
            <a:off x="4612184" y="4186634"/>
            <a:ext cx="305666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The median creates new missing values</a:t>
            </a:r>
            <a:endParaRPr lang="en-US" sz="1400" dirty="0"/>
          </a:p>
        </p:txBody>
      </p:sp>
      <p:sp>
        <p:nvSpPr>
          <p:cNvPr id="18" name="Shape 16"/>
          <p:cNvSpPr/>
          <p:nvPr/>
        </p:nvSpPr>
        <p:spPr>
          <a:xfrm>
            <a:off x="7995741" y="1524595"/>
            <a:ext cx="3380284" cy="3330575"/>
          </a:xfrm>
          <a:prstGeom prst="roundRect">
            <a:avLst>
              <a:gd name="adj" fmla="val 2955"/>
            </a:avLst>
          </a:prstGeom>
          <a:solidFill>
            <a:srgbClr val="FFFDF8"/>
          </a:solidFill>
          <a:ln w="6350">
            <a:solidFill>
              <a:srgbClr val="D9D2BE"/>
            </a:solidFill>
            <a:prstDash val="solid"/>
          </a:ln>
        </p:spPr>
      </p:sp>
      <p:sp>
        <p:nvSpPr>
          <p:cNvPr id="19" name="Text 17"/>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20" name="Text 18"/>
          <p:cNvSpPr/>
          <p:nvPr/>
        </p:nvSpPr>
        <p:spPr>
          <a:xfrm>
            <a:off x="8202116" y="2045891"/>
            <a:ext cx="3056560" cy="949722"/>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With seed 42, study_hours has 14 NaN and exam_score has 11. After median imputation, df.isnull().sum() shows…</a:t>
            </a:r>
            <a:endParaRPr lang="en-US" sz="1400" dirty="0"/>
          </a:p>
        </p:txBody>
      </p:sp>
      <p:sp>
        <p:nvSpPr>
          <p:cNvPr id="21" name="Text 19"/>
          <p:cNvSpPr/>
          <p:nvPr/>
        </p:nvSpPr>
        <p:spPr>
          <a:xfrm>
            <a:off x="8202116" y="30718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14 and 11, unchanged</a:t>
            </a:r>
            <a:endParaRPr lang="en-US" sz="1400" dirty="0"/>
          </a:p>
        </p:txBody>
      </p:sp>
      <p:sp>
        <p:nvSpPr>
          <p:cNvPr id="22" name="Text 20"/>
          <p:cNvSpPr/>
          <p:nvPr/>
        </p:nvSpPr>
        <p:spPr>
          <a:xfrm>
            <a:off x="8202116" y="33663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0 only for study_hours</a:t>
            </a:r>
            <a:endParaRPr lang="en-US" sz="1400" dirty="0"/>
          </a:p>
        </p:txBody>
      </p:sp>
      <p:sp>
        <p:nvSpPr>
          <p:cNvPr id="23" name="Text 21"/>
          <p:cNvSpPr/>
          <p:nvPr/>
        </p:nvSpPr>
        <p:spPr>
          <a:xfrm>
            <a:off x="8202116" y="36609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25 in total</a:t>
            </a:r>
            <a:endParaRPr lang="en-US" sz="1400" dirty="0"/>
          </a:p>
        </p:txBody>
      </p:sp>
      <p:sp>
        <p:nvSpPr>
          <p:cNvPr id="24" name="Text 22"/>
          <p:cNvSpPr/>
          <p:nvPr/>
        </p:nvSpPr>
        <p:spPr>
          <a:xfrm>
            <a:off x="8202116" y="3955554"/>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0 for every column</a:t>
            </a:r>
            <a:endParaRPr lang="en-US" sz="1400" dirty="0"/>
          </a:p>
        </p:txBody>
      </p:sp>
      <p:sp>
        <p:nvSpPr>
          <p:cNvPr id="25" name="Text 23"/>
          <p:cNvSpPr/>
          <p:nvPr/>
        </p:nvSpPr>
        <p:spPr>
          <a:xfrm>
            <a:off x="812800" y="50615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Answer from what you just ran in the notebook, then reveal.</a:t>
            </a:r>
            <a:endParaRPr lang="en-US" sz="1200" dirty="0"/>
          </a:p>
        </p:txBody>
      </p:sp>
      <p:sp>
        <p:nvSpPr>
          <p:cNvPr id="26" name="Text 24"/>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7" name="Text 25"/>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32 / 37</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QUIZ · ANSWERS 1–3</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258913"/>
          </a:xfrm>
          <a:prstGeom prst="roundRect">
            <a:avLst>
              <a:gd name="adj" fmla="val 4357"/>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1</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a:t>
            </a:r>
            <a:endParaRPr lang="en-US" sz="1400" dirty="0"/>
          </a:p>
        </p:txBody>
      </p:sp>
      <p:sp>
        <p:nvSpPr>
          <p:cNvPr id="7" name="Text 5"/>
          <p:cNvSpPr/>
          <p:nvPr/>
        </p:nvSpPr>
        <p:spPr>
          <a:xfrm>
            <a:off x="1022350" y="249793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It works on whole C-backed arrays at once</a:t>
            </a:r>
            <a:endParaRPr lang="en-US" sz="1400" dirty="0"/>
          </a:p>
        </p:txBody>
      </p:sp>
      <p:sp>
        <p:nvSpPr>
          <p:cNvPr id="8" name="Text 6"/>
          <p:cNvSpPr/>
          <p:nvPr/>
        </p:nvSpPr>
        <p:spPr>
          <a:xfrm>
            <a:off x="1022350" y="306169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Vectorized operations avoid per-element Python overhead.</a:t>
            </a:r>
            <a:endParaRPr lang="en-US" sz="1400" dirty="0"/>
          </a:p>
        </p:txBody>
      </p:sp>
      <p:sp>
        <p:nvSpPr>
          <p:cNvPr id="9" name="Shape 7"/>
          <p:cNvSpPr/>
          <p:nvPr/>
        </p:nvSpPr>
        <p:spPr>
          <a:xfrm>
            <a:off x="4405809" y="1524595"/>
            <a:ext cx="3380383" cy="2258913"/>
          </a:xfrm>
          <a:prstGeom prst="roundRect">
            <a:avLst>
              <a:gd name="adj" fmla="val 4357"/>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2</a:t>
            </a:r>
            <a:endParaRPr lang="en-US" sz="1200" dirty="0"/>
          </a:p>
        </p:txBody>
      </p:sp>
      <p:sp>
        <p:nvSpPr>
          <p:cNvPr id="11" name="Text 9"/>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12" name="Text 10"/>
          <p:cNvSpPr/>
          <p:nvPr/>
        </p:nvSpPr>
        <p:spPr>
          <a:xfrm>
            <a:off x="4612184" y="2497931"/>
            <a:ext cx="305666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The median is robust to outliers</a:t>
            </a:r>
            <a:endParaRPr lang="en-US" sz="1400" dirty="0"/>
          </a:p>
        </p:txBody>
      </p:sp>
      <p:sp>
        <p:nvSpPr>
          <p:cNvPr id="13" name="Text 11"/>
          <p:cNvSpPr/>
          <p:nvPr/>
        </p:nvSpPr>
        <p:spPr>
          <a:xfrm>
            <a:off x="4612184" y="2830612"/>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Outliers pull the mean, not the median. Pandas skips NaN when computing either one.</a:t>
            </a:r>
            <a:endParaRPr lang="en-US" sz="1400" dirty="0"/>
          </a:p>
        </p:txBody>
      </p:sp>
      <p:sp>
        <p:nvSpPr>
          <p:cNvPr id="14" name="Shape 12"/>
          <p:cNvSpPr/>
          <p:nvPr/>
        </p:nvSpPr>
        <p:spPr>
          <a:xfrm>
            <a:off x="7995741" y="1524595"/>
            <a:ext cx="3380284" cy="2258913"/>
          </a:xfrm>
          <a:prstGeom prst="roundRect">
            <a:avLst>
              <a:gd name="adj" fmla="val 4357"/>
            </a:avLst>
          </a:prstGeom>
          <a:solidFill>
            <a:srgbClr val="FFFDF8"/>
          </a:solidFill>
          <a:ln w="6350">
            <a:solidFill>
              <a:srgbClr val="D9D2BE"/>
            </a:solidFill>
            <a:prstDash val="solid"/>
          </a:ln>
        </p:spPr>
      </p:sp>
      <p:sp>
        <p:nvSpPr>
          <p:cNvPr id="15" name="Text 13"/>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3</a:t>
            </a:r>
            <a:endParaRPr lang="en-US" sz="1200" dirty="0"/>
          </a:p>
        </p:txBody>
      </p:sp>
      <p:sp>
        <p:nvSpPr>
          <p:cNvPr id="16" name="Text 14"/>
          <p:cNvSpPr/>
          <p:nvPr/>
        </p:nvSpPr>
        <p:spPr>
          <a:xfrm>
            <a:off x="8202116"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D</a:t>
            </a:r>
            <a:endParaRPr lang="en-US" sz="1400" dirty="0"/>
          </a:p>
        </p:txBody>
      </p:sp>
      <p:sp>
        <p:nvSpPr>
          <p:cNvPr id="17" name="Text 15"/>
          <p:cNvSpPr/>
          <p:nvPr/>
        </p:nvSpPr>
        <p:spPr>
          <a:xfrm>
            <a:off x="8202116" y="2497931"/>
            <a:ext cx="305656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0 for every column</a:t>
            </a:r>
            <a:endParaRPr lang="en-US" sz="1400" dirty="0"/>
          </a:p>
        </p:txBody>
      </p:sp>
      <p:sp>
        <p:nvSpPr>
          <p:cNvPr id="18" name="Text 16"/>
          <p:cNvSpPr/>
          <p:nvPr/>
        </p:nvSpPr>
        <p:spPr>
          <a:xfrm>
            <a:off x="8202116" y="283061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fillna replaced all 14 and 11 missing values, so no NaN remains.</a:t>
            </a:r>
            <a:endParaRPr lang="en-US" sz="1400" dirty="0"/>
          </a:p>
        </p:txBody>
      </p:sp>
      <p:sp>
        <p:nvSpPr>
          <p:cNvPr id="19" name="Text 17"/>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0" name="Text 18"/>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33 / 37</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FEBDD"/>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QUIZ · QUESTIONS 4–6 · 1:46</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Lab check: features and correlation</a:t>
            </a:r>
            <a:endParaRPr lang="en-US" sz="3000" dirty="0"/>
          </a:p>
        </p:txBody>
      </p:sp>
      <p:sp>
        <p:nvSpPr>
          <p:cNvPr id="4" name="Shape 2"/>
          <p:cNvSpPr/>
          <p:nvPr/>
        </p:nvSpPr>
        <p:spPr>
          <a:xfrm>
            <a:off x="815975" y="1524595"/>
            <a:ext cx="3380284" cy="2637334"/>
          </a:xfrm>
          <a:prstGeom prst="roundRect">
            <a:avLst>
              <a:gd name="adj" fmla="val 3732"/>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a:t>
            </a:r>
            <a:endParaRPr lang="en-US" sz="1200" dirty="0"/>
          </a:p>
        </p:txBody>
      </p:sp>
      <p:sp>
        <p:nvSpPr>
          <p:cNvPr id="6" name="Text 4"/>
          <p:cNvSpPr/>
          <p:nvPr/>
        </p:nvSpPr>
        <p:spPr>
          <a:xfrm>
            <a:off x="1022350" y="204589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What does (df["exam_score"] &gt;= 80).astype(int) create?</a:t>
            </a:r>
            <a:endParaRPr lang="en-US" sz="1400" dirty="0"/>
          </a:p>
        </p:txBody>
      </p:sp>
      <p:sp>
        <p:nvSpPr>
          <p:cNvPr id="7" name="Text 5"/>
          <p:cNvSpPr/>
          <p:nvPr/>
        </p:nvSpPr>
        <p:spPr>
          <a:xfrm>
            <a:off x="1022350" y="260965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A text label for each student</a:t>
            </a:r>
            <a:endParaRPr lang="en-US" sz="1400" dirty="0"/>
          </a:p>
        </p:txBody>
      </p:sp>
      <p:sp>
        <p:nvSpPr>
          <p:cNvPr id="8" name="Text 6"/>
          <p:cNvSpPr/>
          <p:nvPr/>
        </p:nvSpPr>
        <p:spPr>
          <a:xfrm>
            <a:off x="1022350" y="2904232"/>
            <a:ext cx="305656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1 if the score is at least 80, otherwise 0</a:t>
            </a:r>
            <a:endParaRPr lang="en-US" sz="1400" dirty="0"/>
          </a:p>
        </p:txBody>
      </p:sp>
      <p:sp>
        <p:nvSpPr>
          <p:cNvPr id="9" name="Text 7"/>
          <p:cNvSpPr/>
          <p:nvPr/>
        </p:nvSpPr>
        <p:spPr>
          <a:xfrm>
            <a:off x="1022350" y="342989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A copy of exam_score</a:t>
            </a:r>
            <a:endParaRPr lang="en-US" sz="1400" dirty="0"/>
          </a:p>
        </p:txBody>
      </p:sp>
      <p:sp>
        <p:nvSpPr>
          <p:cNvPr id="10" name="Text 8"/>
          <p:cNvSpPr/>
          <p:nvPr/>
        </p:nvSpPr>
        <p:spPr>
          <a:xfrm>
            <a:off x="1022350" y="372447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A continuous feature from 0 to 1</a:t>
            </a:r>
            <a:endParaRPr lang="en-US" sz="1400" dirty="0"/>
          </a:p>
        </p:txBody>
      </p:sp>
      <p:sp>
        <p:nvSpPr>
          <p:cNvPr id="11" name="Shape 9"/>
          <p:cNvSpPr/>
          <p:nvPr/>
        </p:nvSpPr>
        <p:spPr>
          <a:xfrm>
            <a:off x="4405809" y="1524595"/>
            <a:ext cx="3380383" cy="2637334"/>
          </a:xfrm>
          <a:prstGeom prst="roundRect">
            <a:avLst>
              <a:gd name="adj" fmla="val 3732"/>
            </a:avLst>
          </a:prstGeom>
          <a:solidFill>
            <a:srgbClr val="FFFDF8"/>
          </a:solidFill>
          <a:ln w="6350">
            <a:solidFill>
              <a:srgbClr val="D9D2BE"/>
            </a:solidFill>
            <a:prstDash val="solid"/>
          </a:ln>
        </p:spPr>
      </p:sp>
      <p:sp>
        <p:nvSpPr>
          <p:cNvPr id="12" name="Text 10"/>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3" name="Text 11"/>
          <p:cNvSpPr/>
          <p:nvPr/>
        </p:nvSpPr>
        <p:spPr>
          <a:xfrm>
            <a:off x="4612184" y="2045891"/>
            <a:ext cx="3056662"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study_hours and exam_score were generated independently. Which correlation do you expect?</a:t>
            </a:r>
            <a:endParaRPr lang="en-US" sz="1400" dirty="0"/>
          </a:p>
        </p:txBody>
      </p:sp>
      <p:sp>
        <p:nvSpPr>
          <p:cNvPr id="14" name="Text 12"/>
          <p:cNvSpPr/>
          <p:nvPr/>
        </p:nvSpPr>
        <p:spPr>
          <a:xfrm>
            <a:off x="4612184" y="2840732"/>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Close to +1</a:t>
            </a:r>
            <a:endParaRPr lang="en-US" sz="1400" dirty="0"/>
          </a:p>
        </p:txBody>
      </p:sp>
      <p:sp>
        <p:nvSpPr>
          <p:cNvPr id="15" name="Text 13"/>
          <p:cNvSpPr/>
          <p:nvPr/>
        </p:nvSpPr>
        <p:spPr>
          <a:xfrm>
            <a:off x="4612184" y="313531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Close to −1</a:t>
            </a:r>
            <a:endParaRPr lang="en-US" sz="1400" dirty="0"/>
          </a:p>
        </p:txBody>
      </p:sp>
      <p:sp>
        <p:nvSpPr>
          <p:cNvPr id="16" name="Text 14"/>
          <p:cNvSpPr/>
          <p:nvPr/>
        </p:nvSpPr>
        <p:spPr>
          <a:xfrm>
            <a:off x="4612184" y="342989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  Close to zero</a:t>
            </a:r>
            <a:endParaRPr lang="en-US" sz="1400" dirty="0"/>
          </a:p>
        </p:txBody>
      </p:sp>
      <p:sp>
        <p:nvSpPr>
          <p:cNvPr id="17" name="Text 15"/>
          <p:cNvSpPr/>
          <p:nvPr/>
        </p:nvSpPr>
        <p:spPr>
          <a:xfrm>
            <a:off x="4612184" y="3724473"/>
            <a:ext cx="305666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D.  Exactly +1</a:t>
            </a:r>
            <a:endParaRPr lang="en-US" sz="1400" dirty="0"/>
          </a:p>
        </p:txBody>
      </p:sp>
      <p:sp>
        <p:nvSpPr>
          <p:cNvPr id="18" name="Shape 16"/>
          <p:cNvSpPr/>
          <p:nvPr/>
        </p:nvSpPr>
        <p:spPr>
          <a:xfrm>
            <a:off x="7995741" y="1524595"/>
            <a:ext cx="3380284" cy="2637334"/>
          </a:xfrm>
          <a:prstGeom prst="roundRect">
            <a:avLst>
              <a:gd name="adj" fmla="val 3732"/>
            </a:avLst>
          </a:prstGeom>
          <a:solidFill>
            <a:srgbClr val="FFFDF8"/>
          </a:solidFill>
          <a:ln w="6350">
            <a:solidFill>
              <a:srgbClr val="D9D2BE"/>
            </a:solidFill>
            <a:prstDash val="solid"/>
          </a:ln>
        </p:spPr>
      </p:sp>
      <p:sp>
        <p:nvSpPr>
          <p:cNvPr id="19" name="Text 17"/>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 · TRUE OR FALSE</a:t>
            </a:r>
            <a:endParaRPr lang="en-US" sz="1200" dirty="0"/>
          </a:p>
        </p:txBody>
      </p:sp>
      <p:sp>
        <p:nvSpPr>
          <p:cNvPr id="20" name="Text 18"/>
          <p:cNvSpPr/>
          <p:nvPr/>
        </p:nvSpPr>
        <p:spPr>
          <a:xfrm>
            <a:off x="8202116" y="2045891"/>
            <a:ext cx="3056560" cy="71864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high_performer correlates strongly with exam_score because it is derived from exam_score.</a:t>
            </a:r>
            <a:endParaRPr lang="en-US" sz="1400" dirty="0"/>
          </a:p>
        </p:txBody>
      </p:sp>
      <p:sp>
        <p:nvSpPr>
          <p:cNvPr id="21" name="Text 19"/>
          <p:cNvSpPr/>
          <p:nvPr/>
        </p:nvSpPr>
        <p:spPr>
          <a:xfrm>
            <a:off x="8202116" y="2840732"/>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  True</a:t>
            </a:r>
            <a:endParaRPr lang="en-US" sz="1400" dirty="0"/>
          </a:p>
        </p:txBody>
      </p:sp>
      <p:sp>
        <p:nvSpPr>
          <p:cNvPr id="22" name="Text 20"/>
          <p:cNvSpPr/>
          <p:nvPr/>
        </p:nvSpPr>
        <p:spPr>
          <a:xfrm>
            <a:off x="8202116" y="3135313"/>
            <a:ext cx="305656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B.  False</a:t>
            </a:r>
            <a:endParaRPr lang="en-US" sz="1400" dirty="0"/>
          </a:p>
        </p:txBody>
      </p:sp>
      <p:sp>
        <p:nvSpPr>
          <p:cNvPr id="23" name="Text 21"/>
          <p:cNvSpPr/>
          <p:nvPr/>
        </p:nvSpPr>
        <p:spPr>
          <a:xfrm>
            <a:off x="812800" y="4368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Check your own heatmap values before voting.</a:t>
            </a:r>
            <a:endParaRPr lang="en-US" sz="1200" dirty="0"/>
          </a:p>
        </p:txBody>
      </p:sp>
      <p:sp>
        <p:nvSpPr>
          <p:cNvPr id="24" name="Text 22"/>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25" name="Text 23"/>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34 / 37</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LAB QUIZ · ANSWERS 4–6</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Answers and explanations</a:t>
            </a:r>
            <a:endParaRPr lang="en-US" sz="3000" dirty="0"/>
          </a:p>
        </p:txBody>
      </p:sp>
      <p:sp>
        <p:nvSpPr>
          <p:cNvPr id="4" name="Shape 2"/>
          <p:cNvSpPr/>
          <p:nvPr/>
        </p:nvSpPr>
        <p:spPr>
          <a:xfrm>
            <a:off x="815975" y="1524595"/>
            <a:ext cx="3380284" cy="2258913"/>
          </a:xfrm>
          <a:prstGeom prst="roundRect">
            <a:avLst>
              <a:gd name="adj" fmla="val 4357"/>
            </a:avLst>
          </a:prstGeom>
          <a:solidFill>
            <a:srgbClr val="FFFDF8"/>
          </a:solidFill>
          <a:ln w="6350">
            <a:solidFill>
              <a:srgbClr val="D9D2BE"/>
            </a:solidFill>
            <a:prstDash val="solid"/>
          </a:ln>
        </p:spPr>
      </p:sp>
      <p:sp>
        <p:nvSpPr>
          <p:cNvPr id="5" name="Text 3"/>
          <p:cNvSpPr/>
          <p:nvPr/>
        </p:nvSpPr>
        <p:spPr>
          <a:xfrm>
            <a:off x="1022350"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4</a:t>
            </a:r>
            <a:endParaRPr lang="en-US" sz="1200" dirty="0"/>
          </a:p>
        </p:txBody>
      </p:sp>
      <p:sp>
        <p:nvSpPr>
          <p:cNvPr id="6" name="Text 4"/>
          <p:cNvSpPr/>
          <p:nvPr/>
        </p:nvSpPr>
        <p:spPr>
          <a:xfrm>
            <a:off x="1022350"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B</a:t>
            </a:r>
            <a:endParaRPr lang="en-US" sz="1400" dirty="0"/>
          </a:p>
        </p:txBody>
      </p:sp>
      <p:sp>
        <p:nvSpPr>
          <p:cNvPr id="7" name="Text 5"/>
          <p:cNvSpPr/>
          <p:nvPr/>
        </p:nvSpPr>
        <p:spPr>
          <a:xfrm>
            <a:off x="1022350" y="2497931"/>
            <a:ext cx="305656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1 if the score is at least 80, otherwise 0</a:t>
            </a:r>
            <a:endParaRPr lang="en-US" sz="1400" dirty="0"/>
          </a:p>
        </p:txBody>
      </p:sp>
      <p:sp>
        <p:nvSpPr>
          <p:cNvPr id="8" name="Text 6"/>
          <p:cNvSpPr/>
          <p:nvPr/>
        </p:nvSpPr>
        <p:spPr>
          <a:xfrm>
            <a:off x="1022350" y="3061692"/>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The comparison gives True or False, and astype(int) turns that into 1 or 0.</a:t>
            </a:r>
            <a:endParaRPr lang="en-US" sz="1400" dirty="0"/>
          </a:p>
        </p:txBody>
      </p:sp>
      <p:sp>
        <p:nvSpPr>
          <p:cNvPr id="9" name="Shape 7"/>
          <p:cNvSpPr/>
          <p:nvPr/>
        </p:nvSpPr>
        <p:spPr>
          <a:xfrm>
            <a:off x="4405809" y="1524595"/>
            <a:ext cx="3380383" cy="2258913"/>
          </a:xfrm>
          <a:prstGeom prst="roundRect">
            <a:avLst>
              <a:gd name="adj" fmla="val 4357"/>
            </a:avLst>
          </a:prstGeom>
          <a:solidFill>
            <a:srgbClr val="FFFDF8"/>
          </a:solidFill>
          <a:ln w="6350">
            <a:solidFill>
              <a:srgbClr val="D9D2BE"/>
            </a:solidFill>
            <a:prstDash val="solid"/>
          </a:ln>
        </p:spPr>
      </p:sp>
      <p:sp>
        <p:nvSpPr>
          <p:cNvPr id="10" name="Text 8"/>
          <p:cNvSpPr/>
          <p:nvPr/>
        </p:nvSpPr>
        <p:spPr>
          <a:xfrm>
            <a:off x="4612184" y="1730970"/>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5</a:t>
            </a:r>
            <a:endParaRPr lang="en-US" sz="1200" dirty="0"/>
          </a:p>
        </p:txBody>
      </p:sp>
      <p:sp>
        <p:nvSpPr>
          <p:cNvPr id="11" name="Text 9"/>
          <p:cNvSpPr/>
          <p:nvPr/>
        </p:nvSpPr>
        <p:spPr>
          <a:xfrm>
            <a:off x="4612184" y="2045891"/>
            <a:ext cx="1158677"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C</a:t>
            </a:r>
            <a:endParaRPr lang="en-US" sz="1400" dirty="0"/>
          </a:p>
        </p:txBody>
      </p:sp>
      <p:sp>
        <p:nvSpPr>
          <p:cNvPr id="12" name="Text 10"/>
          <p:cNvSpPr/>
          <p:nvPr/>
        </p:nvSpPr>
        <p:spPr>
          <a:xfrm>
            <a:off x="4612184" y="2497931"/>
            <a:ext cx="3056662"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2A43"/>
                </a:solidFill>
                <a:latin typeface="Arial" pitchFamily="34" charset="0"/>
                <a:ea typeface="Arial" pitchFamily="34" charset="-122"/>
                <a:cs typeface="Arial" pitchFamily="34" charset="-120"/>
              </a:rPr>
              <a:t>Close to zero</a:t>
            </a:r>
            <a:endParaRPr lang="en-US" sz="1400" dirty="0"/>
          </a:p>
        </p:txBody>
      </p:sp>
      <p:sp>
        <p:nvSpPr>
          <p:cNvPr id="13" name="Text 11"/>
          <p:cNvSpPr/>
          <p:nvPr/>
        </p:nvSpPr>
        <p:spPr>
          <a:xfrm>
            <a:off x="4612184" y="2830612"/>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Independent random columns carry no linear relationship. Our run gave −0.03.</a:t>
            </a:r>
            <a:endParaRPr lang="en-US" sz="1400" dirty="0"/>
          </a:p>
        </p:txBody>
      </p:sp>
      <p:sp>
        <p:nvSpPr>
          <p:cNvPr id="14" name="Shape 12"/>
          <p:cNvSpPr/>
          <p:nvPr/>
        </p:nvSpPr>
        <p:spPr>
          <a:xfrm>
            <a:off x="7995741" y="1524595"/>
            <a:ext cx="3380284" cy="2258913"/>
          </a:xfrm>
          <a:prstGeom prst="roundRect">
            <a:avLst>
              <a:gd name="adj" fmla="val 4357"/>
            </a:avLst>
          </a:prstGeom>
          <a:solidFill>
            <a:srgbClr val="FFFDF8"/>
          </a:solidFill>
          <a:ln w="6350">
            <a:solidFill>
              <a:srgbClr val="D9D2BE"/>
            </a:solidFill>
            <a:prstDash val="solid"/>
          </a:ln>
        </p:spPr>
      </p:sp>
      <p:sp>
        <p:nvSpPr>
          <p:cNvPr id="15" name="Text 13"/>
          <p:cNvSpPr/>
          <p:nvPr/>
        </p:nvSpPr>
        <p:spPr>
          <a:xfrm>
            <a:off x="8202116" y="1730970"/>
            <a:ext cx="30565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E7C7B"/>
                </a:solidFill>
                <a:latin typeface="Arial" pitchFamily="34" charset="0"/>
                <a:ea typeface="Arial" pitchFamily="34" charset="-122"/>
                <a:cs typeface="Arial" pitchFamily="34" charset="-120"/>
              </a:rPr>
              <a:t>QUESTION 6</a:t>
            </a:r>
            <a:endParaRPr lang="en-US" sz="1200" dirty="0"/>
          </a:p>
        </p:txBody>
      </p:sp>
      <p:sp>
        <p:nvSpPr>
          <p:cNvPr id="16" name="Text 14"/>
          <p:cNvSpPr/>
          <p:nvPr/>
        </p:nvSpPr>
        <p:spPr>
          <a:xfrm>
            <a:off x="8202116" y="2045891"/>
            <a:ext cx="1688802" cy="350441"/>
          </a:xfrm>
          <a:prstGeom prst="roundRect">
            <a:avLst>
              <a:gd name="adj" fmla="val 50000"/>
            </a:avLst>
          </a:prstGeom>
          <a:solidFill>
            <a:srgbClr val="0E7C7B"/>
          </a:solidFill>
          <a:ln/>
        </p:spPr>
        <p:txBody>
          <a:bodyPr wrap="none" lIns="0" tIns="0" rIns="0" bIns="0" rtlCol="0" anchor="ctr">
            <a:normAutofit/>
          </a:bodyPr>
          <a:lstStyle/>
          <a:p>
            <a:pPr algn="ctr" indent="0" marL="0">
              <a:lnSpc>
                <a:spcPts val="1960"/>
              </a:lnSpc>
              <a:buNone/>
            </a:pPr>
            <a:r>
              <a:rPr lang="en-US" sz="1400" b="1" dirty="0">
                <a:solidFill>
                  <a:srgbClr val="F7F5EF"/>
                </a:solidFill>
                <a:latin typeface="Arial" pitchFamily="34" charset="0"/>
                <a:ea typeface="Arial" pitchFamily="34" charset="-122"/>
                <a:cs typeface="Arial" pitchFamily="34" charset="-120"/>
              </a:rPr>
              <a:t>Answer: A (True)</a:t>
            </a:r>
            <a:endParaRPr lang="en-US" sz="1400" dirty="0"/>
          </a:p>
        </p:txBody>
      </p:sp>
      <p:sp>
        <p:nvSpPr>
          <p:cNvPr id="17" name="Text 15"/>
          <p:cNvSpPr/>
          <p:nvPr/>
        </p:nvSpPr>
        <p:spPr>
          <a:xfrm>
            <a:off x="8202116" y="2497931"/>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C"/>
                </a:solidFill>
                <a:latin typeface="Arial" pitchFamily="34" charset="0"/>
                <a:ea typeface="Arial" pitchFamily="34" charset="-122"/>
                <a:cs typeface="Arial" pitchFamily="34" charset="-120"/>
              </a:rPr>
              <a:t>It is computed from exam_score by a threshold, so the correlation is high by construction (0.77 in our run).</a:t>
            </a:r>
            <a:endParaRPr lang="en-US" sz="1400" dirty="0"/>
          </a:p>
        </p:txBody>
      </p:sp>
      <p:sp>
        <p:nvSpPr>
          <p:cNvPr id="18" name="Text 16"/>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9" name="Text 17"/>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35 / 37</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7C7B"/>
                </a:solidFill>
                <a:latin typeface="Arial" pitchFamily="34" charset="0"/>
                <a:ea typeface="Arial" pitchFamily="34" charset="-122"/>
                <a:cs typeface="Arial" pitchFamily="34" charset="-120"/>
              </a:rPr>
              <a:t>WRAP-UP · 1:50</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2A43"/>
                </a:solidFill>
                <a:latin typeface="Georgia" pitchFamily="18" charset="0"/>
                <a:ea typeface="Georgia" pitchFamily="18" charset="-122"/>
                <a:cs typeface="Georgia" pitchFamily="18" charset="-120"/>
              </a:rPr>
              <a:t>Deliverables and grading</a:t>
            </a:r>
            <a:endParaRPr lang="en-US" sz="3000" dirty="0"/>
          </a:p>
        </p:txBody>
      </p:sp>
      <p:sp>
        <p:nvSpPr>
          <p:cNvPr id="4" name="Shape 2"/>
          <p:cNvSpPr/>
          <p:nvPr/>
        </p:nvSpPr>
        <p:spPr>
          <a:xfrm>
            <a:off x="815975" y="1575395"/>
            <a:ext cx="4819650" cy="2119313"/>
          </a:xfrm>
          <a:prstGeom prst="roundRect">
            <a:avLst>
              <a:gd name="adj" fmla="val 4644"/>
            </a:avLst>
          </a:prstGeom>
          <a:solidFill>
            <a:srgbClr val="FFFDF8"/>
          </a:solidFill>
          <a:ln w="6350">
            <a:solidFill>
              <a:srgbClr val="D9D2BE"/>
            </a:solidFill>
            <a:prstDash val="solid"/>
          </a:ln>
        </p:spPr>
      </p:sp>
      <p:sp>
        <p:nvSpPr>
          <p:cNvPr id="5" name="Text 3"/>
          <p:cNvSpPr/>
          <p:nvPr/>
        </p:nvSpPr>
        <p:spPr>
          <a:xfrm>
            <a:off x="1047750" y="1807170"/>
            <a:ext cx="448678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43"/>
                </a:solidFill>
                <a:latin typeface="Georgia" pitchFamily="18" charset="0"/>
                <a:ea typeface="Georgia" pitchFamily="18" charset="-122"/>
                <a:cs typeface="Georgia" pitchFamily="18" charset="-120"/>
              </a:rPr>
              <a:t>Submit one Jupyter Notebook (.ipynb)</a:t>
            </a:r>
            <a:endParaRPr lang="en-US" sz="1800" dirty="0"/>
          </a:p>
        </p:txBody>
      </p:sp>
      <p:pic>
        <p:nvPicPr>
          <p:cNvPr id="6" name="Image 0" descr="Check">    </p:cNvPr>
          <p:cNvPicPr>
            <a:picLocks noChangeAspect="1"/>
          </p:cNvPicPr>
          <p:nvPr/>
        </p:nvPicPr>
        <p:blipFill>
          <a:blip r:embed="rId1"/>
          <a:srcRect l="0" r="0" t="0" b="0"/>
          <a:stretch/>
        </p:blipFill>
        <p:spPr>
          <a:xfrm>
            <a:off x="1047750" y="2233811"/>
            <a:ext cx="228600" cy="228600"/>
          </a:xfrm>
          <a:prstGeom prst="rect">
            <a:avLst/>
          </a:prstGeom>
        </p:spPr>
      </p:pic>
      <p:sp>
        <p:nvSpPr>
          <p:cNvPr id="7" name="Text 4"/>
          <p:cNvSpPr/>
          <p:nvPr/>
        </p:nvSpPr>
        <p:spPr>
          <a:xfrm>
            <a:off x="1403350" y="2233811"/>
            <a:ext cx="412051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All executable Python cells with code and output</a:t>
            </a:r>
            <a:endParaRPr lang="en-US" sz="1400" dirty="0"/>
          </a:p>
        </p:txBody>
      </p:sp>
      <p:pic>
        <p:nvPicPr>
          <p:cNvPr id="8" name="Image 1" descr="Check">    </p:cNvPr>
          <p:cNvPicPr>
            <a:picLocks noChangeAspect="1"/>
          </p:cNvPicPr>
          <p:nvPr/>
        </p:nvPicPr>
        <p:blipFill>
          <a:blip r:embed="rId2"/>
          <a:srcRect l="0" r="0" t="0" b="0"/>
          <a:stretch/>
        </p:blipFill>
        <p:spPr>
          <a:xfrm>
            <a:off x="1047750" y="2617291"/>
            <a:ext cx="228600" cy="228600"/>
          </a:xfrm>
          <a:prstGeom prst="rect">
            <a:avLst/>
          </a:prstGeom>
        </p:spPr>
      </p:pic>
      <p:sp>
        <p:nvSpPr>
          <p:cNvPr id="9" name="Text 5"/>
          <p:cNvSpPr/>
          <p:nvPr/>
        </p:nvSpPr>
        <p:spPr>
          <a:xfrm>
            <a:off x="1403350" y="2617291"/>
            <a:ext cx="4120515"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Written responses interpreting the feature correlation matrix</a:t>
            </a:r>
            <a:endParaRPr lang="en-US" sz="1400" dirty="0"/>
          </a:p>
        </p:txBody>
      </p:sp>
      <p:pic>
        <p:nvPicPr>
          <p:cNvPr id="10" name="Image 2" descr="Check">    </p:cNvPr>
          <p:cNvPicPr>
            <a:picLocks noChangeAspect="1"/>
          </p:cNvPicPr>
          <p:nvPr/>
        </p:nvPicPr>
        <p:blipFill>
          <a:blip r:embed="rId3"/>
          <a:srcRect l="0" r="0" t="0" b="0"/>
          <a:stretch/>
        </p:blipFill>
        <p:spPr>
          <a:xfrm>
            <a:off x="1047750" y="3231852"/>
            <a:ext cx="228600" cy="228600"/>
          </a:xfrm>
          <a:prstGeom prst="rect">
            <a:avLst/>
          </a:prstGeom>
        </p:spPr>
      </p:pic>
      <p:sp>
        <p:nvSpPr>
          <p:cNvPr id="11" name="Text 6"/>
          <p:cNvSpPr/>
          <p:nvPr/>
        </p:nvSpPr>
        <p:spPr>
          <a:xfrm>
            <a:off x="1403350" y="3231852"/>
            <a:ext cx="412051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2A43"/>
                </a:solidFill>
                <a:latin typeface="Arial" pitchFamily="34" charset="0"/>
                <a:ea typeface="Arial" pitchFamily="34" charset="-122"/>
                <a:cs typeface="Arial" pitchFamily="34" charset="-120"/>
              </a:rPr>
              <a:t>Clean code following PEP 8 guidelines</a:t>
            </a:r>
            <a:endParaRPr lang="en-US" sz="1400" dirty="0"/>
          </a:p>
        </p:txBody>
      </p:sp>
      <p:sp>
        <p:nvSpPr>
          <p:cNvPr id="12" name="Shape 7"/>
          <p:cNvSpPr/>
          <p:nvPr/>
        </p:nvSpPr>
        <p:spPr>
          <a:xfrm>
            <a:off x="5946775" y="1575395"/>
            <a:ext cx="5429250" cy="2604095"/>
          </a:xfrm>
          <a:prstGeom prst="roundRect">
            <a:avLst>
              <a:gd name="adj" fmla="val 3780"/>
            </a:avLst>
          </a:prstGeom>
          <a:solidFill>
            <a:srgbClr val="FFFDF8"/>
          </a:solidFill>
          <a:ln w="6350">
            <a:solidFill>
              <a:srgbClr val="D9D2BE"/>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65850" y="1794470"/>
          <a:ext cx="5003800" cy="2178645"/>
        </p:xfrm>
        <a:graphic>
          <a:graphicData uri="http://schemas.openxmlformats.org/drawingml/2006/table">
            <a:tbl>
              <a:tblPr/>
              <a:tblGrid>
                <a:gridCol w="3802888"/>
                <a:gridCol w="1200912"/>
              </a:tblGrid>
              <a:tr h="385961">
                <a:tc>
                  <a:txBody>
                    <a:bodyPr/>
                    <a:lstStyle/>
                    <a:p>
                      <a:pPr indent="0" marL="0">
                        <a:lnSpc>
                          <a:spcPts val="1960"/>
                        </a:lnSpc>
                        <a:buNone/>
                      </a:pPr>
                      <a:r>
                        <a:rPr lang="en-US" sz="1400" b="1" dirty="0">
                          <a:solidFill>
                            <a:srgbClr val="0F2A43"/>
                          </a:solidFill>
                          <a:latin typeface="Arial" pitchFamily="34" charset="0"/>
                          <a:ea typeface="Arial" pitchFamily="34" charset="-122"/>
                          <a:cs typeface="Arial" pitchFamily="34" charset="-120"/>
                        </a:rPr>
                        <a:t>Grading criterion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algn="r" indent="0" marL="0">
                        <a:lnSpc>
                          <a:spcPts val="1960"/>
                        </a:lnSpc>
                        <a:buNone/>
                      </a:pPr>
                      <a:r>
                        <a:rPr lang="en-US" sz="1400" b="1" dirty="0">
                          <a:solidFill>
                            <a:srgbClr val="0F2A43"/>
                          </a:solidFill>
                          <a:latin typeface="Arial" pitchFamily="34" charset="0"/>
                          <a:ea typeface="Arial" pitchFamily="34" charset="-122"/>
                          <a:cs typeface="Arial" pitchFamily="34" charset="-120"/>
                        </a:rPr>
                        <a:t>Weight</a:t>
                      </a:r>
                      <a:endParaRPr lang="en-US" sz="1400" dirty="0">
                        <a:latin typeface="Arial" charset="0"/>
                        <a:ea typeface="Arial" charset="0"/>
                        <a:cs typeface="Arial" charset="0"/>
                      </a:endParaRPr>
                    </a:p>
                  </a:txBody>
                  <a:tcPr marL="62230" marR="62230" marT="62230" marB="62230" anchor="t">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NumPy vectorization execution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Pandas data cleaning and imputation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Feature engineering and Seaborn visualization</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0F2A43"/>
                          </a:solidFill>
                          <a:latin typeface="Arial" pitchFamily="34" charset="0"/>
                          <a:ea typeface="Arial" pitchFamily="34" charset="-122"/>
                          <a:cs typeface="Arial" pitchFamily="34" charset="-120"/>
                        </a:rPr>
                        <a:t>Code organization and Markdown clarity</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algn="r" indent="0" marL="0">
                        <a:lnSpc>
                          <a:spcPts val="1960"/>
                        </a:lnSpc>
                        <a:buNone/>
                      </a:pPr>
                      <a:r>
                        <a:rPr lang="en-US" sz="1400" dirty="0">
                          <a:solidFill>
                            <a:srgbClr val="0F2A4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4" name="Text 8"/>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C"/>
                </a:solidFill>
                <a:latin typeface="Arial" pitchFamily="34" charset="0"/>
                <a:ea typeface="Arial" pitchFamily="34" charset="-122"/>
                <a:cs typeface="Arial" pitchFamily="34" charset="-120"/>
              </a:rPr>
              <a:t>Introduction to ML · Week 1</a:t>
            </a:r>
            <a:endParaRPr lang="en-US" sz="1200" dirty="0"/>
          </a:p>
        </p:txBody>
      </p:sp>
      <p:sp>
        <p:nvSpPr>
          <p:cNvPr id="15" name="Text 9"/>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B6C"/>
                </a:solidFill>
                <a:latin typeface="Arial" pitchFamily="34" charset="0"/>
                <a:ea typeface="Arial" pitchFamily="34" charset="-122"/>
                <a:cs typeface="Arial" pitchFamily="34" charset="-120"/>
              </a:rPr>
              <a:t>36 / 37</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2A43"/>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B54A"/>
                </a:solidFill>
                <a:latin typeface="Arial" pitchFamily="34" charset="0"/>
                <a:ea typeface="Arial" pitchFamily="34" charset="-122"/>
                <a:cs typeface="Arial" pitchFamily="34" charset="-120"/>
              </a:rPr>
              <a:t>RECAP · 1:55</a:t>
            </a:r>
            <a:endParaRPr lang="en-US" sz="1200" dirty="0"/>
          </a:p>
        </p:txBody>
      </p:sp>
      <p:sp>
        <p:nvSpPr>
          <p:cNvPr id="3" name="Text 1"/>
          <p:cNvSpPr/>
          <p:nvPr>
            <p:ph type="title"/>
          </p:nvPr>
        </p:nvSpPr>
        <p:spPr>
          <a:xfrm>
            <a:off x="812800" y="899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7F5EF"/>
                </a:solidFill>
                <a:latin typeface="Georgia" pitchFamily="18" charset="0"/>
                <a:ea typeface="Georgia" pitchFamily="18" charset="-122"/>
                <a:cs typeface="Georgia" pitchFamily="18" charset="-120"/>
              </a:rPr>
              <a:t>What we covered today</a:t>
            </a:r>
            <a:endParaRPr lang="en-US" sz="3000" dirty="0"/>
          </a:p>
        </p:txBody>
      </p:sp>
      <p:sp>
        <p:nvSpPr>
          <p:cNvPr id="4" name="Shape 2"/>
          <p:cNvSpPr/>
          <p:nvPr/>
        </p:nvSpPr>
        <p:spPr>
          <a:xfrm>
            <a:off x="815975" y="1575395"/>
            <a:ext cx="6089650" cy="747911"/>
          </a:xfrm>
          <a:prstGeom prst="roundRect">
            <a:avLst>
              <a:gd name="adj" fmla="val 13160"/>
            </a:avLst>
          </a:prstGeom>
          <a:solidFill>
            <a:srgbClr val="17395A"/>
          </a:solidFill>
          <a:ln w="6350">
            <a:solidFill>
              <a:srgbClr val="2A5078"/>
            </a:solidFill>
            <a:prstDash val="solid"/>
          </a:ln>
        </p:spPr>
      </p:sp>
      <p:sp>
        <p:nvSpPr>
          <p:cNvPr id="5" name="Text 3"/>
          <p:cNvSpPr/>
          <p:nvPr/>
        </p:nvSpPr>
        <p:spPr>
          <a:xfrm>
            <a:off x="996950" y="1789311"/>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3B54A"/>
                </a:solidFill>
                <a:latin typeface="Georgia" pitchFamily="18" charset="0"/>
                <a:ea typeface="Georgia" pitchFamily="18" charset="-122"/>
                <a:cs typeface="Georgia" pitchFamily="18" charset="-120"/>
              </a:rPr>
              <a:t>1</a:t>
            </a:r>
            <a:endParaRPr lang="en-US" sz="1800" dirty="0"/>
          </a:p>
        </p:txBody>
      </p:sp>
      <p:sp>
        <p:nvSpPr>
          <p:cNvPr id="6" name="Text 4"/>
          <p:cNvSpPr/>
          <p:nvPr/>
        </p:nvSpPr>
        <p:spPr>
          <a:xfrm>
            <a:off x="1352550" y="1718270"/>
            <a:ext cx="553326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Arial" pitchFamily="34" charset="0"/>
                <a:ea typeface="Arial" pitchFamily="34" charset="-122"/>
                <a:cs typeface="Arial" pitchFamily="34" charset="-120"/>
              </a:rPr>
              <a:t>Supervised, unsupervised and reinforcement learning differ in their data and feedback.</a:t>
            </a:r>
            <a:endParaRPr lang="en-US" sz="1400" dirty="0"/>
          </a:p>
        </p:txBody>
      </p:sp>
      <p:sp>
        <p:nvSpPr>
          <p:cNvPr id="7" name="Shape 5"/>
          <p:cNvSpPr/>
          <p:nvPr/>
        </p:nvSpPr>
        <p:spPr>
          <a:xfrm>
            <a:off x="815975" y="2431256"/>
            <a:ext cx="6089650" cy="747911"/>
          </a:xfrm>
          <a:prstGeom prst="roundRect">
            <a:avLst>
              <a:gd name="adj" fmla="val 13160"/>
            </a:avLst>
          </a:prstGeom>
          <a:solidFill>
            <a:srgbClr val="17395A"/>
          </a:solidFill>
          <a:ln w="6350">
            <a:solidFill>
              <a:srgbClr val="2A5078"/>
            </a:solidFill>
            <a:prstDash val="solid"/>
          </a:ln>
        </p:spPr>
      </p:sp>
      <p:sp>
        <p:nvSpPr>
          <p:cNvPr id="8" name="Text 6"/>
          <p:cNvSpPr/>
          <p:nvPr/>
        </p:nvSpPr>
        <p:spPr>
          <a:xfrm>
            <a:off x="996950" y="2645172"/>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3B54A"/>
                </a:solidFill>
                <a:latin typeface="Georgia" pitchFamily="18" charset="0"/>
                <a:ea typeface="Georgia" pitchFamily="18" charset="-122"/>
                <a:cs typeface="Georgia" pitchFamily="18" charset="-120"/>
              </a:rPr>
              <a:t>2</a:t>
            </a:r>
            <a:endParaRPr lang="en-US" sz="1800" dirty="0"/>
          </a:p>
        </p:txBody>
      </p:sp>
      <p:sp>
        <p:nvSpPr>
          <p:cNvPr id="9" name="Text 7"/>
          <p:cNvSpPr/>
          <p:nvPr/>
        </p:nvSpPr>
        <p:spPr>
          <a:xfrm>
            <a:off x="1352550" y="2574131"/>
            <a:ext cx="553326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Arial" pitchFamily="34" charset="0"/>
                <a:ea typeface="Arial" pitchFamily="34" charset="-122"/>
                <a:cs typeface="Arial" pitchFamily="34" charset="-120"/>
              </a:rPr>
              <a:t>Loss functions such as MSE steer parameter updates through gradients.</a:t>
            </a:r>
            <a:endParaRPr lang="en-US" sz="1400" dirty="0"/>
          </a:p>
        </p:txBody>
      </p:sp>
      <p:sp>
        <p:nvSpPr>
          <p:cNvPr id="10" name="Shape 8"/>
          <p:cNvSpPr/>
          <p:nvPr/>
        </p:nvSpPr>
        <p:spPr>
          <a:xfrm>
            <a:off x="815975" y="3287117"/>
            <a:ext cx="6089650" cy="747911"/>
          </a:xfrm>
          <a:prstGeom prst="roundRect">
            <a:avLst>
              <a:gd name="adj" fmla="val 13160"/>
            </a:avLst>
          </a:prstGeom>
          <a:solidFill>
            <a:srgbClr val="17395A"/>
          </a:solidFill>
          <a:ln w="6350">
            <a:solidFill>
              <a:srgbClr val="2A5078"/>
            </a:solidFill>
            <a:prstDash val="solid"/>
          </a:ln>
        </p:spPr>
      </p:sp>
      <p:sp>
        <p:nvSpPr>
          <p:cNvPr id="11" name="Text 9"/>
          <p:cNvSpPr/>
          <p:nvPr/>
        </p:nvSpPr>
        <p:spPr>
          <a:xfrm>
            <a:off x="996950" y="3501033"/>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3B54A"/>
                </a:solidFill>
                <a:latin typeface="Georgia" pitchFamily="18" charset="0"/>
                <a:ea typeface="Georgia" pitchFamily="18" charset="-122"/>
                <a:cs typeface="Georgia" pitchFamily="18" charset="-120"/>
              </a:rPr>
              <a:t>3</a:t>
            </a:r>
            <a:endParaRPr lang="en-US" sz="1800" dirty="0"/>
          </a:p>
        </p:txBody>
      </p:sp>
      <p:sp>
        <p:nvSpPr>
          <p:cNvPr id="12" name="Text 10"/>
          <p:cNvSpPr/>
          <p:nvPr/>
        </p:nvSpPr>
        <p:spPr>
          <a:xfrm>
            <a:off x="1352550" y="3429992"/>
            <a:ext cx="553326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Arial" pitchFamily="34" charset="0"/>
                <a:ea typeface="Arial" pitchFamily="34" charset="-122"/>
                <a:cs typeface="Arial" pitchFamily="34" charset="-120"/>
              </a:rPr>
              <a:t>PyTorch autograd replaces hand-derived gradients. Remember zero_grad().</a:t>
            </a:r>
            <a:endParaRPr lang="en-US" sz="1400" dirty="0"/>
          </a:p>
        </p:txBody>
      </p:sp>
      <p:sp>
        <p:nvSpPr>
          <p:cNvPr id="13" name="Shape 11"/>
          <p:cNvSpPr/>
          <p:nvPr/>
        </p:nvSpPr>
        <p:spPr>
          <a:xfrm>
            <a:off x="815975" y="4142978"/>
            <a:ext cx="6089650" cy="747911"/>
          </a:xfrm>
          <a:prstGeom prst="roundRect">
            <a:avLst>
              <a:gd name="adj" fmla="val 13160"/>
            </a:avLst>
          </a:prstGeom>
          <a:solidFill>
            <a:srgbClr val="17395A"/>
          </a:solidFill>
          <a:ln w="6350">
            <a:solidFill>
              <a:srgbClr val="2A5078"/>
            </a:solidFill>
            <a:prstDash val="solid"/>
          </a:ln>
        </p:spPr>
      </p:sp>
      <p:sp>
        <p:nvSpPr>
          <p:cNvPr id="14" name="Text 12"/>
          <p:cNvSpPr/>
          <p:nvPr/>
        </p:nvSpPr>
        <p:spPr>
          <a:xfrm>
            <a:off x="996950" y="4356894"/>
            <a:ext cx="2540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3B54A"/>
                </a:solidFill>
                <a:latin typeface="Georgia" pitchFamily="18" charset="0"/>
                <a:ea typeface="Georgia" pitchFamily="18" charset="-122"/>
                <a:cs typeface="Georgia" pitchFamily="18" charset="-120"/>
              </a:rPr>
              <a:t>4</a:t>
            </a:r>
            <a:endParaRPr lang="en-US" sz="1800" dirty="0"/>
          </a:p>
        </p:txBody>
      </p:sp>
      <p:sp>
        <p:nvSpPr>
          <p:cNvPr id="15" name="Text 13"/>
          <p:cNvSpPr/>
          <p:nvPr/>
        </p:nvSpPr>
        <p:spPr>
          <a:xfrm>
            <a:off x="1352550" y="4285853"/>
            <a:ext cx="5533263"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Arial" pitchFamily="34" charset="0"/>
                <a:ea typeface="Arial" pitchFamily="34" charset="-122"/>
                <a:cs typeface="Arial" pitchFamily="34" charset="-120"/>
              </a:rPr>
              <a:t>Keep the test set untouched. Clean, vectorize and explore data before modelling.</a:t>
            </a:r>
            <a:endParaRPr lang="en-US" sz="1400" dirty="0"/>
          </a:p>
        </p:txBody>
      </p:sp>
      <p:sp>
        <p:nvSpPr>
          <p:cNvPr id="16" name="Shape 14"/>
          <p:cNvSpPr/>
          <p:nvPr/>
        </p:nvSpPr>
        <p:spPr>
          <a:xfrm>
            <a:off x="7213600" y="1572220"/>
            <a:ext cx="4165600" cy="1553170"/>
          </a:xfrm>
          <a:prstGeom prst="roundRect">
            <a:avLst>
              <a:gd name="adj" fmla="val 6541"/>
            </a:avLst>
          </a:prstGeom>
          <a:solidFill>
            <a:srgbClr val="E3B54A"/>
          </a:solidFill>
          <a:ln/>
        </p:spPr>
      </p:sp>
      <p:sp>
        <p:nvSpPr>
          <p:cNvPr id="17" name="Text 15"/>
          <p:cNvSpPr/>
          <p:nvPr/>
        </p:nvSpPr>
        <p:spPr>
          <a:xfrm>
            <a:off x="7416800" y="1775420"/>
            <a:ext cx="38719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2A43"/>
                </a:solidFill>
                <a:latin typeface="Arial" pitchFamily="34" charset="0"/>
                <a:ea typeface="Arial" pitchFamily="34" charset="-122"/>
                <a:cs typeface="Arial" pitchFamily="34" charset="-120"/>
              </a:rPr>
              <a:t>EXIT TICKET · 2 MIN</a:t>
            </a:r>
            <a:endParaRPr lang="en-US" sz="1200" dirty="0"/>
          </a:p>
        </p:txBody>
      </p:sp>
      <p:sp>
        <p:nvSpPr>
          <p:cNvPr id="18" name="Text 16"/>
          <p:cNvSpPr/>
          <p:nvPr/>
        </p:nvSpPr>
        <p:spPr>
          <a:xfrm>
            <a:off x="7416800" y="2064941"/>
            <a:ext cx="387197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0F2A43"/>
                </a:solidFill>
                <a:latin typeface="Georgia" pitchFamily="18" charset="0"/>
                <a:ea typeface="Georgia" pitchFamily="18" charset="-122"/>
                <a:cs typeface="Georgia" pitchFamily="18" charset="-120"/>
              </a:rPr>
              <a:t>In one sentence: why must the test set stay untouched until the final evaluation?</a:t>
            </a:r>
            <a:endParaRPr lang="en-US" sz="1800" dirty="0"/>
          </a:p>
        </p:txBody>
      </p:sp>
      <p:sp>
        <p:nvSpPr>
          <p:cNvPr id="19" name="Shape 17"/>
          <p:cNvSpPr/>
          <p:nvPr/>
        </p:nvSpPr>
        <p:spPr>
          <a:xfrm>
            <a:off x="7216775" y="3280966"/>
            <a:ext cx="4159250" cy="1344712"/>
          </a:xfrm>
          <a:prstGeom prst="roundRect">
            <a:avLst>
              <a:gd name="adj" fmla="val 7319"/>
            </a:avLst>
          </a:prstGeom>
          <a:solidFill>
            <a:srgbClr val="17395A"/>
          </a:solidFill>
          <a:ln w="6350">
            <a:solidFill>
              <a:srgbClr val="2A5078"/>
            </a:solidFill>
            <a:prstDash val="solid"/>
          </a:ln>
        </p:spPr>
      </p:sp>
      <p:sp>
        <p:nvSpPr>
          <p:cNvPr id="20" name="Text 18"/>
          <p:cNvSpPr/>
          <p:nvPr/>
        </p:nvSpPr>
        <p:spPr>
          <a:xfrm>
            <a:off x="7423150" y="3461941"/>
            <a:ext cx="38588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B54A"/>
                </a:solidFill>
                <a:latin typeface="Arial" pitchFamily="34" charset="0"/>
                <a:ea typeface="Arial" pitchFamily="34" charset="-122"/>
                <a:cs typeface="Arial" pitchFamily="34" charset="-120"/>
              </a:rPr>
              <a:t>NEXT</a:t>
            </a:r>
            <a:endParaRPr lang="en-US" sz="1200" dirty="0"/>
          </a:p>
        </p:txBody>
      </p:sp>
      <p:sp>
        <p:nvSpPr>
          <p:cNvPr id="21" name="Text 19"/>
          <p:cNvSpPr/>
          <p:nvPr/>
        </p:nvSpPr>
        <p:spPr>
          <a:xfrm>
            <a:off x="7423150" y="3751461"/>
            <a:ext cx="3858895" cy="71864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7F5EF"/>
                </a:solidFill>
                <a:latin typeface="Arial" pitchFamily="34" charset="0"/>
                <a:ea typeface="Arial" pitchFamily="34" charset="-122"/>
                <a:cs typeface="Arial" pitchFamily="34" charset="-120"/>
              </a:rPr>
              <a:t>Lecture 2: Linear Models and Regularization (L1 Lasso and L2 Ridge). Submit your Lab 1 notebook before then.</a:t>
            </a:r>
            <a:endParaRPr lang="en-US" sz="1400" dirty="0"/>
          </a:p>
        </p:txBody>
      </p:sp>
      <p:sp>
        <p:nvSpPr>
          <p:cNvPr id="22" name="Text 20"/>
          <p:cNvSpPr/>
          <p:nvPr/>
        </p:nvSpPr>
        <p:spPr>
          <a:xfrm>
            <a:off x="8128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7D6"/>
                </a:solidFill>
                <a:latin typeface="Arial" pitchFamily="34" charset="0"/>
                <a:ea typeface="Arial" pitchFamily="34" charset="-122"/>
                <a:cs typeface="Arial" pitchFamily="34" charset="-120"/>
              </a:rPr>
              <a:t>Introduction to ML · Week 1</a:t>
            </a:r>
            <a:endParaRPr lang="en-US" sz="1200" dirty="0"/>
          </a:p>
        </p:txBody>
      </p:sp>
      <p:sp>
        <p:nvSpPr>
          <p:cNvPr id="23" name="Text 21"/>
          <p:cNvSpPr/>
          <p:nvPr/>
        </p:nvSpPr>
        <p:spPr>
          <a:xfrm>
            <a:off x="94170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7D6"/>
                </a:solidFill>
                <a:latin typeface="Arial" pitchFamily="34" charset="0"/>
                <a:ea typeface="Arial" pitchFamily="34" charset="-122"/>
                <a:cs typeface="Arial" pitchFamily="34" charset="-120"/>
              </a:rPr>
              <a:t>37 / 37</a:t>
            </a:r>
            <a:endParaRPr lang="en-US" sz="1200" dirty="0"/>
          </a:p>
        </p:txBody>
      </p:sp>
    </p:spTree>
  </p:cSld>
  <p:clrMapOvr>
    <a:masterClrMapping/>
  </p:clrMapOvr>
</p:sld>
</file>

<file path=ppt/theme/theme1.xml><?xml version="1.0" encoding="utf-8"?>
<a:theme xmlns:a="http://schemas.openxmlformats.org/drawingml/2006/main" name="Week 1 · Introduction to ML: Lecture and Lab 1">
  <a:themeElements>
    <a:clrScheme name="Week 1 · Introduction to ML: Lecture and Lab 1">
      <a:dk1>
        <a:srgbClr val="0F2A43"/>
      </a:dk1>
      <a:lt1>
        <a:srgbClr val="F7F5EF"/>
      </a:lt1>
      <a:dk2>
        <a:srgbClr val="495D6E"/>
      </a:dk2>
      <a:lt2>
        <a:srgbClr val="E0E1DE"/>
      </a:lt2>
      <a:accent1>
        <a:srgbClr val="0E7C7B"/>
      </a:accent1>
      <a:accent2>
        <a:srgbClr val="E3B54A"/>
      </a:accent2>
      <a:accent3>
        <a:srgbClr val="6B4E00"/>
      </a:accent3>
      <a:accent4>
        <a:srgbClr val="7FD1C7"/>
      </a:accent4>
      <a:accent5>
        <a:srgbClr val="4A5B6C"/>
      </a:accent5>
      <a:accent6>
        <a:srgbClr val="B8C7D6"/>
      </a:accent6>
      <a:hlink>
        <a:srgbClr val="0563C1"/>
      </a:hlink>
      <a:folHlink>
        <a:srgbClr val="954F72"/>
      </a:folHlink>
    </a:clrScheme>
    <a:fontScheme name="Week 1 · Introduction to ML: Lecture and Lab 1">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Introduction to ML: Lecture and Lab 1</dc:title>
  <dc:subject/>
  <dc:creator/>
  <cp:lastModifiedBy/>
  <cp:revision>1</cp:revision>
  <dcterms:created xsi:type="dcterms:W3CDTF">2026-10-29T05:09:15Z</dcterms:created>
  <dcterms:modified xsi:type="dcterms:W3CDTF">2026-10-29T05:09:15Z</dcterms:modified>
</cp:coreProperties>
</file>